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Types>
</file>

<file path=_rels/.rels><?xml version="1.0" encoding="UTF-8"?><Relationships xmlns="http://schemas.openxmlformats.org/package/2006/relationships"><Relationship Type="http://schemas.openxmlformats.org/package/2006/relationships/metadata/core-properties" Target="/docProps/core.xml" Id="R745bd9b420594d82"/><Relationship Type="http://schemas.openxmlformats.org/officeDocument/2006/relationships/extended-properties" Target="/docProps/app.xml" Id="R443916991ba34a3d"/><Relationship Type="http://schemas.openxmlformats.org/officeDocument/2006/relationships/officeDocument" Target="/ppt/presentation.xml" Id="R336f2ae0c88745bf"/></Relationships>
</file>

<file path=ppt/presentation.xml><?xml version="1.0" encoding="utf-8"?>
<p:presentation xmlns:p="http://schemas.openxmlformats.org/presentationml/2006/main">
  <p:sldMasterIdLst>
    <p:sldMasterId xmlns:r="http://schemas.openxmlformats.org/officeDocument/2006/relationships" id="2147483648" r:id="R5880eeeb504e43eb"/>
  </p:sldMasterIdLst>
  <p:notesMasterIdLst>
    <p:notesMasterId xmlns:r="http://schemas.openxmlformats.org/officeDocument/2006/relationships" r:id="Rbbe432f1b7794ada"/>
  </p:notesMasterIdLst>
  <p:sldIdLst>
    <p:sldId xmlns:r="http://schemas.openxmlformats.org/officeDocument/2006/relationships" id="256" r:id="Rf725eafdcd3b4a01"/>
    <p:sldId xmlns:r="http://schemas.openxmlformats.org/officeDocument/2006/relationships" id="257" r:id="Rc63d9abe44b947c3"/>
    <p:sldId xmlns:r="http://schemas.openxmlformats.org/officeDocument/2006/relationships" id="258" r:id="Rd979b3e616984031"/>
    <p:sldId xmlns:r="http://schemas.openxmlformats.org/officeDocument/2006/relationships" id="259" r:id="R543df79fefd04e09"/>
    <p:sldId xmlns:r="http://schemas.openxmlformats.org/officeDocument/2006/relationships" id="260" r:id="R6ec76885b0394c9c"/>
    <p:sldId xmlns:r="http://schemas.openxmlformats.org/officeDocument/2006/relationships" id="261" r:id="R0ef278c8abd846c1"/>
    <p:sldId xmlns:r="http://schemas.openxmlformats.org/officeDocument/2006/relationships" id="262" r:id="Rd916df59ca0343cd"/>
    <p:sldId xmlns:r="http://schemas.openxmlformats.org/officeDocument/2006/relationships" id="263" r:id="R4283b6cb1d714383"/>
    <p:sldId xmlns:r="http://schemas.openxmlformats.org/officeDocument/2006/relationships" id="264" r:id="R4882bb91e1fb4d52"/>
    <p:sldId xmlns:r="http://schemas.openxmlformats.org/officeDocument/2006/relationships" id="265" r:id="R8b7d5acc8c4842df"/>
    <p:sldId xmlns:r="http://schemas.openxmlformats.org/officeDocument/2006/relationships" id="266" r:id="R097e5ba30a0f4030"/>
    <p:sldId xmlns:r="http://schemas.openxmlformats.org/officeDocument/2006/relationships" id="267" r:id="R7088f206d00a4f4a"/>
    <p:sldId xmlns:r="http://schemas.openxmlformats.org/officeDocument/2006/relationships" id="268" r:id="R46353d72898c4c87"/>
    <p:sldId xmlns:r="http://schemas.openxmlformats.org/officeDocument/2006/relationships" id="269" r:id="R107e368fd5934ae4"/>
    <p:sldId xmlns:r="http://schemas.openxmlformats.org/officeDocument/2006/relationships" id="270" r:id="Rf9cc537969de48f8"/>
    <p:sldId xmlns:r="http://schemas.openxmlformats.org/officeDocument/2006/relationships" id="271" r:id="R55e41c79f54c44d1"/>
    <p:sldId xmlns:r="http://schemas.openxmlformats.org/officeDocument/2006/relationships" id="272" r:id="Rb301ac430be148d8"/>
    <p:sldId xmlns:r="http://schemas.openxmlformats.org/officeDocument/2006/relationships" id="273" r:id="R24ce0c4f696b4015"/>
    <p:sldId xmlns:r="http://schemas.openxmlformats.org/officeDocument/2006/relationships" id="274" r:id="Raca94521dec64d0f"/>
    <p:sldId xmlns:r="http://schemas.openxmlformats.org/officeDocument/2006/relationships" id="275" r:id="R5a436d553dfc4fd8"/>
    <p:sldId xmlns:r="http://schemas.openxmlformats.org/officeDocument/2006/relationships" id="276" r:id="R4ec05f165e9b4046"/>
    <p:sldId xmlns:r="http://schemas.openxmlformats.org/officeDocument/2006/relationships" id="277" r:id="R0cc8d737572a4818"/>
    <p:sldId xmlns:r="http://schemas.openxmlformats.org/officeDocument/2006/relationships" id="278" r:id="R3fb4b4a56428498e"/>
    <p:sldId xmlns:r="http://schemas.openxmlformats.org/officeDocument/2006/relationships" id="279" r:id="Rfa757f157d46403a"/>
    <p:sldId xmlns:r="http://schemas.openxmlformats.org/officeDocument/2006/relationships" id="280" r:id="R169e26cfdb6d4638"/>
    <p:sldId xmlns:r="http://schemas.openxmlformats.org/officeDocument/2006/relationships" id="281" r:id="Rda328fdb4fcc429c"/>
    <p:sldId xmlns:r="http://schemas.openxmlformats.org/officeDocument/2006/relationships" id="282" r:id="R58d36419ddd44326"/>
    <p:sldId xmlns:r="http://schemas.openxmlformats.org/officeDocument/2006/relationships" id="283" r:id="Ra2b1852f04e34e43"/>
    <p:sldId xmlns:r="http://schemas.openxmlformats.org/officeDocument/2006/relationships" id="284" r:id="R2245139dcae44c5b"/>
    <p:sldId xmlns:r="http://schemas.openxmlformats.org/officeDocument/2006/relationships" id="285" r:id="Rdddc02ec25114d5e"/>
    <p:sldId xmlns:r="http://schemas.openxmlformats.org/officeDocument/2006/relationships" id="286" r:id="R656b1e0762b449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Relationships xmlns="http://schemas.openxmlformats.org/package/2006/relationships"><Relationship Type="http://schemas.openxmlformats.org/officeDocument/2006/relationships/theme" Target="/ppt/theme/theme1.xml" Id="Rc3780ca7c2344627"/><Relationship Type="http://schemas.openxmlformats.org/officeDocument/2006/relationships/slideMaster" Target="/ppt/slideMasters/slideMaster1.xml" Id="R5880eeeb504e43eb"/><Relationship Type="http://schemas.openxmlformats.org/officeDocument/2006/relationships/notesMaster" Target="/ppt/notesMasters/notesMaster1.xml" Id="Rbbe432f1b7794ada"/><Relationship Type="http://schemas.openxmlformats.org/officeDocument/2006/relationships/presProps" Target="/ppt/presProps.xml" Id="R43040766d9434a50"/><Relationship Type="http://schemas.openxmlformats.org/officeDocument/2006/relationships/tableStyles" Target="/ppt/tableStyles.xml" Id="R46f25c41f0854ecd"/><Relationship Type="http://schemas.openxmlformats.org/officeDocument/2006/relationships/slide" Target="/ppt/slides/slide1.xml" Id="Rf725eafdcd3b4a01"/><Relationship Type="http://schemas.openxmlformats.org/officeDocument/2006/relationships/slide" Target="/ppt/slides/slide2.xml" Id="Rc63d9abe44b947c3"/><Relationship Type="http://schemas.openxmlformats.org/officeDocument/2006/relationships/slide" Target="/ppt/slides/slide3.xml" Id="Rd979b3e616984031"/><Relationship Type="http://schemas.openxmlformats.org/officeDocument/2006/relationships/slide" Target="/ppt/slides/slide4.xml" Id="R543df79fefd04e09"/><Relationship Type="http://schemas.openxmlformats.org/officeDocument/2006/relationships/slide" Target="/ppt/slides/slide5.xml" Id="R6ec76885b0394c9c"/><Relationship Type="http://schemas.openxmlformats.org/officeDocument/2006/relationships/slide" Target="/ppt/slides/slide6.xml" Id="R0ef278c8abd846c1"/><Relationship Type="http://schemas.openxmlformats.org/officeDocument/2006/relationships/slide" Target="/ppt/slides/slide7.xml" Id="Rd916df59ca0343cd"/><Relationship Type="http://schemas.openxmlformats.org/officeDocument/2006/relationships/slide" Target="/ppt/slides/slide8.xml" Id="R4283b6cb1d714383"/><Relationship Type="http://schemas.openxmlformats.org/officeDocument/2006/relationships/slide" Target="/ppt/slides/slide9.xml" Id="R4882bb91e1fb4d52"/><Relationship Type="http://schemas.openxmlformats.org/officeDocument/2006/relationships/slide" Target="/ppt/slides/slide10.xml" Id="R8b7d5acc8c4842df"/><Relationship Type="http://schemas.openxmlformats.org/officeDocument/2006/relationships/slide" Target="/ppt/slides/slide11.xml" Id="R097e5ba30a0f4030"/><Relationship Type="http://schemas.openxmlformats.org/officeDocument/2006/relationships/slide" Target="/ppt/slides/slide12.xml" Id="R7088f206d00a4f4a"/><Relationship Type="http://schemas.openxmlformats.org/officeDocument/2006/relationships/slide" Target="/ppt/slides/slide13.xml" Id="R46353d72898c4c87"/><Relationship Type="http://schemas.openxmlformats.org/officeDocument/2006/relationships/slide" Target="/ppt/slides/slide14.xml" Id="R107e368fd5934ae4"/><Relationship Type="http://schemas.openxmlformats.org/officeDocument/2006/relationships/slide" Target="/ppt/slides/slide15.xml" Id="Rf9cc537969de48f8"/><Relationship Type="http://schemas.openxmlformats.org/officeDocument/2006/relationships/slide" Target="/ppt/slides/slide16.xml" Id="R55e41c79f54c44d1"/><Relationship Type="http://schemas.openxmlformats.org/officeDocument/2006/relationships/slide" Target="/ppt/slides/slide17.xml" Id="Rb301ac430be148d8"/><Relationship Type="http://schemas.openxmlformats.org/officeDocument/2006/relationships/slide" Target="/ppt/slides/slide18.xml" Id="R24ce0c4f696b4015"/><Relationship Type="http://schemas.openxmlformats.org/officeDocument/2006/relationships/slide" Target="/ppt/slides/slide19.xml" Id="Raca94521dec64d0f"/><Relationship Type="http://schemas.openxmlformats.org/officeDocument/2006/relationships/slide" Target="/ppt/slides/slide20.xml" Id="R5a436d553dfc4fd8"/><Relationship Type="http://schemas.openxmlformats.org/officeDocument/2006/relationships/slide" Target="/ppt/slides/slide21.xml" Id="R4ec05f165e9b4046"/><Relationship Type="http://schemas.openxmlformats.org/officeDocument/2006/relationships/slide" Target="/ppt/slides/slide22.xml" Id="R0cc8d737572a4818"/><Relationship Type="http://schemas.openxmlformats.org/officeDocument/2006/relationships/slide" Target="/ppt/slides/slide23.xml" Id="R3fb4b4a56428498e"/><Relationship Type="http://schemas.openxmlformats.org/officeDocument/2006/relationships/slide" Target="/ppt/slides/slide24.xml" Id="Rfa757f157d46403a"/><Relationship Type="http://schemas.openxmlformats.org/officeDocument/2006/relationships/slide" Target="/ppt/slides/slide25.xml" Id="R169e26cfdb6d4638"/><Relationship Type="http://schemas.openxmlformats.org/officeDocument/2006/relationships/slide" Target="/ppt/slides/slide26.xml" Id="Rda328fdb4fcc429c"/><Relationship Type="http://schemas.openxmlformats.org/officeDocument/2006/relationships/slide" Target="/ppt/slides/slide27.xml" Id="R58d36419ddd44326"/><Relationship Type="http://schemas.openxmlformats.org/officeDocument/2006/relationships/slide" Target="/ppt/slides/slide28.xml" Id="Ra2b1852f04e34e43"/><Relationship Type="http://schemas.openxmlformats.org/officeDocument/2006/relationships/slide" Target="/ppt/slides/slide29.xml" Id="R2245139dcae44c5b"/><Relationship Type="http://schemas.openxmlformats.org/officeDocument/2006/relationships/slide" Target="/ppt/slides/slide30.xml" Id="Rdddc02ec25114d5e"/><Relationship Type="http://schemas.openxmlformats.org/officeDocument/2006/relationships/slide" Target="/ppt/slides/slide31.xml" Id="R656b1e0762b4497f"/></Relationships>
</file>

<file path=ppt/notesMasters/_rels/notesMaster1.xml.rels><?xml version="1.0" encoding="UTF-8"?><Relationships xmlns="http://schemas.openxmlformats.org/package/2006/relationships"><Relationship Type="http://schemas.openxmlformats.org/officeDocument/2006/relationships/theme" Target="/ppt/notesMasters/theme/theme3.xml" Id="R699f1096f62246a6"/></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Relationships xmlns="http://schemas.openxmlformats.org/package/2006/relationships"><Relationship Type="http://schemas.openxmlformats.org/officeDocument/2006/relationships/slide" Target="/ppt/slides/slide1.xml" Id="R4f1171a997b64812"/><Relationship Type="http://schemas.openxmlformats.org/officeDocument/2006/relationships/notesMaster" Target="/ppt/notesMasters/notesMaster1.xml" Id="R56883012065842c2"/></Relationships>
</file>

<file path=ppt/notesSlides/_rels/notesSlide2.xml.rels><?xml version="1.0" encoding="UTF-8"?><Relationships xmlns="http://schemas.openxmlformats.org/package/2006/relationships"><Relationship Type="http://schemas.openxmlformats.org/officeDocument/2006/relationships/slide" Target="/ppt/slides/slide2.xml" Id="Ra19a0502cc564c25"/><Relationship Type="http://schemas.openxmlformats.org/officeDocument/2006/relationships/notesMaster" Target="/ppt/notesMasters/notesMaster1.xml" Id="Rb3ba38883e2a44e8"/></Relationships>
</file>

<file path=ppt/notesSlides/_rels/notesSlide3.xml.rels><?xml version="1.0" encoding="UTF-8"?><Relationships xmlns="http://schemas.openxmlformats.org/package/2006/relationships"><Relationship Type="http://schemas.openxmlformats.org/officeDocument/2006/relationships/slide" Target="/ppt/slides/slide3.xml" Id="Rf0740ccd4c3646fb"/><Relationship Type="http://schemas.openxmlformats.org/officeDocument/2006/relationships/notesMaster" Target="/ppt/notesMasters/notesMaster1.xml" Id="Rb483dc908d59477e"/></Relationships>
</file>

<file path=ppt/notesSlides/_rels/notesSlide4.xml.rels><?xml version="1.0" encoding="UTF-8"?><Relationships xmlns="http://schemas.openxmlformats.org/package/2006/relationships"><Relationship Type="http://schemas.openxmlformats.org/officeDocument/2006/relationships/slide" Target="/ppt/slides/slide4.xml" Id="R115863b2bf6949bd"/><Relationship Type="http://schemas.openxmlformats.org/officeDocument/2006/relationships/notesMaster" Target="/ppt/notesMasters/notesMaster1.xml" Id="Ra530280e84ad4d97"/></Relationships>
</file>

<file path=ppt/notesSlides/_rels/notesSlide5.xml.rels><?xml version="1.0" encoding="UTF-8"?><Relationships xmlns="http://schemas.openxmlformats.org/package/2006/relationships"><Relationship Type="http://schemas.openxmlformats.org/officeDocument/2006/relationships/slide" Target="/ppt/slides/slide5.xml" Id="R5bc7a5f6a6964184"/><Relationship Type="http://schemas.openxmlformats.org/officeDocument/2006/relationships/notesMaster" Target="/ppt/notesMasters/notesMaster1.xml" Id="Rb01cf9289ff14f4e"/></Relationships>
</file>

<file path=ppt/notesSlides/_rels/notesSlide6.xml.rels><?xml version="1.0" encoding="UTF-8"?><Relationships xmlns="http://schemas.openxmlformats.org/package/2006/relationships"><Relationship Type="http://schemas.openxmlformats.org/officeDocument/2006/relationships/slide" Target="/ppt/slides/slide6.xml" Id="R72f7e455f4f64de4"/><Relationship Type="http://schemas.openxmlformats.org/officeDocument/2006/relationships/notesMaster" Target="/ppt/notesMasters/notesMaster1.xml" Id="R71e5b05e4eba44c4"/></Relationships>
</file>

<file path=ppt/notesSlides/_rels/notesSlide7.xml.rels><?xml version="1.0" encoding="UTF-8"?><Relationships xmlns="http://schemas.openxmlformats.org/package/2006/relationships"><Relationship Type="http://schemas.openxmlformats.org/officeDocument/2006/relationships/slide" Target="/ppt/slides/slide7.xml" Id="R3bfdde86d9ef4a44"/><Relationship Type="http://schemas.openxmlformats.org/officeDocument/2006/relationships/notesMaster" Target="/ppt/notesMasters/notesMaster1.xml" Id="R9be1f8ebfb634f82"/></Relationships>
</file>

<file path=ppt/notesSlides/_rels/notesSlide8.xml.rels><?xml version="1.0" encoding="UTF-8"?><Relationships xmlns="http://schemas.openxmlformats.org/package/2006/relationships"><Relationship Type="http://schemas.openxmlformats.org/officeDocument/2006/relationships/slide" Target="/ppt/slides/slide8.xml" Id="Rb493db35bd6f4e4e"/><Relationship Type="http://schemas.openxmlformats.org/officeDocument/2006/relationships/notesMaster" Target="/ppt/notesMasters/notesMaster1.xml" Id="Rc8a43a1d91a94c13"/></Relationships>
</file>

<file path=ppt/notesSlides/_rels/notesSlide9.xml.rels><?xml version="1.0" encoding="UTF-8"?><Relationships xmlns="http://schemas.openxmlformats.org/package/2006/relationships"><Relationship Type="http://schemas.openxmlformats.org/officeDocument/2006/relationships/slide" Target="/ppt/slides/slide9.xml" Id="Rb56cfd98dbce4964"/><Relationship Type="http://schemas.openxmlformats.org/officeDocument/2006/relationships/notesMaster" Target="/ppt/notesMasters/notesMaster1.xml" Id="R2652f6d46e9e46de"/></Relationships>
</file>

<file path=ppt/notesSlides/_rels/notesSlide10.xml.rels><?xml version="1.0" encoding="UTF-8"?><Relationships xmlns="http://schemas.openxmlformats.org/package/2006/relationships"><Relationship Type="http://schemas.openxmlformats.org/officeDocument/2006/relationships/slide" Target="/ppt/slides/slide10.xml" Id="Re977242c04954ecb"/><Relationship Type="http://schemas.openxmlformats.org/officeDocument/2006/relationships/notesMaster" Target="/ppt/notesMasters/notesMaster1.xml" Id="R433bb2d41a2c4f79"/></Relationships>
</file>

<file path=ppt/notesSlides/_rels/notesSlide11.xml.rels><?xml version="1.0" encoding="UTF-8"?><Relationships xmlns="http://schemas.openxmlformats.org/package/2006/relationships"><Relationship Type="http://schemas.openxmlformats.org/officeDocument/2006/relationships/slide" Target="/ppt/slides/slide11.xml" Id="Rb7f0366471624c75"/><Relationship Type="http://schemas.openxmlformats.org/officeDocument/2006/relationships/notesMaster" Target="/ppt/notesMasters/notesMaster1.xml" Id="Rce0235a726ce41a7"/></Relationships>
</file>

<file path=ppt/notesSlides/_rels/notesSlide12.xml.rels><?xml version="1.0" encoding="UTF-8"?><Relationships xmlns="http://schemas.openxmlformats.org/package/2006/relationships"><Relationship Type="http://schemas.openxmlformats.org/officeDocument/2006/relationships/slide" Target="/ppt/slides/slide12.xml" Id="Rdee69b03db1a45f6"/><Relationship Type="http://schemas.openxmlformats.org/officeDocument/2006/relationships/notesMaster" Target="/ppt/notesMasters/notesMaster1.xml" Id="R385c1d7041ef44a0"/></Relationships>
</file>

<file path=ppt/notesSlides/_rels/notesSlide13.xml.rels><?xml version="1.0" encoding="UTF-8"?><Relationships xmlns="http://schemas.openxmlformats.org/package/2006/relationships"><Relationship Type="http://schemas.openxmlformats.org/officeDocument/2006/relationships/slide" Target="/ppt/slides/slide13.xml" Id="Rdbb9e7ba072b49fd"/><Relationship Type="http://schemas.openxmlformats.org/officeDocument/2006/relationships/notesMaster" Target="/ppt/notesMasters/notesMaster1.xml" Id="Rdb23dd877d9c45e5"/></Relationships>
</file>

<file path=ppt/notesSlides/_rels/notesSlide14.xml.rels><?xml version="1.0" encoding="UTF-8"?><Relationships xmlns="http://schemas.openxmlformats.org/package/2006/relationships"><Relationship Type="http://schemas.openxmlformats.org/officeDocument/2006/relationships/slide" Target="/ppt/slides/slide14.xml" Id="Reaac87eefb894885"/><Relationship Type="http://schemas.openxmlformats.org/officeDocument/2006/relationships/notesMaster" Target="/ppt/notesMasters/notesMaster1.xml" Id="Rbd6d65e4d93f432e"/></Relationships>
</file>

<file path=ppt/notesSlides/_rels/notesSlide15.xml.rels><?xml version="1.0" encoding="UTF-8"?><Relationships xmlns="http://schemas.openxmlformats.org/package/2006/relationships"><Relationship Type="http://schemas.openxmlformats.org/officeDocument/2006/relationships/slide" Target="/ppt/slides/slide15.xml" Id="R2eca0c14b1024061"/><Relationship Type="http://schemas.openxmlformats.org/officeDocument/2006/relationships/notesMaster" Target="/ppt/notesMasters/notesMaster1.xml" Id="R289e8b2d70734563"/></Relationships>
</file>

<file path=ppt/notesSlides/_rels/notesSlide16.xml.rels><?xml version="1.0" encoding="UTF-8"?><Relationships xmlns="http://schemas.openxmlformats.org/package/2006/relationships"><Relationship Type="http://schemas.openxmlformats.org/officeDocument/2006/relationships/slide" Target="/ppt/slides/slide16.xml" Id="Rb5f496b69dfe4a49"/><Relationship Type="http://schemas.openxmlformats.org/officeDocument/2006/relationships/notesMaster" Target="/ppt/notesMasters/notesMaster1.xml" Id="Rc5c608e608c64538"/></Relationships>
</file>

<file path=ppt/notesSlides/_rels/notesSlide17.xml.rels><?xml version="1.0" encoding="UTF-8"?><Relationships xmlns="http://schemas.openxmlformats.org/package/2006/relationships"><Relationship Type="http://schemas.openxmlformats.org/officeDocument/2006/relationships/slide" Target="/ppt/slides/slide17.xml" Id="R67f21a150c204ae5"/><Relationship Type="http://schemas.openxmlformats.org/officeDocument/2006/relationships/notesMaster" Target="/ppt/notesMasters/notesMaster1.xml" Id="Rfd0552851a094930"/></Relationships>
</file>

<file path=ppt/notesSlides/_rels/notesSlide18.xml.rels><?xml version="1.0" encoding="UTF-8"?><Relationships xmlns="http://schemas.openxmlformats.org/package/2006/relationships"><Relationship Type="http://schemas.openxmlformats.org/officeDocument/2006/relationships/slide" Target="/ppt/slides/slide18.xml" Id="R3b21dd4cf9f74bf4"/><Relationship Type="http://schemas.openxmlformats.org/officeDocument/2006/relationships/notesMaster" Target="/ppt/notesMasters/notesMaster1.xml" Id="Rf4470cbdf5a448c9"/></Relationships>
</file>

<file path=ppt/notesSlides/_rels/notesSlide19.xml.rels><?xml version="1.0" encoding="UTF-8"?><Relationships xmlns="http://schemas.openxmlformats.org/package/2006/relationships"><Relationship Type="http://schemas.openxmlformats.org/officeDocument/2006/relationships/slide" Target="/ppt/slides/slide19.xml" Id="Ra0ba5a3c3b0949fb"/><Relationship Type="http://schemas.openxmlformats.org/officeDocument/2006/relationships/notesMaster" Target="/ppt/notesMasters/notesMaster1.xml" Id="R4058dcd04aa649cd"/></Relationships>
</file>

<file path=ppt/notesSlides/_rels/notesSlide20.xml.rels><?xml version="1.0" encoding="UTF-8"?><Relationships xmlns="http://schemas.openxmlformats.org/package/2006/relationships"><Relationship Type="http://schemas.openxmlformats.org/officeDocument/2006/relationships/slide" Target="/ppt/slides/slide20.xml" Id="Rddd85b64d4c846b0"/><Relationship Type="http://schemas.openxmlformats.org/officeDocument/2006/relationships/notesMaster" Target="/ppt/notesMasters/notesMaster1.xml" Id="R17bddcc135e44838"/></Relationships>
</file>

<file path=ppt/notesSlides/_rels/notesSlide21.xml.rels><?xml version="1.0" encoding="UTF-8"?><Relationships xmlns="http://schemas.openxmlformats.org/package/2006/relationships"><Relationship Type="http://schemas.openxmlformats.org/officeDocument/2006/relationships/slide" Target="/ppt/slides/slide21.xml" Id="Ra9be9339c10d487f"/><Relationship Type="http://schemas.openxmlformats.org/officeDocument/2006/relationships/notesMaster" Target="/ppt/notesMasters/notesMaster1.xml" Id="Rc89996772baa45bd"/></Relationships>
</file>

<file path=ppt/notesSlides/_rels/notesSlide22.xml.rels><?xml version="1.0" encoding="UTF-8"?><Relationships xmlns="http://schemas.openxmlformats.org/package/2006/relationships"><Relationship Type="http://schemas.openxmlformats.org/officeDocument/2006/relationships/slide" Target="/ppt/slides/slide22.xml" Id="R5bf136e03cee4c7c"/><Relationship Type="http://schemas.openxmlformats.org/officeDocument/2006/relationships/notesMaster" Target="/ppt/notesMasters/notesMaster1.xml" Id="Rebb07413772040fb"/></Relationships>
</file>

<file path=ppt/notesSlides/_rels/notesSlide23.xml.rels><?xml version="1.0" encoding="UTF-8"?><Relationships xmlns="http://schemas.openxmlformats.org/package/2006/relationships"><Relationship Type="http://schemas.openxmlformats.org/officeDocument/2006/relationships/slide" Target="/ppt/slides/slide23.xml" Id="R81824952648245ab"/><Relationship Type="http://schemas.openxmlformats.org/officeDocument/2006/relationships/notesMaster" Target="/ppt/notesMasters/notesMaster1.xml" Id="R3761a62dd8144582"/></Relationships>
</file>

<file path=ppt/notesSlides/_rels/notesSlide24.xml.rels><?xml version="1.0" encoding="UTF-8"?><Relationships xmlns="http://schemas.openxmlformats.org/package/2006/relationships"><Relationship Type="http://schemas.openxmlformats.org/officeDocument/2006/relationships/slide" Target="/ppt/slides/slide24.xml" Id="Rffe921cf8f214c7e"/><Relationship Type="http://schemas.openxmlformats.org/officeDocument/2006/relationships/notesMaster" Target="/ppt/notesMasters/notesMaster1.xml" Id="Re2c48476dbf34e79"/></Relationships>
</file>

<file path=ppt/notesSlides/_rels/notesSlide25.xml.rels><?xml version="1.0" encoding="UTF-8"?><Relationships xmlns="http://schemas.openxmlformats.org/package/2006/relationships"><Relationship Type="http://schemas.openxmlformats.org/officeDocument/2006/relationships/slide" Target="/ppt/slides/slide25.xml" Id="R9de752bcc75e4a5c"/><Relationship Type="http://schemas.openxmlformats.org/officeDocument/2006/relationships/notesMaster" Target="/ppt/notesMasters/notesMaster1.xml" Id="R09fc5edc42d549f4"/></Relationships>
</file>

<file path=ppt/notesSlides/_rels/notesSlide26.xml.rels><?xml version="1.0" encoding="UTF-8"?><Relationships xmlns="http://schemas.openxmlformats.org/package/2006/relationships"><Relationship Type="http://schemas.openxmlformats.org/officeDocument/2006/relationships/slide" Target="/ppt/slides/slide26.xml" Id="R8c596c8d166149d3"/><Relationship Type="http://schemas.openxmlformats.org/officeDocument/2006/relationships/notesMaster" Target="/ppt/notesMasters/notesMaster1.xml" Id="R5e839265fa3548fe"/></Relationships>
</file>

<file path=ppt/notesSlides/_rels/notesSlide27.xml.rels><?xml version="1.0" encoding="UTF-8"?><Relationships xmlns="http://schemas.openxmlformats.org/package/2006/relationships"><Relationship Type="http://schemas.openxmlformats.org/officeDocument/2006/relationships/slide" Target="/ppt/slides/slide27.xml" Id="R8eb1cddb77b14ca6"/><Relationship Type="http://schemas.openxmlformats.org/officeDocument/2006/relationships/notesMaster" Target="/ppt/notesMasters/notesMaster1.xml" Id="R9f0c2e426a7f43a3"/></Relationships>
</file>

<file path=ppt/notesSlides/_rels/notesSlide28.xml.rels><?xml version="1.0" encoding="UTF-8"?><Relationships xmlns="http://schemas.openxmlformats.org/package/2006/relationships"><Relationship Type="http://schemas.openxmlformats.org/officeDocument/2006/relationships/slide" Target="/ppt/slides/slide28.xml" Id="Ra984b253e73c464b"/><Relationship Type="http://schemas.openxmlformats.org/officeDocument/2006/relationships/notesMaster" Target="/ppt/notesMasters/notesMaster1.xml" Id="R2a2fb964fcca4555"/></Relationships>
</file>

<file path=ppt/notesSlides/_rels/notesSlide29.xml.rels><?xml version="1.0" encoding="UTF-8"?><Relationships xmlns="http://schemas.openxmlformats.org/package/2006/relationships"><Relationship Type="http://schemas.openxmlformats.org/officeDocument/2006/relationships/slide" Target="/ppt/slides/slide29.xml" Id="R78f757daa17c420a"/><Relationship Type="http://schemas.openxmlformats.org/officeDocument/2006/relationships/notesMaster" Target="/ppt/notesMasters/notesMaster1.xml" Id="Reb67f7ec82dc4580"/></Relationships>
</file>

<file path=ppt/notesSlides/_rels/notesSlide30.xml.rels><?xml version="1.0" encoding="UTF-8"?><Relationships xmlns="http://schemas.openxmlformats.org/package/2006/relationships"><Relationship Type="http://schemas.openxmlformats.org/officeDocument/2006/relationships/slide" Target="/ppt/slides/slide30.xml" Id="R5e258dc6e0264701"/><Relationship Type="http://schemas.openxmlformats.org/officeDocument/2006/relationships/notesMaster" Target="/ppt/notesMasters/notesMaster1.xml" Id="R079e6500e69245dc"/></Relationships>
</file>

<file path=ppt/notesSlides/_rels/notesSlide31.xml.rels><?xml version="1.0" encoding="UTF-8"?><Relationships xmlns="http://schemas.openxmlformats.org/package/2006/relationships"><Relationship Type="http://schemas.openxmlformats.org/officeDocument/2006/relationships/slide" Target="/ppt/slides/slide31.xml" Id="R3da1a4e6765c4761"/><Relationship Type="http://schemas.openxmlformats.org/officeDocument/2006/relationships/notesMaster" Target="/ppt/notesMasters/notesMaster1.xml" Id="Ra2529247d4244c43"/></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goal is a working, defensible vehicle-watchlist system using authorised feeds. We are proposing the implementation, not claiming an existing production platform. This team deck explains the choices and execution plan; detailed implementation guidance is included in the notes.</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brief describes qualitative evaluation; do not invent scoring percentages. Prioritise successful test case, working platform, analytics quality, architecture, scalability and complete submission. Clarify whether all approximately 50 feeds must run simultaneously, the vehicle passage schedule, and the permitted hosting environment. A polished interface with replayed alerts is not sufficient.</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Recommendation: Model 1 + Model 2 for the first end-to-end build; Model 3 for existing VMS integrations where accessible; selective Model 4 evidence capture, not blanket state recording. Model 5 is a design choice, not a bonus by name alone. Existing departmental recorders remain the primary full-video store.</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2 may use RTSP, ONVIF, vendor APIs or SDKs; it is not restricted to direct camera RTSP. Model 3 is an architectural federation layer, not inherently metadata-only: actual viewing and playback depend on each adapter and permissions. Registry health must distinguish reported status from tested live health. Facial identification and fingerprints must never be conflated. NAFIS is a fingerprint repository. No direct NAFIS access is assumed.</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https://www.onvif.org/profiles/profile-g/</a:t>
            </a:r>
          </a:p>
          <a:p xmlns:a="http://schemas.openxmlformats.org/drawingml/2006/main">
            <a:r>
              <a:t>https://www.pib.gov.in/PressReleasePage.aspx?PRID=2080660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Core includes role-based access, audit events and secure secrets from day one. Bonus scope is gated on passing the core demonstration, not a reason to omit baseline security. Facial recognition is outside this prototype and would require a separate authorised purpose, safeguards and evaluation. Vehicle appearance may help a human review a sighting but is not an identity proof.</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proposed target topology. Each source connects through an authorised adapter. The regional gateway can consume either video or suitable source-generated analytics metadata. Local recorders continue recording independently. Regional workers publish standard sightings to central services; central matching avoids copying unrestricted watchlists to every camera. Where approved, a scoped and encrypted watchlist cache can enable offline regional alerts with expiry/version checks. The UI requests streams through the gateway and queries central APIs. Security, identity, camera permissions and monitoring span all layers. For the hackathon these logical services can be co-located on one host; do not claim physical edge savings if all feeds are pulled centrally.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ONVIF profiles describe distinct feature sets: T advanced streaming, G recording/retrieval, M analytics metadata/events. Verify conformant device and client compatibility and supported optional functions. SDK licensing, session limits, network routes, read-only credentials and firmware vary by department. API wrappers must not be described as universal vendor support without actual tests. A simulator may test an adapter contract but is not evidence of real vendor integration.</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https://www.onvif.org/profiles/</a:t>
            </a:r>
          </a:p>
          <a:p xmlns:a="http://schemas.openxmlformats.org/drawingml/2006/main">
            <a:r>
              <a:t>https://www.onvif.org/profiles/profile-t/</a:t>
            </a:r>
          </a:p>
          <a:p xmlns:a="http://schemas.openxmlformats.org/drawingml/2006/main">
            <a:r>
              <a:t>https://www.onvif.org/profiles/profile-g/</a:t>
            </a:r>
          </a:p>
          <a:p xmlns:a="http://schemas.openxmlformats.org/drawingml/2006/main">
            <a:r>
              <a:t>https://www.onvif.org/profiles/profile-m/</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tools: MediaMTX plus FFmpeg or GStreamer for relay and decode. MediaMTX supports browser-facing protocols, but browser/codec compatibility may still require transcoding. Sample rate, resolution, camera angle and vehicle speed affect recall. Lowering inference FPS may not lower source bandwidth when the original stream still travels to the processing host. Regional placement, lower-bitrate source streams and on-demand central viewing drive real WAN savings. Ensure analytics continues when nobody has the dashboard open.</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https://mediamtx.org/docs/features/read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ANPR means automatic number plate recognition. Candidate baseline: a licence-reviewed plate detector plus lightweight OCR such as PaddleOCR, evaluated on actual plate crops. Do not use a document VLM or LLM as the real-time default. Do not train a new detector from scratch in the hackathon unless baseline testing proves it essential. Plate syntax is a plausibility check, not evidence of identity. Include BH and other relevant formats; do not restrict recognition to GJ registrations. Avoid aggressive O/0 or I/1 substitutions. Pin model weights and code hashes, and review weight/data licences separately from toolkit licences.</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https://github.com/PaddlePaddle/PaddleOCR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Confidence thresholds and the number of consistent frames are configurable hypotheses to calibrate on validation footage. Use fuzzy matches only in a separately labelled review queue; never silently rewrite OCR to the nearest watchlist entry. Exact OCR matching can still be wrong and does not establish the driver’s identity or wrongdoing. Do not suppress a new sighting at another camera when deduplicating. Record revoked/expired watchlist handling, source authority, and false-positive feedback. No automatic enforcement action.</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asks for the complete route; explain that this can mean all observed sightings and a candidate path, but CCTV gaps cannot establish the actual traversed road. Ask the organisers how they evaluate route reconstruction. Preserve camera time, corrected UTC event time, ingestion time and clock-offset metadata. Display IST clearly for operators. Use realistic travel-time checks to flag implausible associations, not to fabricate a missing detection. Cloned plates and OCR errors can produce conflicting histories.</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minimum schema, not an implementation claim. Add trace_id, schema_version, source_time, ingest_time and event_id to every event. Keep database constraints and idempotent consumers to prevent replay duplicates. Expose documented endpoints for camera onboarding, sightings, watchlists, alerts and evidence access. All reads and writes must enforce department and case scope server-side. Retention and legal hold must be explicit per record category. A hash detects byte changes but does not alone prove the original capture is authentic or legally admissible.</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choices, not requirements or verified benchmarks. A transactional outbox stores events durably in PostgreSQL and retries delivery; unique IDs make processing idempotent. A disk spool at a regional gateway is needed when that gateway cannot reach the central database. Add a broker only when measured load or distributed operations justifies it. Use built-in PostgreSQL indexes for the prototype; avoid Elasticsearch unless search benchmarks demand it. Kubernetes is a later operational choice, not proof of scalability. Lock dependency versions and scan model/dependency licences.</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https://mediamtx.org/docs/features/read</a:t>
            </a:r>
          </a:p>
          <a:p xmlns:a="http://schemas.openxmlformats.org/drawingml/2006/main">
            <a:r>
              <a:t>https://github.com/PaddlePaddle/PaddleOCR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allows representative datasets, but explicitly rejects non-operational mockups. Use fabricated watchlist identities and authorised video: do not seed arbitrary real private vehicles as suspects. VAHAN/SARATHI/eGujCop integration is a proposed boundary; actual schemas, permissions, access channels and lawful purposes must be confirmed with the responsible departments. We do not assume any public API grants production access. No biometric identification or unrestricted person tracking is part of the initial scope.</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https://www.pib.gov.in/PressReleasePage.aspx?PRID=2080660</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engineering safeguards, not a legal compliance opinion. Obtain department approval for purpose, access, retention, sharing and deployment before live use. Onboarding URLs can create SSRF risk: validate destinations and prohibit access to host metadata or unrelated internal services. Secrets must not appear in repositories, query logs, screenshot recordings or browser URLs. Add encrypted disks/backups, credential rotation, session expiry, rate limits and signed short-lived evidence links. An unlisted or anyone-with-link video is still shareable; only include material cleared for that release.</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durability: an event accepted into the durable store should survive worker restart; show the limits explicitly. Frames or events created while a camera itself is unreachable may be unrecoverable unless source playback and permissions allow recovery. A buffer must be bounded by disk space, retention and backpressure policy. Source recording must continue independently. Production disaster recovery: redundant regional workers with dedup/fencing, central database failover, encrypted offsite backup and restore drills. Proposed RPO ≤5 min and RTO ≤30 min require validation and budget; do not claim zero loss or tested high availability from a single-host demo.</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Reset targets after baseline testing if feed quality makes them infeasible; report the reason rather than selecting only easy footage. Precision = correct watchlist alerts / all generated watchlist alerts. Passage recall = correctly alerted watchlisted passages / all labelled watchlisted passages. Report end-to-end recall over all passages and separately over those where a plate is independently readable. Sample recommendation: at least 200 labelled passages across available conditions including at least 30 controlled positive passages, when feasible; disclose counts and limitations. Avoid repeated frames as independent examples. Report confidence intervals and absolute false-alert counts. Also report exact plate accuracy, camera reachability, analytics-active count, p50/p95/max latency and capture-to-ingest delay.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rate = camera count × bitrate. Daily bytes = bits/s × 86,400 / 8. At 2 Mb/s each camera generates 21.6 GB/day. Metadata values assume 2,000 bytes per event excluding images: 80,000 × 0.2 × 2,000 = 32,000,000 bytes/s, approximately 256 Mb/s and 2.7648 TB/day. Metadata volume is traffic-dependent and not necessarily tiny at state scale. These are capacity scenarios, not measured feed statistics or advertised savings. Local full-video storage remains a cost under the hybrid model; we avoid duplicating all of it centrally. WAN reduction requires analytics before the constrained WAN link.</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throughput scenario only: if a worker sustains 100 end-to-end FPS and safe utilisation is 70%, effective capacity is 70 FPS; 50 cameras at 2 FPS require ceiling(100/70)=2 workers. At 80,000 cameras at 2 FPS, the same assumptions imply 2,286 workers, showing why camera selection, existing source analytics and optimisation matter. Actual inference demand differs from decode demand, and high-speed plates may require higher sampling. Suggested target retention tiers for discussion: recent metadata 30 days hot; approved older metadata up to 90 days warm; incident evidence cold only for the approved case period/legal hold. These are planning assumptions, not legal retention rules. Delete expired data and purge caches/backups according to policy.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transparent budget scenario with deliberately hypothetical unit rates, not financial advice, an approved budget, a vendor quote or an estimate based on measured hardware needs. Using an already authorised server can reduce incremental rental cost; compute is not free and existing server access is unconfirmed. Do not rent for 14 days continuously if scheduled testing suffices. Statewide TCO must include camera remediation, vendor connector licences, regional compute, central services, network, evidence retention, replicas/DR, security, AMC and personnel. Formula: implementation + 12 × monthly operations for year one. Compare equivalent coverage, retention, availability and support against full central VMS. Do not claim a savings percentage before that comparison.</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Also ask about firmware, vendor/model, channel mapping, stream session caps, maintenance/AMC constraints, camera orientation, day/night settings and consent/permissions for private cameras. Collect secret references through a secure channel, not plaintext spreadsheets. Confirm event rate, local uplink bandwidth, incident clip export rights and the database-integration authority. Clarify the official deadline, demo duration, on-site PoC requirements and allowed tools/deployment environments. No deadline or team size is given in the attached brief, so our following schedule is a planning scenario.</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plan is aggressive and conditional on permissions, working streams, usable baseline models and hardware. Day 1: source survey, deployment skeleton and schema. Day 2: first source → decode → OCR → DB event. Day 3: second integration path and one full watchlist alert. Days 4–5: camera onboarding and UI history. Days 6–8: quality, permissions and selective evidence. Days 9–10: held-out evaluation and concurrency. Day 11: recovery/security checks. Day 12: feature freeze. Day 13: videos/HLD/report. Day 14: rehearsal and access verification. Critical path is access → decode → OCR → stored sighting → alert → multi-feed proof. Documentation and security run throughout.</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Role assignment should follow availability and familiarity, not job titles. Each owner has a named reviewer from another role. D can prototype against a documented local fixture while C implements APIs; replace fixtures in the actual demonstration. B can evaluate on authorised recorded inputs while A works on source integration. A and B jointly validate decode/inference performance. C and D jointly validate alert status transitions, evidence URLs and server-enforced access. Every day produce an integrated runnable build, not separate branches that only work individually.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put several people on the same file or vaguely assign “everyone” as owner. Use small branches and review pull requests; reserve shared schema changes for explicit coordination. Researching vendor capabilities, building an adapter, labelling footage, building a UI screen, writing HLD sections and implementing a worker are all individually executable. Cross-component integration, independent validation, threat review and rehearsal benefit from two or more people. A solo builder can execute them sequentially but should seek an independent reviewer when available.</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solo prototype is plausible; a complete statewide production platform is not a one-person hackathon deliverable. Use one modular backend, one UI, pre-trained models and Compose. Do not build a new VMS, broker platform or generic plugin marketplace. Keep the required feed coverage, government-feed demo and honest reports; cut optional analytics and extra vendor adapters first. If the actual deadline is two weeks, a solo builder needs substantial working reusable components or scope assistance. Adding people helps independent tasks but cannot eliminate feed-access dependencies. The schedule is not an assurance of delivery.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 checkpoint fails, stop adding features and solve that dependency. If government feeds cannot be accessed, notify the organiser via the team’s authorised contact; do not imply the own-feed demo satisfies the government-feed test. If a VMS API is closed, use another permitted feed path and document the limitation. If clips cannot be exported, show local playback references and capture only permitted evidence; do not claim retained clips exist. If source images have no recoverable plate pixels, OCR cannot guarantee reconstruction. Display the error category and responsible dependency.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replace real backend behaviour with animations or pre-seeded alert rows. Recorded input is allowed in the brief, but label it clearly. Use the actual runtime and report relevant timing; disclose any edited waiting time in the video. For the government feed, show onboarding/viewing and available analytics with an output report of plates/vehicles and timestamps. Prepare a short fallback recording of an actual prior run for presentation resilience, but distinguish it from the live run and do not suggest it proves current connectivity. Redact credentials and obtain permission before including government footage in shareable links.</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brief requests own-feed screen recording maximum 2–3 minutes and a government-feed recording plus output report. It lists unlisted YouTube or Drive/OneDrive anyone-with-link viewer delivery. Check latest organiser instructions before release and share only cleared material. Hosted platform and repository links are additional options, not substitutes for required documents and videos. Use temporary, least-privilege test credentials via the approved submission route; no production credentials. Export reports should state source, event time, detection text, review status, model version and run configuration. No submission is performed by creating this planning deck.</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only when each wave meets agreed quality, load, availability, access and incident-response criteria. Scale event ingestion, stream relay, evidence storage and inference independently. Partition by region/camera/time; retain global query access under authorisation. Synthetic metadata load can validate event services but cannot prove 80,000-stream decode/inference performance. Test representative video concurrency and estimate capacity with measured throughput, then include redundancy and operator staffing. The statewide roadmap requires vendor contracts, hardware procurement, network planning and department cooperation.</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central argument is practical: use existing infrastructure, standardise the integration boundary, move video only when needed, and make every alert reviewable. The top-contender opportunity comes from a dependable demonstration and defensible evidence, not a long list of advanced analytics. The first concrete milestone is one full feed-to-alert workflow on real authorised inputs, followed by heterogeneous integration and required concurrency.</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checked 31 August 2026. Full URLs are in the slide notes wherever used. No source establishes that the proposed prototype already works. No formal legal compliance assessment, live government-system connection, hardware benchmark, supplier quote or submission has been performed. Numerical costs are illustrative assumptions and capacity arithmetic excludes overhead where stated.</a:t>
            </a:r>
          </a:p>
          <a:p xmlns:a="http://schemas.openxmlformats.org/drawingml/2006/main">
            <a:r>
              <a:t>https://www.onvif.org/profiles/</a:t>
            </a:r>
          </a:p>
          <a:p xmlns:a="http://schemas.openxmlformats.org/drawingml/2006/main">
            <a:r>
              <a:t>https://www.onvif.org/profiles/profile-t/</a:t>
            </a:r>
          </a:p>
          <a:p xmlns:a="http://schemas.openxmlformats.org/drawingml/2006/main">
            <a:r>
              <a:t>https://www.onvif.org/profiles/profile-g/</a:t>
            </a:r>
          </a:p>
          <a:p xmlns:a="http://schemas.openxmlformats.org/drawingml/2006/main">
            <a:r>
              <a:t>https://www.onvif.org/profiles/profile-m/</a:t>
            </a:r>
          </a:p>
          <a:p xmlns:a="http://schemas.openxmlformats.org/drawingml/2006/main">
            <a:r>
              <a:t>https://www.pib.gov.in/PressReleasePage.aspx?PRID=2080660</a:t>
            </a:r>
          </a:p>
          <a:p xmlns:a="http://schemas.openxmlformats.org/drawingml/2006/main">
            <a:r>
              <a:t>https://mediamtx.org/docs/features/read</a:t>
            </a:r>
          </a:p>
          <a:p xmlns:a="http://schemas.openxmlformats.org/drawingml/2006/main">
            <a:r>
              <a:t>https://github.com/PaddlePaddle/PaddleOCR</a:t>
            </a:r>
          </a:p>
          <a:p xmlns:a="http://schemas.openxmlformats.org/drawingml/2006/main">
            <a:r>
              <a:t/>
            </a:r>
          </a:p>
          <a:p xmlns:a="http://schemas.openxmlformats.org/drawingml/2006/main">
            <a:r>
              <a:t>[Sources]</a:t>
            </a:r>
          </a:p>
          <a:p xmlns:a="http://schemas.openxmlformats.org/drawingml/2006/main">
            <a:r>
              <a:t>User-provided GUJARAT POLICE HACKATHON.md, Steps 1–7; supplied brief is the requirements baseline. No official deadline or numerical scoring weights supplied.</a:t>
            </a:r>
          </a:p>
          <a:p xmlns:a="http://schemas.openxmlformats.org/drawingml/2006/main">
            <a:r>
              <a:t>https://www.onvif.org/profiles/</a:t>
            </a:r>
          </a:p>
          <a:p xmlns:a="http://schemas.openxmlformats.org/drawingml/2006/main">
            <a:r>
              <a:t>https://www.onvif.org/profiles/profile-t/</a:t>
            </a:r>
          </a:p>
          <a:p xmlns:a="http://schemas.openxmlformats.org/drawingml/2006/main">
            <a:r>
              <a:t>https://www.onvif.org/profiles/profile-g/</a:t>
            </a:r>
          </a:p>
          <a:p xmlns:a="http://schemas.openxmlformats.org/drawingml/2006/main">
            <a:r>
              <a:t>https://www.onvif.org/profiles/profile-m/</a:t>
            </a:r>
          </a:p>
          <a:p xmlns:a="http://schemas.openxmlformats.org/drawingml/2006/main">
            <a:r>
              <a:t>https://www.pib.gov.in/PressReleasePage.aspx?PRID=2080660</a:t>
            </a:r>
          </a:p>
          <a:p xmlns:a="http://schemas.openxmlformats.org/drawingml/2006/main">
            <a:r>
              <a:t>https://mediamtx.org/docs/features/read</a:t>
            </a:r>
          </a:p>
          <a:p xmlns:a="http://schemas.openxmlformats.org/drawingml/2006/main">
            <a:r>
              <a:t>https://github.com/PaddlePaddle/PaddleOCR</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Relationships xmlns="http://schemas.openxmlformats.org/package/2006/relationships"><Relationship Type="http://schemas.openxmlformats.org/officeDocument/2006/relationships/slideMaster" Target="/ppt/slideMasters/slideMaster1.xml" Id="Rc4977149c1104cd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Relationships xmlns="http://schemas.openxmlformats.org/package/2006/relationships"><Relationship Type="http://schemas.openxmlformats.org/officeDocument/2006/relationships/theme" Target="/ppt/slideMasters/theme/theme2.xml" Id="R7782e14ee13948fc"/><Relationship Type="http://schemas.openxmlformats.org/officeDocument/2006/relationships/slideLayout" Target="/ppt/slideLayouts/slideLayout1.xml" Id="R1cbbd44c8c764192"/></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bbd44c8c76419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Relationships xmlns="http://schemas.openxmlformats.org/package/2006/relationships"><Relationship Type="http://schemas.openxmlformats.org/officeDocument/2006/relationships/slideLayout" Target="/ppt/slideLayouts/slideLayout1.xml" Id="R518ac422cefe4015"/><Relationship Type="http://schemas.openxmlformats.org/officeDocument/2006/relationships/notesSlide" Target="/ppt/notesSlides/notesSlide1.xml" Id="R44e2ddc87a6e401e"/></Relationships>
</file>

<file path=ppt/slides/_rels/slide2.xml.rels><?xml version="1.0" encoding="UTF-8"?><Relationships xmlns="http://schemas.openxmlformats.org/package/2006/relationships"><Relationship Type="http://schemas.openxmlformats.org/officeDocument/2006/relationships/slideLayout" Target="/ppt/slideLayouts/slideLayout1.xml" Id="R74b6326623634ea6"/><Relationship Type="http://schemas.openxmlformats.org/officeDocument/2006/relationships/notesSlide" Target="/ppt/notesSlides/notesSlide2.xml" Id="Rd81331ae90fe41b1"/></Relationships>
</file>

<file path=ppt/slides/_rels/slide3.xml.rels><?xml version="1.0" encoding="UTF-8"?><Relationships xmlns="http://schemas.openxmlformats.org/package/2006/relationships"><Relationship Type="http://schemas.openxmlformats.org/officeDocument/2006/relationships/slideLayout" Target="/ppt/slideLayouts/slideLayout1.xml" Id="Re9ddf61b3b0c4bf5"/><Relationship Type="http://schemas.openxmlformats.org/officeDocument/2006/relationships/notesSlide" Target="/ppt/notesSlides/notesSlide3.xml" Id="R7aebb638aa7c4e82"/></Relationships>
</file>

<file path=ppt/slides/_rels/slide4.xml.rels><?xml version="1.0" encoding="UTF-8"?><Relationships xmlns="http://schemas.openxmlformats.org/package/2006/relationships"><Relationship Type="http://schemas.openxmlformats.org/officeDocument/2006/relationships/slideLayout" Target="/ppt/slideLayouts/slideLayout1.xml" Id="R229f4eaf308c417f"/><Relationship Type="http://schemas.openxmlformats.org/officeDocument/2006/relationships/notesSlide" Target="/ppt/notesSlides/notesSlide4.xml" Id="Rfc8999b1956c434f"/></Relationships>
</file>

<file path=ppt/slides/_rels/slide5.xml.rels><?xml version="1.0" encoding="UTF-8"?><Relationships xmlns="http://schemas.openxmlformats.org/package/2006/relationships"><Relationship Type="http://schemas.openxmlformats.org/officeDocument/2006/relationships/slideLayout" Target="/ppt/slideLayouts/slideLayout1.xml" Id="R532f171a10934986"/><Relationship Type="http://schemas.openxmlformats.org/officeDocument/2006/relationships/notesSlide" Target="/ppt/notesSlides/notesSlide5.xml" Id="R57c8bc5967f14f70"/></Relationships>
</file>

<file path=ppt/slides/_rels/slide6.xml.rels><?xml version="1.0" encoding="UTF-8"?><Relationships xmlns="http://schemas.openxmlformats.org/package/2006/relationships"><Relationship Type="http://schemas.openxmlformats.org/officeDocument/2006/relationships/slideLayout" Target="/ppt/slideLayouts/slideLayout1.xml" Id="Rbfc3887718ce4e0b"/><Relationship Type="http://schemas.openxmlformats.org/officeDocument/2006/relationships/notesSlide" Target="/ppt/notesSlides/notesSlide6.xml" Id="R1bf606f0e7aa4557"/></Relationships>
</file>

<file path=ppt/slides/_rels/slide7.xml.rels><?xml version="1.0" encoding="UTF-8"?><Relationships xmlns="http://schemas.openxmlformats.org/package/2006/relationships"><Relationship Type="http://schemas.openxmlformats.org/officeDocument/2006/relationships/slideLayout" Target="/ppt/slideLayouts/slideLayout1.xml" Id="R348ca417aef1420b"/><Relationship Type="http://schemas.openxmlformats.org/officeDocument/2006/relationships/notesSlide" Target="/ppt/notesSlides/notesSlide7.xml" Id="R7e767765362e4282"/></Relationships>
</file>

<file path=ppt/slides/_rels/slide8.xml.rels><?xml version="1.0" encoding="UTF-8"?><Relationships xmlns="http://schemas.openxmlformats.org/package/2006/relationships"><Relationship Type="http://schemas.openxmlformats.org/officeDocument/2006/relationships/slideLayout" Target="/ppt/slideLayouts/slideLayout1.xml" Id="R7ea5bd110cce4f73"/><Relationship Type="http://schemas.openxmlformats.org/officeDocument/2006/relationships/notesSlide" Target="/ppt/notesSlides/notesSlide8.xml" Id="Ra3763ef1673b4bb5"/></Relationships>
</file>

<file path=ppt/slides/_rels/slide9.xml.rels><?xml version="1.0" encoding="UTF-8"?><Relationships xmlns="http://schemas.openxmlformats.org/package/2006/relationships"><Relationship Type="http://schemas.openxmlformats.org/officeDocument/2006/relationships/slideLayout" Target="/ppt/slideLayouts/slideLayout1.xml" Id="R3e133255a5984b03"/><Relationship Type="http://schemas.openxmlformats.org/officeDocument/2006/relationships/notesSlide" Target="/ppt/notesSlides/notesSlide9.xml" Id="R58e9373dc9e94056"/></Relationships>
</file>

<file path=ppt/slides/_rels/slide10.xml.rels><?xml version="1.0" encoding="UTF-8"?><Relationships xmlns="http://schemas.openxmlformats.org/package/2006/relationships"><Relationship Type="http://schemas.openxmlformats.org/officeDocument/2006/relationships/slideLayout" Target="/ppt/slideLayouts/slideLayout1.xml" Id="Re021ea521ed04716"/><Relationship Type="http://schemas.openxmlformats.org/officeDocument/2006/relationships/notesSlide" Target="/ppt/notesSlides/notesSlide10.xml" Id="R479f74654a4848a2"/></Relationships>
</file>

<file path=ppt/slides/_rels/slide11.xml.rels><?xml version="1.0" encoding="UTF-8"?><Relationships xmlns="http://schemas.openxmlformats.org/package/2006/relationships"><Relationship Type="http://schemas.openxmlformats.org/officeDocument/2006/relationships/slideLayout" Target="/ppt/slideLayouts/slideLayout1.xml" Id="Rcf11c9ad6d4e4e78"/><Relationship Type="http://schemas.openxmlformats.org/officeDocument/2006/relationships/notesSlide" Target="/ppt/notesSlides/notesSlide11.xml" Id="Rc12b7054a37c4a7e"/></Relationships>
</file>

<file path=ppt/slides/_rels/slide12.xml.rels><?xml version="1.0" encoding="UTF-8"?><Relationships xmlns="http://schemas.openxmlformats.org/package/2006/relationships"><Relationship Type="http://schemas.openxmlformats.org/officeDocument/2006/relationships/slideLayout" Target="/ppt/slideLayouts/slideLayout1.xml" Id="R6da0aeedc2944f21"/><Relationship Type="http://schemas.openxmlformats.org/officeDocument/2006/relationships/notesSlide" Target="/ppt/notesSlides/notesSlide12.xml" Id="Rc2e69a3c66fb47ad"/></Relationships>
</file>

<file path=ppt/slides/_rels/slide13.xml.rels><?xml version="1.0" encoding="UTF-8"?><Relationships xmlns="http://schemas.openxmlformats.org/package/2006/relationships"><Relationship Type="http://schemas.openxmlformats.org/officeDocument/2006/relationships/slideLayout" Target="/ppt/slideLayouts/slideLayout1.xml" Id="R7936a63c6b2347d4"/><Relationship Type="http://schemas.openxmlformats.org/officeDocument/2006/relationships/notesSlide" Target="/ppt/notesSlides/notesSlide13.xml" Id="R8650803cbdf048d8"/></Relationships>
</file>

<file path=ppt/slides/_rels/slide14.xml.rels><?xml version="1.0" encoding="UTF-8"?><Relationships xmlns="http://schemas.openxmlformats.org/package/2006/relationships"><Relationship Type="http://schemas.openxmlformats.org/officeDocument/2006/relationships/slideLayout" Target="/ppt/slideLayouts/slideLayout1.xml" Id="R1b1859d3aa0b444f"/><Relationship Type="http://schemas.openxmlformats.org/officeDocument/2006/relationships/notesSlide" Target="/ppt/notesSlides/notesSlide14.xml" Id="Re8d92942e9af458c"/></Relationships>
</file>

<file path=ppt/slides/_rels/slide15.xml.rels><?xml version="1.0" encoding="UTF-8"?><Relationships xmlns="http://schemas.openxmlformats.org/package/2006/relationships"><Relationship Type="http://schemas.openxmlformats.org/officeDocument/2006/relationships/slideLayout" Target="/ppt/slideLayouts/slideLayout1.xml" Id="R3f647b1aa1034ffd"/><Relationship Type="http://schemas.openxmlformats.org/officeDocument/2006/relationships/notesSlide" Target="/ppt/notesSlides/notesSlide15.xml" Id="Rbfd39c338f2e47a1"/></Relationships>
</file>

<file path=ppt/slides/_rels/slide16.xml.rels><?xml version="1.0" encoding="UTF-8"?><Relationships xmlns="http://schemas.openxmlformats.org/package/2006/relationships"><Relationship Type="http://schemas.openxmlformats.org/officeDocument/2006/relationships/slideLayout" Target="/ppt/slideLayouts/slideLayout1.xml" Id="R554fd314249e455f"/><Relationship Type="http://schemas.openxmlformats.org/officeDocument/2006/relationships/notesSlide" Target="/ppt/notesSlides/notesSlide16.xml" Id="R2bfd7281b01d4732"/></Relationships>
</file>

<file path=ppt/slides/_rels/slide17.xml.rels><?xml version="1.0" encoding="UTF-8"?><Relationships xmlns="http://schemas.openxmlformats.org/package/2006/relationships"><Relationship Type="http://schemas.openxmlformats.org/officeDocument/2006/relationships/slideLayout" Target="/ppt/slideLayouts/slideLayout1.xml" Id="R96267c0f1e5b424c"/><Relationship Type="http://schemas.openxmlformats.org/officeDocument/2006/relationships/notesSlide" Target="/ppt/notesSlides/notesSlide17.xml" Id="R48ae9ecd00a243ba"/></Relationships>
</file>

<file path=ppt/slides/_rels/slide18.xml.rels><?xml version="1.0" encoding="UTF-8"?><Relationships xmlns="http://schemas.openxmlformats.org/package/2006/relationships"><Relationship Type="http://schemas.openxmlformats.org/officeDocument/2006/relationships/slideLayout" Target="/ppt/slideLayouts/slideLayout1.xml" Id="Rbdea5c10fd6c4e70"/><Relationship Type="http://schemas.openxmlformats.org/officeDocument/2006/relationships/notesSlide" Target="/ppt/notesSlides/notesSlide18.xml" Id="R57685f38d4204024"/></Relationships>
</file>

<file path=ppt/slides/_rels/slide19.xml.rels><?xml version="1.0" encoding="UTF-8"?><Relationships xmlns="http://schemas.openxmlformats.org/package/2006/relationships"><Relationship Type="http://schemas.openxmlformats.org/officeDocument/2006/relationships/slideLayout" Target="/ppt/slideLayouts/slideLayout1.xml" Id="Re30f8681ad174eb8"/><Relationship Type="http://schemas.openxmlformats.org/officeDocument/2006/relationships/notesSlide" Target="/ppt/notesSlides/notesSlide19.xml" Id="Raddc99319bd54b52"/></Relationships>
</file>

<file path=ppt/slides/_rels/slide20.xml.rels><?xml version="1.0" encoding="UTF-8"?><Relationships xmlns="http://schemas.openxmlformats.org/package/2006/relationships"><Relationship Type="http://schemas.openxmlformats.org/officeDocument/2006/relationships/slideLayout" Target="/ppt/slideLayouts/slideLayout1.xml" Id="Rb9e8532eeed346c0"/><Relationship Type="http://schemas.openxmlformats.org/officeDocument/2006/relationships/notesSlide" Target="/ppt/notesSlides/notesSlide20.xml" Id="R5aba019093d9459f"/></Relationships>
</file>

<file path=ppt/slides/_rels/slide21.xml.rels><?xml version="1.0" encoding="UTF-8"?><Relationships xmlns="http://schemas.openxmlformats.org/package/2006/relationships"><Relationship Type="http://schemas.openxmlformats.org/officeDocument/2006/relationships/slideLayout" Target="/ppt/slideLayouts/slideLayout1.xml" Id="Rb5adcb59ccba44e1"/><Relationship Type="http://schemas.openxmlformats.org/officeDocument/2006/relationships/notesSlide" Target="/ppt/notesSlides/notesSlide21.xml" Id="R631385177f44405e"/></Relationships>
</file>

<file path=ppt/slides/_rels/slide22.xml.rels><?xml version="1.0" encoding="UTF-8"?><Relationships xmlns="http://schemas.openxmlformats.org/package/2006/relationships"><Relationship Type="http://schemas.openxmlformats.org/officeDocument/2006/relationships/slideLayout" Target="/ppt/slideLayouts/slideLayout1.xml" Id="Rb31b63b21ea5445e"/><Relationship Type="http://schemas.openxmlformats.org/officeDocument/2006/relationships/notesSlide" Target="/ppt/notesSlides/notesSlide22.xml" Id="R0e13976e285541ac"/></Relationships>
</file>

<file path=ppt/slides/_rels/slide23.xml.rels><?xml version="1.0" encoding="UTF-8"?><Relationships xmlns="http://schemas.openxmlformats.org/package/2006/relationships"><Relationship Type="http://schemas.openxmlformats.org/officeDocument/2006/relationships/slideLayout" Target="/ppt/slideLayouts/slideLayout1.xml" Id="R95a71a3e7dfd4e3e"/><Relationship Type="http://schemas.openxmlformats.org/officeDocument/2006/relationships/notesSlide" Target="/ppt/notesSlides/notesSlide23.xml" Id="Rc38101b408684417"/></Relationships>
</file>

<file path=ppt/slides/_rels/slide24.xml.rels><?xml version="1.0" encoding="UTF-8"?><Relationships xmlns="http://schemas.openxmlformats.org/package/2006/relationships"><Relationship Type="http://schemas.openxmlformats.org/officeDocument/2006/relationships/slideLayout" Target="/ppt/slideLayouts/slideLayout1.xml" Id="Rc67d1f3c08e94bba"/><Relationship Type="http://schemas.openxmlformats.org/officeDocument/2006/relationships/notesSlide" Target="/ppt/notesSlides/notesSlide24.xml" Id="Re55570b171ab4e06"/></Relationships>
</file>

<file path=ppt/slides/_rels/slide25.xml.rels><?xml version="1.0" encoding="UTF-8"?><Relationships xmlns="http://schemas.openxmlformats.org/package/2006/relationships"><Relationship Type="http://schemas.openxmlformats.org/officeDocument/2006/relationships/slideLayout" Target="/ppt/slideLayouts/slideLayout1.xml" Id="Rbcd950e8c17444ec"/><Relationship Type="http://schemas.openxmlformats.org/officeDocument/2006/relationships/notesSlide" Target="/ppt/notesSlides/notesSlide25.xml" Id="Rf0545797baf342d7"/></Relationships>
</file>

<file path=ppt/slides/_rels/slide26.xml.rels><?xml version="1.0" encoding="UTF-8"?><Relationships xmlns="http://schemas.openxmlformats.org/package/2006/relationships"><Relationship Type="http://schemas.openxmlformats.org/officeDocument/2006/relationships/slideLayout" Target="/ppt/slideLayouts/slideLayout1.xml" Id="R587a75926ca744ac"/><Relationship Type="http://schemas.openxmlformats.org/officeDocument/2006/relationships/notesSlide" Target="/ppt/notesSlides/notesSlide26.xml" Id="Rdcba68fdd8734516"/></Relationships>
</file>

<file path=ppt/slides/_rels/slide27.xml.rels><?xml version="1.0" encoding="UTF-8"?><Relationships xmlns="http://schemas.openxmlformats.org/package/2006/relationships"><Relationship Type="http://schemas.openxmlformats.org/officeDocument/2006/relationships/slideLayout" Target="/ppt/slideLayouts/slideLayout1.xml" Id="R3f4a7281fa0b427d"/><Relationship Type="http://schemas.openxmlformats.org/officeDocument/2006/relationships/notesSlide" Target="/ppt/notesSlides/notesSlide27.xml" Id="R97576f6cc0214b14"/></Relationships>
</file>

<file path=ppt/slides/_rels/slide28.xml.rels><?xml version="1.0" encoding="UTF-8"?><Relationships xmlns="http://schemas.openxmlformats.org/package/2006/relationships"><Relationship Type="http://schemas.openxmlformats.org/officeDocument/2006/relationships/slideLayout" Target="/ppt/slideLayouts/slideLayout1.xml" Id="Rc8799e04040e4194"/><Relationship Type="http://schemas.openxmlformats.org/officeDocument/2006/relationships/notesSlide" Target="/ppt/notesSlides/notesSlide28.xml" Id="Re9bd5ca66d6b4495"/></Relationships>
</file>

<file path=ppt/slides/_rels/slide29.xml.rels><?xml version="1.0" encoding="UTF-8"?><Relationships xmlns="http://schemas.openxmlformats.org/package/2006/relationships"><Relationship Type="http://schemas.openxmlformats.org/officeDocument/2006/relationships/slideLayout" Target="/ppt/slideLayouts/slideLayout1.xml" Id="Rd19d28f3d0db4ac2"/><Relationship Type="http://schemas.openxmlformats.org/officeDocument/2006/relationships/notesSlide" Target="/ppt/notesSlides/notesSlide29.xml" Id="Rc46fb74ed8b14a4a"/></Relationships>
</file>

<file path=ppt/slides/_rels/slide30.xml.rels><?xml version="1.0" encoding="UTF-8"?><Relationships xmlns="http://schemas.openxmlformats.org/package/2006/relationships"><Relationship Type="http://schemas.openxmlformats.org/officeDocument/2006/relationships/slideLayout" Target="/ppt/slideLayouts/slideLayout1.xml" Id="Raed1959036284c40"/><Relationship Type="http://schemas.openxmlformats.org/officeDocument/2006/relationships/notesSlide" Target="/ppt/notesSlides/notesSlide30.xml" Id="Rbf4640eea2ed4810"/></Relationships>
</file>

<file path=ppt/slides/_rels/slide31.xml.rels><?xml version="1.0" encoding="UTF-8"?><Relationships xmlns="http://schemas.openxmlformats.org/package/2006/relationships"><Relationship Type="http://schemas.openxmlformats.org/officeDocument/2006/relationships/slideLayout" Target="/ppt/slideLayouts/slideLayout1.xml" Id="R9db30cbbb2494401"/><Relationship Type="http://schemas.openxmlformats.org/officeDocument/2006/relationships/notesSlide" Target="/ppt/notesSlides/notesSlide31.xml" Id="R158354f6ca9f41a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1A4461-53D9-41B4-B174-9CA8D358393D}"/>
              </a:ext>
            </a:extLst>
          </p:cNvPr>
          <p:cNvSpPr>
            <a:spLocks xmlns:a="http://schemas.openxmlformats.org/drawingml/2006/main" noGrp="1"/>
          </p:cNvSpPr>
          <p:nvPr/>
        </p:nvSpPr>
        <p:spPr>
          <a:xfrm xmlns:a="http://schemas.openxmlformats.org/drawingml/2006/main">
            <a:off x="457200" y="409575"/>
            <a:ext cx="1127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1">
                <a:solidFill>
                  <a:srgbClr val="1764C0"/>
                </a:solidFill>
              </a:defRPr>
            </a:pPr>
            <a:r>
              <a:rPr sz="1875" b="1">
                <a:solidFill>
                  <a:srgbClr val="1764C0"/>
                </a:solidFill>
              </a:rPr>
              <a:t>GUJARAT POLICE HACKATHON  /  TEAM PLAN</a:t>
            </a:r>
          </a:p>
        </p:txBody>
      </p:sp>
      <p:sp>
        <p:nvSpPr>
          <p:cNvPr id="2" name="">
            <a:extLst xmlns:a="http://schemas.openxmlformats.org/drawingml/2006/main">
              <a:ext uri="{FF2B5EF4-FFF2-40B4-BE49-F238E27FC236}">
                <a16:creationId xmlns:a16="http://schemas.microsoft.com/office/drawing/2014/main" id="{A5E9597C-0855-46EE-8953-8CCC4F926BA4}"/>
              </a:ext>
            </a:extLst>
          </p:cNvPr>
          <p:cNvSpPr>
            <a:spLocks xmlns:a="http://schemas.openxmlformats.org/drawingml/2006/main" noGrp="1"/>
          </p:cNvSpPr>
          <p:nvPr/>
        </p:nvSpPr>
        <p:spPr>
          <a:xfrm xmlns:a="http://schemas.openxmlformats.org/drawingml/2006/main">
            <a:off x="457200" y="2076450"/>
            <a:ext cx="112776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5700" b="1">
                <a:solidFill>
                  <a:srgbClr val="131820"/>
                </a:solidFill>
              </a:defRPr>
            </a:pPr>
            <a:r>
              <a:rPr sz="5700" b="1">
                <a:solidFill>
                  <a:srgbClr val="131820"/>
                </a:solidFill>
              </a:rPr>
              <a:t>One platform.</a:t>
            </a:r>
          </a:p>
          <a:p xmlns:a="http://schemas.openxmlformats.org/drawingml/2006/main">
            <a:pPr>
              <a:defRPr sz="5700" b="1">
                <a:solidFill>
                  <a:srgbClr val="131820"/>
                </a:solidFill>
              </a:defRPr>
            </a:pPr>
            <a:r>
              <a:rPr sz="5700" b="1">
                <a:solidFill>
                  <a:srgbClr val="131820"/>
                </a:solidFill>
              </a:rPr>
              <a:t>Evidence-led alerts.</a:t>
            </a:r>
          </a:p>
        </p:txBody>
      </p:sp>
      <p:sp>
        <p:nvSpPr>
          <p:cNvPr id="3" name="">
            <a:extLst xmlns:a="http://schemas.openxmlformats.org/drawingml/2006/main">
              <a:ext uri="{FF2B5EF4-FFF2-40B4-BE49-F238E27FC236}">
                <a16:creationId xmlns:a16="http://schemas.microsoft.com/office/drawing/2014/main" id="{17ABA4E2-E67B-4E50-9429-1922B9D8053B}"/>
              </a:ext>
            </a:extLst>
          </p:cNvPr>
          <p:cNvSpPr>
            <a:spLocks xmlns:a="http://schemas.openxmlformats.org/drawingml/2006/main" noGrp="1"/>
          </p:cNvSpPr>
          <p:nvPr/>
        </p:nvSpPr>
        <p:spPr>
          <a:xfrm xmlns:a="http://schemas.openxmlformats.org/drawingml/2006/main">
            <a:off x="457200" y="478155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31820"/>
                </a:solidFill>
              </a:defRPr>
            </a:pPr>
            <a:r>
              <a:rPr sz="2400" b="0">
                <a:solidFill>
                  <a:srgbClr val="131820"/>
                </a:solidFill>
              </a:rPr>
              <a:t>A practical hybrid CCTV architecture</a:t>
            </a:r>
          </a:p>
          <a:p xmlns:a="http://schemas.openxmlformats.org/drawingml/2006/main">
            <a:pPr>
              <a:defRPr sz="2400" b="0">
                <a:solidFill>
                  <a:srgbClr val="131820"/>
                </a:solidFill>
              </a:defRPr>
            </a:pPr>
            <a:r>
              <a:rPr sz="2400" b="0">
                <a:solidFill>
                  <a:srgbClr val="131820"/>
                </a:solidFill>
              </a:rPr>
              <a:t>Scope • implementation • ownership • safeguards</a:t>
            </a:r>
          </a:p>
        </p:txBody>
      </p:sp>
      <p:sp>
        <p:nvSpPr>
          <p:cNvPr id="4" name="">
            <a:extLst xmlns:a="http://schemas.openxmlformats.org/drawingml/2006/main">
              <a:ext uri="{FF2B5EF4-FFF2-40B4-BE49-F238E27FC236}">
                <a16:creationId xmlns:a16="http://schemas.microsoft.com/office/drawing/2014/main" id="{2756C08E-A54B-4176-B8AF-9CC98AD33D00}"/>
              </a:ext>
            </a:extLst>
          </p:cNvPr>
          <p:cNvSpPr>
            <a:spLocks xmlns:a="http://schemas.openxmlformats.org/drawingml/2006/main" noGrp="1"/>
          </p:cNvSpPr>
          <p:nvPr/>
        </p:nvSpPr>
        <p:spPr>
          <a:xfrm xmlns:a="http://schemas.openxmlformats.org/drawingml/2006/main">
            <a:off x="457200" y="63912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0">
                <a:solidFill>
                  <a:srgbClr val="56616E"/>
                </a:solidFill>
              </a:defRPr>
            </a:pPr>
            <a:r>
              <a:rPr sz="1575" b="0">
                <a:solidFill>
                  <a:srgbClr val="56616E"/>
                </a:solidFill>
              </a:rPr>
              <a:t>Proposed approach | 31 August 2026</a:t>
            </a:r>
          </a:p>
        </p:txBody>
      </p:sp>
    </p:spTree>
    <p:extLst>
      <p:ext uri="{BB962C8B-B14F-4D97-AF65-F5344CB8AC3E}">
        <p14:creationId xmlns:p14="http://schemas.microsoft.com/office/powerpoint/2010/main" val="48411610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CAF2BC3-2259-40A8-99BB-87037FD4579A}"/>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7EACC2B8-A15E-44CD-9DFE-D85E0D9F170E}"/>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Build around the evaluation test</a:t>
            </a:r>
          </a:p>
        </p:txBody>
      </p:sp>
      <p:sp>
        <p:nvSpPr>
          <p:cNvPr id="3" name="">
            <a:extLst xmlns:a="http://schemas.openxmlformats.org/drawingml/2006/main">
              <a:ext uri="{FF2B5EF4-FFF2-40B4-BE49-F238E27FC236}">
                <a16:creationId xmlns:a16="http://schemas.microsoft.com/office/drawing/2014/main" id="{BD8E3851-4F91-47E0-95DE-6529C8F9F1B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The brief rewards a complete working chain before optional innovation.</a:t>
            </a:r>
          </a:p>
        </p:txBody>
      </p:sp>
      <p:sp>
        <p:nvSpPr>
          <p:cNvPr id="4" name="">
            <a:extLst xmlns:a="http://schemas.openxmlformats.org/drawingml/2006/main">
              <a:ext uri="{FF2B5EF4-FFF2-40B4-BE49-F238E27FC236}">
                <a16:creationId xmlns:a16="http://schemas.microsoft.com/office/drawing/2014/main" id="{DC248F80-D7FF-475F-A277-80280622F4EF}"/>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1F3AFE00-D459-4969-8921-8E51BC655381}"/>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2DC4FC3C-0424-4624-8AB9-F03C79598FF0}"/>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02</a:t>
            </a:r>
          </a:p>
        </p:txBody>
      </p:sp>
      <p:sp>
        <p:nvSpPr>
          <p:cNvPr id="7" name="">
            <a:extLst xmlns:a="http://schemas.openxmlformats.org/drawingml/2006/main">
              <a:ext uri="{FF2B5EF4-FFF2-40B4-BE49-F238E27FC236}">
                <a16:creationId xmlns:a16="http://schemas.microsoft.com/office/drawing/2014/main" id="{F3F10786-36CA-4EDA-81AC-B49EE1CDD11F}"/>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Mandatory demonstration</a:t>
            </a:r>
          </a:p>
        </p:txBody>
      </p:sp>
      <p:sp>
        <p:nvSpPr>
          <p:cNvPr id="8" name="">
            <a:extLst xmlns:a="http://schemas.openxmlformats.org/drawingml/2006/main">
              <a:ext uri="{FF2B5EF4-FFF2-40B4-BE49-F238E27FC236}">
                <a16:creationId xmlns:a16="http://schemas.microsoft.com/office/drawing/2014/main" id="{4B605F7B-5DAA-4A47-99DB-7479FD2E2DA0}"/>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Onboard approximately 50 heterogeneous cameras and process the supplied feeds.</a:t>
            </a:r>
          </a:p>
        </p:txBody>
      </p:sp>
      <p:sp>
        <p:nvSpPr>
          <p:cNvPr id="9" name="">
            <a:extLst xmlns:a="http://schemas.openxmlformats.org/drawingml/2006/main">
              <a:ext uri="{FF2B5EF4-FFF2-40B4-BE49-F238E27FC236}">
                <a16:creationId xmlns:a16="http://schemas.microsoft.com/office/drawing/2014/main" id="{B11CE77F-C972-4021-94EC-77C12BC612F7}"/>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Find the designated registration number; show timestamped sightings and GIS history.</a:t>
            </a:r>
          </a:p>
        </p:txBody>
      </p:sp>
      <p:sp>
        <p:nvSpPr>
          <p:cNvPr id="10" name="">
            <a:extLst xmlns:a="http://schemas.openxmlformats.org/drawingml/2006/main">
              <a:ext uri="{FF2B5EF4-FFF2-40B4-BE49-F238E27FC236}">
                <a16:creationId xmlns:a16="http://schemas.microsoft.com/office/drawing/2014/main" id="{A9BCA3DE-0932-4070-9A63-7270D3CA24B9}"/>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Continuously match a representative watchlist and generate reviewable alerts.</a:t>
            </a:r>
          </a:p>
        </p:txBody>
      </p:sp>
      <p:sp>
        <p:nvSpPr>
          <p:cNvPr id="11" name="">
            <a:extLst xmlns:a="http://schemas.openxmlformats.org/drawingml/2006/main">
              <a:ext uri="{FF2B5EF4-FFF2-40B4-BE49-F238E27FC236}">
                <a16:creationId xmlns:a16="http://schemas.microsoft.com/office/drawing/2014/main" id="{7190B472-065B-4B33-998C-3482682EDBD7}"/>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Evidence for the judges</a:t>
            </a:r>
          </a:p>
        </p:txBody>
      </p:sp>
      <p:sp>
        <p:nvSpPr>
          <p:cNvPr id="12" name="">
            <a:extLst xmlns:a="http://schemas.openxmlformats.org/drawingml/2006/main">
              <a:ext uri="{FF2B5EF4-FFF2-40B4-BE49-F238E27FC236}">
                <a16:creationId xmlns:a16="http://schemas.microsoft.com/office/drawing/2014/main" id="{81FCC134-719F-4A3C-AC04-EE289827CCA5}"/>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Working backend, own-feed video, government-feed video, and output report.</a:t>
            </a:r>
          </a:p>
        </p:txBody>
      </p:sp>
      <p:sp>
        <p:nvSpPr>
          <p:cNvPr id="13" name="">
            <a:extLst xmlns:a="http://schemas.openxmlformats.org/drawingml/2006/main">
              <a:ext uri="{FF2B5EF4-FFF2-40B4-BE49-F238E27FC236}">
                <a16:creationId xmlns:a16="http://schemas.microsoft.com/office/drawing/2014/main" id="{0D2B2EB5-A1ED-4DD0-8DCB-D0ECF64068B5}"/>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Architecture, security, interoperability, and a credible path to 80,000 cameras.</a:t>
            </a:r>
          </a:p>
        </p:txBody>
      </p:sp>
      <p:sp>
        <p:nvSpPr>
          <p:cNvPr id="14" name="">
            <a:extLst xmlns:a="http://schemas.openxmlformats.org/drawingml/2006/main">
              <a:ext uri="{FF2B5EF4-FFF2-40B4-BE49-F238E27FC236}">
                <a16:creationId xmlns:a16="http://schemas.microsoft.com/office/drawing/2014/main" id="{694F5098-4AF8-4B02-80D6-886B3980378A}"/>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Bonus features do not compensate for missing mandatory requirements.</a:t>
            </a:r>
          </a:p>
        </p:txBody>
      </p:sp>
    </p:spTree>
    <p:extLst>
      <p:ext uri="{BB962C8B-B14F-4D97-AF65-F5344CB8AC3E}">
        <p14:creationId xmlns:p14="http://schemas.microsoft.com/office/powerpoint/2010/main" val="381348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F2B6B9-4082-4828-94A2-5574804F7D88}"/>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C875E392-9001-4608-9FC1-3E888CCEB8C3}"/>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Choose a phased hybrid</a:t>
            </a:r>
          </a:p>
        </p:txBody>
      </p:sp>
      <p:sp>
        <p:nvSpPr>
          <p:cNvPr id="3" name="">
            <a:extLst xmlns:a="http://schemas.openxmlformats.org/drawingml/2006/main">
              <a:ext uri="{FF2B5EF4-FFF2-40B4-BE49-F238E27FC236}">
                <a16:creationId xmlns:a16="http://schemas.microsoft.com/office/drawing/2014/main" id="{7055A96E-1320-48C1-AC00-95D3AF999020}"/>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Model 1 is a shared foundation, not a complete operational alternative.</a:t>
            </a:r>
          </a:p>
        </p:txBody>
      </p:sp>
      <p:sp>
        <p:nvSpPr>
          <p:cNvPr id="4" name="">
            <a:extLst xmlns:a="http://schemas.openxmlformats.org/drawingml/2006/main">
              <a:ext uri="{FF2B5EF4-FFF2-40B4-BE49-F238E27FC236}">
                <a16:creationId xmlns:a16="http://schemas.microsoft.com/office/drawing/2014/main" id="{3680368E-0A8E-44FA-94FA-4A0F466D436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4C5A590-E6EE-4763-8019-2DAAEC939B5D}"/>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D41175BA-F0C9-4B41-879F-01EB7AB00490}"/>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03</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333625"/>
                <a:gridCol w="5000625"/>
                <a:gridCol w="3943350"/>
              </a:tblGrid>
              <a:tr h="603250">
                <a:tc>
                  <a:txBody>
                    <a:bodyPr/>
                    <a:lstStyle/>
                    <a:p>
                      <a:r>
                        <a:rPr sz="1725" b="1">
                          <a:solidFill>
                            <a:srgbClr val="131820"/>
                          </a:solidFill>
                        </a:rPr>
                        <a:t>Model</a:t>
                      </a:r>
                    </a:p>
                  </a:txBody>
                  <a:tcPr marL="91440" marR="91440" marT="45720" marB="45720">
                    <a:solidFill>
                      <a:srgbClr val="EDF3FA"/>
                    </a:solidFill>
                  </a:tcPr>
                </a:tc>
                <a:tc>
                  <a:txBody>
                    <a:bodyPr/>
                    <a:lstStyle/>
                    <a:p>
                      <a:r>
                        <a:rPr sz="1725" b="1">
                          <a:solidFill>
                            <a:srgbClr val="131820"/>
                          </a:solidFill>
                        </a:rPr>
                        <a:t>Role in our solution</a:t>
                      </a:r>
                    </a:p>
                  </a:txBody>
                  <a:tcPr marL="91440" marR="91440" marT="45720" marB="45720">
                    <a:solidFill>
                      <a:srgbClr val="EDF3FA"/>
                    </a:solidFill>
                  </a:tcPr>
                </a:tc>
                <a:tc>
                  <a:txBody>
                    <a:bodyPr/>
                    <a:lstStyle/>
                    <a:p>
                      <a:r>
                        <a:rPr sz="1725" b="1">
                          <a:solidFill>
                            <a:srgbClr val="131820"/>
                          </a:solidFill>
                        </a:rPr>
                        <a:t>Main trade-off</a:t>
                      </a:r>
                    </a:p>
                  </a:txBody>
                  <a:tcPr marL="91440" marR="91440" marT="45720" marB="45720">
                    <a:solidFill>
                      <a:srgbClr val="EDF3FA"/>
                    </a:solidFill>
                  </a:tcPr>
                </a:tc>
              </a:tr>
              <a:tr h="603250">
                <a:tc>
                  <a:txBody>
                    <a:bodyPr/>
                    <a:lstStyle/>
                    <a:p>
                      <a:r>
                        <a:rPr sz="1725" b="0">
                          <a:solidFill>
                            <a:srgbClr val="131820"/>
                          </a:solidFill>
                        </a:rPr>
                        <a:t>1 • Registry + GIS</a:t>
                      </a:r>
                    </a:p>
                  </a:txBody>
                  <a:tcPr marL="91440" marR="91440" marT="45720" marB="45720">
                    <a:solidFill>
                      <a:srgbClr val="FFFFFF"/>
                    </a:solidFill>
                  </a:tcPr>
                </a:tc>
                <a:tc>
                  <a:txBody>
                    <a:bodyPr/>
                    <a:lstStyle/>
                    <a:p>
                      <a:r>
                        <a:rPr sz="1725" b="0">
                          <a:solidFill>
                            <a:srgbClr val="131820"/>
                          </a:solidFill>
                        </a:rPr>
                        <a:t>Always included; inventory and ownership</a:t>
                      </a:r>
                    </a:p>
                  </a:txBody>
                  <a:tcPr marL="91440" marR="91440" marT="45720" marB="45720">
                    <a:solidFill>
                      <a:srgbClr val="FFFFFF"/>
                    </a:solidFill>
                  </a:tcPr>
                </a:tc>
                <a:tc>
                  <a:txBody>
                    <a:bodyPr/>
                    <a:lstStyle/>
                    <a:p>
                      <a:r>
                        <a:rPr sz="1725" b="0">
                          <a:solidFill>
                            <a:srgbClr val="131820"/>
                          </a:solidFill>
                        </a:rPr>
                        <a:t>Inventory alone cannot detect vehicles</a:t>
                      </a:r>
                    </a:p>
                  </a:txBody>
                  <a:tcPr marL="91440" marR="91440" marT="45720" marB="45720">
                    <a:solidFill>
                      <a:srgbClr val="FFFFFF"/>
                    </a:solidFill>
                  </a:tcPr>
                </a:tc>
              </a:tr>
              <a:tr h="603250">
                <a:tc>
                  <a:txBody>
                    <a:bodyPr/>
                    <a:lstStyle/>
                    <a:p>
                      <a:r>
                        <a:rPr sz="1725" b="0">
                          <a:solidFill>
                            <a:srgbClr val="131820"/>
                          </a:solidFill>
                        </a:rPr>
                        <a:t>2 • Direct integration</a:t>
                      </a:r>
                    </a:p>
                  </a:txBody>
                  <a:tcPr marL="91440" marR="91440" marT="45720" marB="45720">
                    <a:solidFill>
                      <a:srgbClr val="FFFFFF"/>
                    </a:solidFill>
                  </a:tcPr>
                </a:tc>
                <a:tc>
                  <a:txBody>
                    <a:bodyPr/>
                    <a:lstStyle/>
                    <a:p>
                      <a:r>
                        <a:rPr sz="1725" b="0">
                          <a:solidFill>
                            <a:srgbClr val="131820"/>
                          </a:solidFill>
                        </a:rPr>
                        <a:t>First working feed-to-alert path</a:t>
                      </a:r>
                    </a:p>
                  </a:txBody>
                  <a:tcPr marL="91440" marR="91440" marT="45720" marB="45720">
                    <a:solidFill>
                      <a:srgbClr val="FFFFFF"/>
                    </a:solidFill>
                  </a:tcPr>
                </a:tc>
                <a:tc>
                  <a:txBody>
                    <a:bodyPr/>
                    <a:lstStyle/>
                    <a:p>
                      <a:r>
                        <a:rPr sz="1725" b="0">
                          <a:solidFill>
                            <a:srgbClr val="131820"/>
                          </a:solidFill>
                        </a:rPr>
                        <a:t>Network access and source load</a:t>
                      </a:r>
                    </a:p>
                  </a:txBody>
                  <a:tcPr marL="91440" marR="91440" marT="45720" marB="45720">
                    <a:solidFill>
                      <a:srgbClr val="FFFFFF"/>
                    </a:solidFill>
                  </a:tcPr>
                </a:tc>
              </a:tr>
              <a:tr h="603250">
                <a:tc>
                  <a:txBody>
                    <a:bodyPr/>
                    <a:lstStyle/>
                    <a:p>
                      <a:r>
                        <a:rPr sz="1725" b="0">
                          <a:solidFill>
                            <a:srgbClr val="131820"/>
                          </a:solidFill>
                        </a:rPr>
                        <a:t>3 • VMS federation</a:t>
                      </a:r>
                    </a:p>
                  </a:txBody>
                  <a:tcPr marL="91440" marR="91440" marT="45720" marB="45720">
                    <a:solidFill>
                      <a:srgbClr val="FFFFFF"/>
                    </a:solidFill>
                  </a:tcPr>
                </a:tc>
                <a:tc>
                  <a:txBody>
                    <a:bodyPr/>
                    <a:lstStyle/>
                    <a:p>
                      <a:r>
                        <a:rPr sz="1725" b="0">
                          <a:solidFill>
                            <a:srgbClr val="131820"/>
                          </a:solidFill>
                        </a:rPr>
                        <a:t>Add supported adapters incrementally</a:t>
                      </a:r>
                    </a:p>
                  </a:txBody>
                  <a:tcPr marL="91440" marR="91440" marT="45720" marB="45720">
                    <a:solidFill>
                      <a:srgbClr val="FFFFFF"/>
                    </a:solidFill>
                  </a:tcPr>
                </a:tc>
                <a:tc>
                  <a:txBody>
                    <a:bodyPr/>
                    <a:lstStyle/>
                    <a:p>
                      <a:r>
                        <a:rPr sz="1725" b="0">
                          <a:solidFill>
                            <a:srgbClr val="131820"/>
                          </a:solidFill>
                        </a:rPr>
                        <a:t>Vendor API, SDK and licence dependence</a:t>
                      </a:r>
                    </a:p>
                  </a:txBody>
                  <a:tcPr marL="91440" marR="91440" marT="45720" marB="45720">
                    <a:solidFill>
                      <a:srgbClr val="FFFFFF"/>
                    </a:solidFill>
                  </a:tcPr>
                </a:tc>
              </a:tr>
              <a:tr h="603250">
                <a:tc>
                  <a:txBody>
                    <a:bodyPr/>
                    <a:lstStyle/>
                    <a:p>
                      <a:r>
                        <a:rPr sz="1725" b="0">
                          <a:solidFill>
                            <a:srgbClr val="131820"/>
                          </a:solidFill>
                        </a:rPr>
                        <a:t>4 • Central VMS</a:t>
                      </a:r>
                    </a:p>
                  </a:txBody>
                  <a:tcPr marL="91440" marR="91440" marT="45720" marB="45720">
                    <a:solidFill>
                      <a:srgbClr val="FFFFFF"/>
                    </a:solidFill>
                  </a:tcPr>
                </a:tc>
                <a:tc>
                  <a:txBody>
                    <a:bodyPr/>
                    <a:lstStyle/>
                    <a:p>
                      <a:r>
                        <a:rPr sz="1725" b="0">
                          <a:solidFill>
                            <a:srgbClr val="131820"/>
                          </a:solidFill>
                        </a:rPr>
                        <a:t>Selective incident evidence only</a:t>
                      </a:r>
                    </a:p>
                  </a:txBody>
                  <a:tcPr marL="91440" marR="91440" marT="45720" marB="45720">
                    <a:solidFill>
                      <a:srgbClr val="FFFFFF"/>
                    </a:solidFill>
                  </a:tcPr>
                </a:tc>
                <a:tc>
                  <a:txBody>
                    <a:bodyPr/>
                    <a:lstStyle/>
                    <a:p>
                      <a:r>
                        <a:rPr sz="1725" b="0">
                          <a:solidFill>
                            <a:srgbClr val="131820"/>
                          </a:solidFill>
                        </a:rPr>
                        <a:t>Full central recording is costly</a:t>
                      </a:r>
                    </a:p>
                  </a:txBody>
                  <a:tcPr marL="91440" marR="91440" marT="45720" marB="45720">
                    <a:solidFill>
                      <a:srgbClr val="FFFFFF"/>
                    </a:solidFill>
                  </a:tcPr>
                </a:tc>
              </a:tr>
              <a:tr h="603250">
                <a:tc>
                  <a:txBody>
                    <a:bodyPr/>
                    <a:lstStyle/>
                    <a:p>
                      <a:r>
                        <a:rPr sz="1725" b="0">
                          <a:solidFill>
                            <a:srgbClr val="131820"/>
                          </a:solidFill>
                        </a:rPr>
                        <a:t>5 • Hybrid</a:t>
                      </a:r>
                    </a:p>
                  </a:txBody>
                  <a:tcPr marL="91440" marR="91440" marT="45720" marB="45720">
                    <a:solidFill>
                      <a:srgbClr val="FFFFFF"/>
                    </a:solidFill>
                  </a:tcPr>
                </a:tc>
                <a:tc>
                  <a:txBody>
                    <a:bodyPr/>
                    <a:lstStyle/>
                    <a:p>
                      <a:r>
                        <a:rPr sz="1725" b="0">
                          <a:solidFill>
                            <a:srgbClr val="131820"/>
                          </a:solidFill>
                        </a:rPr>
                        <a:t>Combine the above by site capability</a:t>
                      </a:r>
                    </a:p>
                  </a:txBody>
                  <a:tcPr marL="91440" marR="91440" marT="45720" marB="45720">
                    <a:solidFill>
                      <a:srgbClr val="FFFFFF"/>
                    </a:solidFill>
                  </a:tcPr>
                </a:tc>
                <a:tc>
                  <a:txBody>
                    <a:bodyPr/>
                    <a:lstStyle/>
                    <a:p>
                      <a:r>
                        <a:rPr sz="1725" b="0">
                          <a:solidFill>
                            <a:srgbClr val="131820"/>
                          </a:solidFill>
                        </a:rPr>
                        <a:t>Needs consistent contracts and ownership</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0041949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29509C4-AE68-4054-ABE4-D377692AE5C3}"/>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8113E133-2B2C-4BEF-83A3-5C1900D5F1D2}"/>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Make the claims technically precise</a:t>
            </a:r>
          </a:p>
        </p:txBody>
      </p:sp>
      <p:sp>
        <p:nvSpPr>
          <p:cNvPr id="3" name="">
            <a:extLst xmlns:a="http://schemas.openxmlformats.org/drawingml/2006/main">
              <a:ext uri="{FF2B5EF4-FFF2-40B4-BE49-F238E27FC236}">
                <a16:creationId xmlns:a16="http://schemas.microsoft.com/office/drawing/2014/main" id="{2796EC44-4172-46A9-B336-AA019C68BF8E}"/>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These changes strengthen the proposal and prevent avoidable questions.</a:t>
            </a:r>
          </a:p>
        </p:txBody>
      </p:sp>
      <p:sp>
        <p:nvSpPr>
          <p:cNvPr id="4" name="">
            <a:extLst xmlns:a="http://schemas.openxmlformats.org/drawingml/2006/main">
              <a:ext uri="{FF2B5EF4-FFF2-40B4-BE49-F238E27FC236}">
                <a16:creationId xmlns:a16="http://schemas.microsoft.com/office/drawing/2014/main" id="{963703DD-1F34-4E48-A916-40C1AFA838E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A0F233-E3B8-464C-9233-8E68F84214E9}"/>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15F4B2B8-1F97-4D1E-8B38-587C07D230FD}"/>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04</a:t>
            </a:r>
          </a:p>
        </p:txBody>
      </p:sp>
      <p:sp>
        <p:nvSpPr>
          <p:cNvPr id="7" name="">
            <a:extLst xmlns:a="http://schemas.openxmlformats.org/drawingml/2006/main">
              <a:ext uri="{FF2B5EF4-FFF2-40B4-BE49-F238E27FC236}">
                <a16:creationId xmlns:a16="http://schemas.microsoft.com/office/drawing/2014/main" id="{8AC269C1-B860-436C-B6F7-B45A6D2E9F6D}"/>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Correct the model descriptions</a:t>
            </a:r>
          </a:p>
        </p:txBody>
      </p:sp>
      <p:sp>
        <p:nvSpPr>
          <p:cNvPr id="8" name="">
            <a:extLst xmlns:a="http://schemas.openxmlformats.org/drawingml/2006/main">
              <a:ext uri="{FF2B5EF4-FFF2-40B4-BE49-F238E27FC236}">
                <a16:creationId xmlns:a16="http://schemas.microsoft.com/office/drawing/2014/main" id="{72DE697D-4DF4-4947-B90E-4C5FA1089B97}"/>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Existing recording remains in place; permissions, bandwidth and device load still need validation.</a:t>
            </a:r>
          </a:p>
        </p:txBody>
      </p:sp>
      <p:sp>
        <p:nvSpPr>
          <p:cNvPr id="9" name="">
            <a:extLst xmlns:a="http://schemas.openxmlformats.org/drawingml/2006/main">
              <a:ext uri="{FF2B5EF4-FFF2-40B4-BE49-F238E27FC236}">
                <a16:creationId xmlns:a16="http://schemas.microsoft.com/office/drawing/2014/main" id="{33CF9F09-6B3E-4B16-8611-C61F1F32A332}"/>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Historical playback may work through a local VMS API or recording interface.</a:t>
            </a:r>
          </a:p>
        </p:txBody>
      </p:sp>
      <p:sp>
        <p:nvSpPr>
          <p:cNvPr id="10" name="">
            <a:extLst xmlns:a="http://schemas.openxmlformats.org/drawingml/2006/main">
              <a:ext uri="{FF2B5EF4-FFF2-40B4-BE49-F238E27FC236}">
                <a16:creationId xmlns:a16="http://schemas.microsoft.com/office/drawing/2014/main" id="{1C228859-4562-4DC6-A9EA-AEF3820ED467}"/>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Metadata correlation and vehicle history do not require a central VMS.</a:t>
            </a:r>
          </a:p>
        </p:txBody>
      </p:sp>
      <p:sp>
        <p:nvSpPr>
          <p:cNvPr id="11" name="">
            <a:extLst xmlns:a="http://schemas.openxmlformats.org/drawingml/2006/main">
              <a:ext uri="{FF2B5EF4-FFF2-40B4-BE49-F238E27FC236}">
                <a16:creationId xmlns:a16="http://schemas.microsoft.com/office/drawing/2014/main" id="{322A0AB3-0431-4838-AC57-DC9B69822E34}"/>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Correct the analytics claims</a:t>
            </a:r>
          </a:p>
        </p:txBody>
      </p:sp>
      <p:sp>
        <p:nvSpPr>
          <p:cNvPr id="12" name="">
            <a:extLst xmlns:a="http://schemas.openxmlformats.org/drawingml/2006/main">
              <a:ext uri="{FF2B5EF4-FFF2-40B4-BE49-F238E27FC236}">
                <a16:creationId xmlns:a16="http://schemas.microsoft.com/office/drawing/2014/main" id="{7C8DBC7A-37CE-493A-A10D-221BFAFD589D}"/>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Edge processing relocates compute; it does not eliminate compute or operating cost.</a:t>
            </a:r>
          </a:p>
        </p:txBody>
      </p:sp>
      <p:sp>
        <p:nvSpPr>
          <p:cNvPr id="13" name="">
            <a:extLst xmlns:a="http://schemas.openxmlformats.org/drawingml/2006/main">
              <a:ext uri="{FF2B5EF4-FFF2-40B4-BE49-F238E27FC236}">
                <a16:creationId xmlns:a16="http://schemas.microsoft.com/office/drawing/2014/main" id="{A35F03F8-88CD-451A-8747-4AB35D68DA9F}"/>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Sightings establish observed locations. Any path between cameras is an inference.</a:t>
            </a:r>
          </a:p>
        </p:txBody>
      </p:sp>
      <p:sp>
        <p:nvSpPr>
          <p:cNvPr id="14" name="">
            <a:extLst xmlns:a="http://schemas.openxmlformats.org/drawingml/2006/main">
              <a:ext uri="{FF2B5EF4-FFF2-40B4-BE49-F238E27FC236}">
                <a16:creationId xmlns:a16="http://schemas.microsoft.com/office/drawing/2014/main" id="{7683EB8B-5DCD-4C36-90B1-15D5AB157F31}"/>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AFIS / NAFIS use fingerprints; they are not direct video-to-identity databases.</a:t>
            </a:r>
          </a:p>
        </p:txBody>
      </p:sp>
    </p:spTree>
    <p:extLst>
      <p:ext uri="{BB962C8B-B14F-4D97-AF65-F5344CB8AC3E}">
        <p14:creationId xmlns:p14="http://schemas.microsoft.com/office/powerpoint/2010/main" val="86282648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4C0503E-EAD5-451A-AD58-BAE08BF65859}"/>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7EB86D3B-0DE5-4EC8-BF82-DD4A700D8904}"/>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Scope the work in three layers</a:t>
            </a:r>
          </a:p>
        </p:txBody>
      </p:sp>
      <p:sp>
        <p:nvSpPr>
          <p:cNvPr id="3" name="">
            <a:extLst xmlns:a="http://schemas.openxmlformats.org/drawingml/2006/main">
              <a:ext uri="{FF2B5EF4-FFF2-40B4-BE49-F238E27FC236}">
                <a16:creationId xmlns:a16="http://schemas.microsoft.com/office/drawing/2014/main" id="{70070D89-9E0F-4DBF-9289-B0479FFA23F4}"/>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Complete the core chain before taking on additional analytics.</a:t>
            </a:r>
          </a:p>
        </p:txBody>
      </p:sp>
      <p:sp>
        <p:nvSpPr>
          <p:cNvPr id="4" name="">
            <a:extLst xmlns:a="http://schemas.openxmlformats.org/drawingml/2006/main">
              <a:ext uri="{FF2B5EF4-FFF2-40B4-BE49-F238E27FC236}">
                <a16:creationId xmlns:a16="http://schemas.microsoft.com/office/drawing/2014/main" id="{E45010BB-D1CE-4AD5-AA69-E352C13C9078}"/>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0F78E61-53F1-45BF-B35B-F2B3799F217B}"/>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EFE32FE1-26D3-4C38-89E7-46685B942131}"/>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05</a:t>
            </a:r>
          </a:p>
        </p:txBody>
      </p:sp>
      <p:sp>
        <p:nvSpPr>
          <p:cNvPr id="7" name="">
            <a:extLst xmlns:a="http://schemas.openxmlformats.org/drawingml/2006/main">
              <a:ext uri="{FF2B5EF4-FFF2-40B4-BE49-F238E27FC236}">
                <a16:creationId xmlns:a16="http://schemas.microsoft.com/office/drawing/2014/main" id="{D001AF70-8C90-406D-B0B6-70F007D15D09}"/>
              </a:ext>
            </a:extLst>
          </p:cNvPr>
          <p:cNvSpPr>
            <a:spLocks xmlns:a="http://schemas.openxmlformats.org/drawingml/2006/main" noGrp="1"/>
          </p:cNvSpPr>
          <p:nvPr/>
        </p:nvSpPr>
        <p:spPr>
          <a:xfrm xmlns:a="http://schemas.openxmlformats.org/drawingml/2006/main">
            <a:off x="45720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BUILD FIRST</a:t>
            </a:r>
          </a:p>
        </p:txBody>
      </p:sp>
      <p:sp>
        <p:nvSpPr>
          <p:cNvPr id="8" name="">
            <a:extLst xmlns:a="http://schemas.openxmlformats.org/drawingml/2006/main">
              <a:ext uri="{FF2B5EF4-FFF2-40B4-BE49-F238E27FC236}">
                <a16:creationId xmlns:a16="http://schemas.microsoft.com/office/drawing/2014/main" id="{E298916A-B66D-4E91-96F5-7592DF91AD29}"/>
              </a:ext>
            </a:extLst>
          </p:cNvPr>
          <p:cNvSpPr>
            <a:spLocks xmlns:a="http://schemas.openxmlformats.org/drawingml/2006/main" noGrp="1"/>
          </p:cNvSpPr>
          <p:nvPr/>
        </p:nvSpPr>
        <p:spPr>
          <a:xfrm xmlns:a="http://schemas.openxmlformats.org/drawingml/2006/main">
            <a:off x="45720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5378A3E-3C25-47AC-92EA-BB6AC622180D}"/>
              </a:ext>
            </a:extLst>
          </p:cNvPr>
          <p:cNvSpPr>
            <a:spLocks xmlns:a="http://schemas.openxmlformats.org/drawingml/2006/main" noGrp="1"/>
          </p:cNvSpPr>
          <p:nvPr/>
        </p:nvSpPr>
        <p:spPr>
          <a:xfrm xmlns:a="http://schemas.openxmlformats.org/drawingml/2006/main">
            <a:off x="45720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Registry + GIS</a:t>
            </a:r>
          </a:p>
          <a:p xmlns:a="http://schemas.openxmlformats.org/drawingml/2006/main">
            <a:pPr>
              <a:defRPr sz="2025" b="0">
                <a:solidFill>
                  <a:srgbClr val="131820"/>
                </a:solidFill>
              </a:defRPr>
            </a:pPr>
            <a:r>
              <a:rPr sz="2025" b="0">
                <a:solidFill>
                  <a:srgbClr val="131820"/>
                </a:solidFill>
              </a:rPr>
              <a:t>Feed onboarding and viewer</a:t>
            </a:r>
          </a:p>
          <a:p xmlns:a="http://schemas.openxmlformats.org/drawingml/2006/main">
            <a:pPr>
              <a:defRPr sz="2025" b="0">
                <a:solidFill>
                  <a:srgbClr val="131820"/>
                </a:solidFill>
              </a:defRPr>
            </a:pPr>
            <a:r>
              <a:rPr sz="2025" b="0">
                <a:solidFill>
                  <a:srgbClr val="131820"/>
                </a:solidFill>
              </a:rPr>
              <a:t>ANPR + watchlist matching</a:t>
            </a:r>
          </a:p>
          <a:p xmlns:a="http://schemas.openxmlformats.org/drawingml/2006/main">
            <a:pPr>
              <a:defRPr sz="2025" b="0">
                <a:solidFill>
                  <a:srgbClr val="131820"/>
                </a:solidFill>
              </a:defRPr>
            </a:pPr>
            <a:r>
              <a:rPr sz="2025" b="0">
                <a:solidFill>
                  <a:srgbClr val="131820"/>
                </a:solidFill>
              </a:rPr>
              <a:t>Alerts, history and evidence</a:t>
            </a:r>
          </a:p>
        </p:txBody>
      </p:sp>
      <p:sp>
        <p:nvSpPr>
          <p:cNvPr id="10" name="">
            <a:extLst xmlns:a="http://schemas.openxmlformats.org/drawingml/2006/main">
              <a:ext uri="{FF2B5EF4-FFF2-40B4-BE49-F238E27FC236}">
                <a16:creationId xmlns:a16="http://schemas.microsoft.com/office/drawing/2014/main" id="{EA52925A-6D42-4537-8B1D-F2FC905DDFCE}"/>
              </a:ext>
            </a:extLst>
          </p:cNvPr>
          <p:cNvSpPr>
            <a:spLocks xmlns:a="http://schemas.openxmlformats.org/drawingml/2006/main" noGrp="1"/>
          </p:cNvSpPr>
          <p:nvPr/>
        </p:nvSpPr>
        <p:spPr>
          <a:xfrm xmlns:a="http://schemas.openxmlformats.org/drawingml/2006/main">
            <a:off x="4333875"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ADD AFTER PASS</a:t>
            </a:r>
          </a:p>
        </p:txBody>
      </p:sp>
      <p:sp>
        <p:nvSpPr>
          <p:cNvPr id="11" name="">
            <a:extLst xmlns:a="http://schemas.openxmlformats.org/drawingml/2006/main">
              <a:ext uri="{FF2B5EF4-FFF2-40B4-BE49-F238E27FC236}">
                <a16:creationId xmlns:a16="http://schemas.microsoft.com/office/drawing/2014/main" id="{851807DB-9713-48AA-9B53-E50D5D953BD4}"/>
              </a:ext>
            </a:extLst>
          </p:cNvPr>
          <p:cNvSpPr>
            <a:spLocks xmlns:a="http://schemas.openxmlformats.org/drawingml/2006/main" noGrp="1"/>
          </p:cNvSpPr>
          <p:nvPr/>
        </p:nvSpPr>
        <p:spPr>
          <a:xfrm xmlns:a="http://schemas.openxmlformats.org/drawingml/2006/main">
            <a:off x="4333875"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EB97D62-F0DD-42B0-8540-AA5B9A7D1AE9}"/>
              </a:ext>
            </a:extLst>
          </p:cNvPr>
          <p:cNvSpPr>
            <a:spLocks xmlns:a="http://schemas.openxmlformats.org/drawingml/2006/main" noGrp="1"/>
          </p:cNvSpPr>
          <p:nvPr/>
        </p:nvSpPr>
        <p:spPr>
          <a:xfrm xmlns:a="http://schemas.openxmlformats.org/drawingml/2006/main">
            <a:off x="4333875"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Outage recovery</a:t>
            </a:r>
          </a:p>
          <a:p xmlns:a="http://schemas.openxmlformats.org/drawingml/2006/main">
            <a:pPr>
              <a:defRPr sz="2025" b="0">
                <a:solidFill>
                  <a:srgbClr val="131820"/>
                </a:solidFill>
              </a:defRPr>
            </a:pPr>
            <a:r>
              <a:rPr sz="2025" b="0">
                <a:solidFill>
                  <a:srgbClr val="131820"/>
                </a:solidFill>
              </a:rPr>
              <a:t>Camera health and quality</a:t>
            </a:r>
          </a:p>
          <a:p xmlns:a="http://schemas.openxmlformats.org/drawingml/2006/main">
            <a:pPr>
              <a:defRPr sz="2025" b="0">
                <a:solidFill>
                  <a:srgbClr val="131820"/>
                </a:solidFill>
              </a:defRPr>
            </a:pPr>
            <a:r>
              <a:rPr sz="2025" b="0">
                <a:solidFill>
                  <a:srgbClr val="131820"/>
                </a:solidFill>
              </a:rPr>
              <a:t>One real VMS adapter</a:t>
            </a:r>
          </a:p>
          <a:p xmlns:a="http://schemas.openxmlformats.org/drawingml/2006/main">
            <a:pPr>
              <a:defRPr sz="2025" b="0">
                <a:solidFill>
                  <a:srgbClr val="131820"/>
                </a:solidFill>
              </a:defRPr>
            </a:pPr>
            <a:r>
              <a:rPr sz="2025" b="0">
                <a:solidFill>
                  <a:srgbClr val="131820"/>
                </a:solidFill>
              </a:rPr>
              <a:t>Measured bandwidth reduction</a:t>
            </a:r>
          </a:p>
        </p:txBody>
      </p:sp>
      <p:sp>
        <p:nvSpPr>
          <p:cNvPr id="13" name="">
            <a:extLst xmlns:a="http://schemas.openxmlformats.org/drawingml/2006/main">
              <a:ext uri="{FF2B5EF4-FFF2-40B4-BE49-F238E27FC236}">
                <a16:creationId xmlns:a16="http://schemas.microsoft.com/office/drawing/2014/main" id="{868AAA99-3522-4679-B0E4-9E2692300CFC}"/>
              </a:ext>
            </a:extLst>
          </p:cNvPr>
          <p:cNvSpPr>
            <a:spLocks xmlns:a="http://schemas.openxmlformats.org/drawingml/2006/main" noGrp="1"/>
          </p:cNvSpPr>
          <p:nvPr/>
        </p:nvSpPr>
        <p:spPr>
          <a:xfrm xmlns:a="http://schemas.openxmlformats.org/drawingml/2006/main">
            <a:off x="821055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DEFER</a:t>
            </a:r>
          </a:p>
        </p:txBody>
      </p:sp>
      <p:sp>
        <p:nvSpPr>
          <p:cNvPr id="14" name="">
            <a:extLst xmlns:a="http://schemas.openxmlformats.org/drawingml/2006/main">
              <a:ext uri="{FF2B5EF4-FFF2-40B4-BE49-F238E27FC236}">
                <a16:creationId xmlns:a16="http://schemas.microsoft.com/office/drawing/2014/main" id="{9E71F54F-25FD-48F5-8108-858EBB8698F7}"/>
              </a:ext>
            </a:extLst>
          </p:cNvPr>
          <p:cNvSpPr>
            <a:spLocks xmlns:a="http://schemas.openxmlformats.org/drawingml/2006/main" noGrp="1"/>
          </p:cNvSpPr>
          <p:nvPr/>
        </p:nvSpPr>
        <p:spPr>
          <a:xfrm xmlns:a="http://schemas.openxmlformats.org/drawingml/2006/main">
            <a:off x="821055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76ADA64-17CE-4E45-9A8A-FE79474A4174}"/>
              </a:ext>
            </a:extLst>
          </p:cNvPr>
          <p:cNvSpPr>
            <a:spLocks xmlns:a="http://schemas.openxmlformats.org/drawingml/2006/main" noGrp="1"/>
          </p:cNvSpPr>
          <p:nvPr/>
        </p:nvSpPr>
        <p:spPr>
          <a:xfrm xmlns:a="http://schemas.openxmlformats.org/drawingml/2006/main">
            <a:off x="821055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Facial recognition</a:t>
            </a:r>
          </a:p>
          <a:p xmlns:a="http://schemas.openxmlformats.org/drawingml/2006/main">
            <a:pPr>
              <a:defRPr sz="2025" b="0">
                <a:solidFill>
                  <a:srgbClr val="131820"/>
                </a:solidFill>
              </a:defRPr>
            </a:pPr>
            <a:r>
              <a:rPr sz="2025" b="0">
                <a:solidFill>
                  <a:srgbClr val="131820"/>
                </a:solidFill>
              </a:rPr>
              <a:t>Unrestricted person search</a:t>
            </a:r>
          </a:p>
          <a:p xmlns:a="http://schemas.openxmlformats.org/drawingml/2006/main">
            <a:pPr>
              <a:defRPr sz="2025" b="0">
                <a:solidFill>
                  <a:srgbClr val="131820"/>
                </a:solidFill>
              </a:defRPr>
            </a:pPr>
            <a:r>
              <a:rPr sz="2025" b="0">
                <a:solidFill>
                  <a:srgbClr val="131820"/>
                </a:solidFill>
              </a:rPr>
              <a:t>Live national-database access</a:t>
            </a:r>
          </a:p>
          <a:p xmlns:a="http://schemas.openxmlformats.org/drawingml/2006/main">
            <a:pPr>
              <a:defRPr sz="2025" b="0">
                <a:solidFill>
                  <a:srgbClr val="131820"/>
                </a:solidFill>
              </a:defRPr>
            </a:pPr>
            <a:r>
              <a:rPr sz="2025" b="0">
                <a:solidFill>
                  <a:srgbClr val="131820"/>
                </a:solidFill>
              </a:rPr>
              <a:t>Full statewide video retention</a:t>
            </a:r>
          </a:p>
        </p:txBody>
      </p:sp>
    </p:spTree>
    <p:extLst>
      <p:ext uri="{BB962C8B-B14F-4D97-AF65-F5344CB8AC3E}">
        <p14:creationId xmlns:p14="http://schemas.microsoft.com/office/powerpoint/2010/main" val="5384697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5F5493A-742B-46A7-9ADD-A1CC8CE7B733}"/>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E0DE80E3-6D6D-4F0B-BCA8-E7B61CE00A6F}"/>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Keep video close to its source</a:t>
            </a:r>
          </a:p>
        </p:txBody>
      </p:sp>
      <p:sp>
        <p:nvSpPr>
          <p:cNvPr id="3" name="">
            <a:extLst xmlns:a="http://schemas.openxmlformats.org/drawingml/2006/main">
              <a:ext uri="{FF2B5EF4-FFF2-40B4-BE49-F238E27FC236}">
                <a16:creationId xmlns:a16="http://schemas.microsoft.com/office/drawing/2014/main" id="{A805F0AC-0E57-4FC0-BE8F-CDF16451EE7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Deployment target: departmental recording + regional analytics + central coordination.</a:t>
            </a:r>
          </a:p>
        </p:txBody>
      </p:sp>
      <p:sp>
        <p:nvSpPr>
          <p:cNvPr id="4" name="">
            <a:extLst xmlns:a="http://schemas.openxmlformats.org/drawingml/2006/main">
              <a:ext uri="{FF2B5EF4-FFF2-40B4-BE49-F238E27FC236}">
                <a16:creationId xmlns:a16="http://schemas.microsoft.com/office/drawing/2014/main" id="{FBE835A6-44FD-498D-94C1-78AE744CB8B4}"/>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CD908BC-92BD-42D1-AC81-FB8A2202D1FF}"/>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E542F31F-BDC9-42E5-876E-33376875DC2A}"/>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06</a:t>
            </a:r>
          </a:p>
        </p:txBody>
      </p:sp>
      <p:sp>
        <p:nvSpPr>
          <p:cNvPr id="7" name="">
            <a:extLst xmlns:a="http://schemas.openxmlformats.org/drawingml/2006/main">
              <a:ext uri="{FF2B5EF4-FFF2-40B4-BE49-F238E27FC236}">
                <a16:creationId xmlns:a16="http://schemas.microsoft.com/office/drawing/2014/main" id="{0318A58E-91F5-4172-8D62-5ED7086F2886}"/>
              </a:ext>
            </a:extLst>
          </p:cNvPr>
          <p:cNvSpPr>
            <a:spLocks xmlns:a="http://schemas.openxmlformats.org/drawingml/2006/main" noGrp="1"/>
          </p:cNvSpPr>
          <p:nvPr/>
        </p:nvSpPr>
        <p:spPr>
          <a:xfrm xmlns:a="http://schemas.openxmlformats.org/drawingml/2006/main">
            <a:off x="2286000" y="2952750"/>
            <a:ext cx="19050" cy="485775"/>
          </a:xfrm>
          <a:prstGeom xmlns:a="http://schemas.openxmlformats.org/drawingml/2006/main" prst="rect">
            <a:avLst/>
          </a:prstGeom>
          <a:solidFill xmlns:a="http://schemas.openxmlformats.org/drawingml/2006/main">
            <a:srgbClr val="1764C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BE4C96-5960-407B-AED9-F6F281829DCA}"/>
              </a:ext>
            </a:extLst>
          </p:cNvPr>
          <p:cNvSpPr>
            <a:spLocks xmlns:a="http://schemas.openxmlformats.org/drawingml/2006/main" noGrp="1"/>
          </p:cNvSpPr>
          <p:nvPr/>
        </p:nvSpPr>
        <p:spPr>
          <a:xfrm xmlns:a="http://schemas.openxmlformats.org/drawingml/2006/main">
            <a:off x="6096000" y="2952750"/>
            <a:ext cx="19050" cy="485775"/>
          </a:xfrm>
          <a:prstGeom xmlns:a="http://schemas.openxmlformats.org/drawingml/2006/main" prst="rect">
            <a:avLst/>
          </a:prstGeom>
          <a:solidFill xmlns:a="http://schemas.openxmlformats.org/drawingml/2006/main">
            <a:srgbClr val="1764C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737C496-50B3-457A-BAB8-361D6A0F43BD}"/>
              </a:ext>
            </a:extLst>
          </p:cNvPr>
          <p:cNvSpPr>
            <a:spLocks xmlns:a="http://schemas.openxmlformats.org/drawingml/2006/main" noGrp="1"/>
          </p:cNvSpPr>
          <p:nvPr/>
        </p:nvSpPr>
        <p:spPr>
          <a:xfrm xmlns:a="http://schemas.openxmlformats.org/drawingml/2006/main">
            <a:off x="9906000" y="2952750"/>
            <a:ext cx="19050" cy="485775"/>
          </a:xfrm>
          <a:prstGeom xmlns:a="http://schemas.openxmlformats.org/drawingml/2006/main" prst="rect">
            <a:avLst/>
          </a:prstGeom>
          <a:solidFill xmlns:a="http://schemas.openxmlformats.org/drawingml/2006/main">
            <a:srgbClr val="1764C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32BC9D-7C38-4609-A27C-2C9789E25239}"/>
              </a:ext>
            </a:extLst>
          </p:cNvPr>
          <p:cNvSpPr>
            <a:spLocks xmlns:a="http://schemas.openxmlformats.org/drawingml/2006/main" noGrp="1"/>
          </p:cNvSpPr>
          <p:nvPr/>
        </p:nvSpPr>
        <p:spPr>
          <a:xfrm xmlns:a="http://schemas.openxmlformats.org/drawingml/2006/main">
            <a:off x="6096000" y="4257675"/>
            <a:ext cx="19050" cy="419100"/>
          </a:xfrm>
          <a:prstGeom xmlns:a="http://schemas.openxmlformats.org/drawingml/2006/main" prst="rect">
            <a:avLst/>
          </a:prstGeom>
          <a:solidFill xmlns:a="http://schemas.openxmlformats.org/drawingml/2006/main">
            <a:srgbClr val="1764C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D4C721C-786F-41CE-82C1-B322E6973E7E}"/>
              </a:ext>
            </a:extLst>
          </p:cNvPr>
          <p:cNvSpPr>
            <a:spLocks xmlns:a="http://schemas.openxmlformats.org/drawingml/2006/main" noGrp="1"/>
          </p:cNvSpPr>
          <p:nvPr/>
        </p:nvSpPr>
        <p:spPr>
          <a:xfrm xmlns:a="http://schemas.openxmlformats.org/drawingml/2006/main">
            <a:off x="457200" y="2295525"/>
            <a:ext cx="3657600" cy="657225"/>
          </a:xfrm>
          <a:prstGeom xmlns:a="http://schemas.openxmlformats.org/drawingml/2006/main" prst="rect">
            <a:avLst/>
          </a:prstGeom>
          <a:solidFill xmlns:a="http://schemas.openxmlformats.org/drawingml/2006/main">
            <a:srgbClr val="EDF3FA"/>
          </a:solidFill>
          <a:ln xmlns:a="http://schemas.openxmlformats.org/drawingml/2006/main" w="9525">
            <a:solidFill>
              <a:srgbClr val="CCD2D8"/>
            </a:solidFill>
          </a:ln>
        </p:spPr>
      </p:sp>
      <p:sp>
        <p:nvSpPr>
          <p:cNvPr id="12" name="">
            <a:extLst xmlns:a="http://schemas.openxmlformats.org/drawingml/2006/main">
              <a:ext uri="{FF2B5EF4-FFF2-40B4-BE49-F238E27FC236}">
                <a16:creationId xmlns:a16="http://schemas.microsoft.com/office/drawing/2014/main" id="{2E9C5CEC-89D5-4CAC-9A7B-CD8B1E0D5C08}"/>
              </a:ext>
            </a:extLst>
          </p:cNvPr>
          <p:cNvSpPr>
            <a:spLocks xmlns:a="http://schemas.openxmlformats.org/drawingml/2006/main" noGrp="1"/>
          </p:cNvSpPr>
          <p:nvPr/>
        </p:nvSpPr>
        <p:spPr>
          <a:xfrm xmlns:a="http://schemas.openxmlformats.org/drawingml/2006/main">
            <a:off x="600075" y="2438400"/>
            <a:ext cx="3371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31820"/>
                </a:solidFill>
              </a:defRPr>
            </a:pPr>
            <a:r>
              <a:rPr sz="1950" b="1">
                <a:solidFill>
                  <a:srgbClr val="131820"/>
                </a:solidFill>
              </a:rPr>
              <a:t>IP cameras / NVRs</a:t>
            </a:r>
          </a:p>
        </p:txBody>
      </p:sp>
      <p:sp>
        <p:nvSpPr>
          <p:cNvPr id="13" name="">
            <a:extLst xmlns:a="http://schemas.openxmlformats.org/drawingml/2006/main">
              <a:ext uri="{FF2B5EF4-FFF2-40B4-BE49-F238E27FC236}">
                <a16:creationId xmlns:a16="http://schemas.microsoft.com/office/drawing/2014/main" id="{CA10C553-911F-4A8F-B734-A38E77B754EF}"/>
              </a:ext>
            </a:extLst>
          </p:cNvPr>
          <p:cNvSpPr>
            <a:spLocks xmlns:a="http://schemas.openxmlformats.org/drawingml/2006/main" noGrp="1"/>
          </p:cNvSpPr>
          <p:nvPr/>
        </p:nvSpPr>
        <p:spPr>
          <a:xfrm xmlns:a="http://schemas.openxmlformats.org/drawingml/2006/main">
            <a:off x="4267200" y="2295525"/>
            <a:ext cx="3657600" cy="657225"/>
          </a:xfrm>
          <a:prstGeom xmlns:a="http://schemas.openxmlformats.org/drawingml/2006/main" prst="rect">
            <a:avLst/>
          </a:prstGeom>
          <a:solidFill xmlns:a="http://schemas.openxmlformats.org/drawingml/2006/main">
            <a:srgbClr val="EDF3FA"/>
          </a:solidFill>
          <a:ln xmlns:a="http://schemas.openxmlformats.org/drawingml/2006/main" w="9525">
            <a:solidFill>
              <a:srgbClr val="CCD2D8"/>
            </a:solidFill>
          </a:ln>
        </p:spPr>
      </p:sp>
      <p:sp>
        <p:nvSpPr>
          <p:cNvPr id="14" name="">
            <a:extLst xmlns:a="http://schemas.openxmlformats.org/drawingml/2006/main">
              <a:ext uri="{FF2B5EF4-FFF2-40B4-BE49-F238E27FC236}">
                <a16:creationId xmlns:a16="http://schemas.microsoft.com/office/drawing/2014/main" id="{1753F03A-E0B9-439F-8BBB-CF05A7623C2B}"/>
              </a:ext>
            </a:extLst>
          </p:cNvPr>
          <p:cNvSpPr>
            <a:spLocks xmlns:a="http://schemas.openxmlformats.org/drawingml/2006/main" noGrp="1"/>
          </p:cNvSpPr>
          <p:nvPr/>
        </p:nvSpPr>
        <p:spPr>
          <a:xfrm xmlns:a="http://schemas.openxmlformats.org/drawingml/2006/main">
            <a:off x="4410075" y="2438400"/>
            <a:ext cx="3371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31820"/>
                </a:solidFill>
              </a:defRPr>
            </a:pPr>
            <a:r>
              <a:rPr sz="1950" b="1">
                <a:solidFill>
                  <a:srgbClr val="131820"/>
                </a:solidFill>
              </a:rPr>
              <a:t>Departmental VMS</a:t>
            </a:r>
          </a:p>
        </p:txBody>
      </p:sp>
      <p:sp>
        <p:nvSpPr>
          <p:cNvPr id="15" name="">
            <a:extLst xmlns:a="http://schemas.openxmlformats.org/drawingml/2006/main">
              <a:ext uri="{FF2B5EF4-FFF2-40B4-BE49-F238E27FC236}">
                <a16:creationId xmlns:a16="http://schemas.microsoft.com/office/drawing/2014/main" id="{5A8CDB9B-5976-4523-A7D8-46419FFCFDB4}"/>
              </a:ext>
            </a:extLst>
          </p:cNvPr>
          <p:cNvSpPr>
            <a:spLocks xmlns:a="http://schemas.openxmlformats.org/drawingml/2006/main" noGrp="1"/>
          </p:cNvSpPr>
          <p:nvPr/>
        </p:nvSpPr>
        <p:spPr>
          <a:xfrm xmlns:a="http://schemas.openxmlformats.org/drawingml/2006/main">
            <a:off x="8077200" y="2295525"/>
            <a:ext cx="3657600" cy="657225"/>
          </a:xfrm>
          <a:prstGeom xmlns:a="http://schemas.openxmlformats.org/drawingml/2006/main" prst="rect">
            <a:avLst/>
          </a:prstGeom>
          <a:solidFill xmlns:a="http://schemas.openxmlformats.org/drawingml/2006/main">
            <a:srgbClr val="EDF3FA"/>
          </a:solidFill>
          <a:ln xmlns:a="http://schemas.openxmlformats.org/drawingml/2006/main" w="9525">
            <a:solidFill>
              <a:srgbClr val="CCD2D8"/>
            </a:solidFill>
          </a:ln>
        </p:spPr>
      </p:sp>
      <p:sp>
        <p:nvSpPr>
          <p:cNvPr id="16" name="">
            <a:extLst xmlns:a="http://schemas.openxmlformats.org/drawingml/2006/main">
              <a:ext uri="{FF2B5EF4-FFF2-40B4-BE49-F238E27FC236}">
                <a16:creationId xmlns:a16="http://schemas.microsoft.com/office/drawing/2014/main" id="{BC56C827-231C-4586-87B0-359BF89E58B1}"/>
              </a:ext>
            </a:extLst>
          </p:cNvPr>
          <p:cNvSpPr>
            <a:spLocks xmlns:a="http://schemas.openxmlformats.org/drawingml/2006/main" noGrp="1"/>
          </p:cNvSpPr>
          <p:nvPr/>
        </p:nvSpPr>
        <p:spPr>
          <a:xfrm xmlns:a="http://schemas.openxmlformats.org/drawingml/2006/main">
            <a:off x="8220075" y="2438400"/>
            <a:ext cx="3371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31820"/>
                </a:solidFill>
              </a:defRPr>
            </a:pPr>
            <a:r>
              <a:rPr sz="1950" b="1">
                <a:solidFill>
                  <a:srgbClr val="131820"/>
                </a:solidFill>
              </a:rPr>
              <a:t>Analog via DVR / encoder</a:t>
            </a:r>
          </a:p>
        </p:txBody>
      </p:sp>
      <p:sp>
        <p:nvSpPr>
          <p:cNvPr id="17" name="">
            <a:extLst xmlns:a="http://schemas.openxmlformats.org/drawingml/2006/main">
              <a:ext uri="{FF2B5EF4-FFF2-40B4-BE49-F238E27FC236}">
                <a16:creationId xmlns:a16="http://schemas.microsoft.com/office/drawing/2014/main" id="{EA5632A9-90C0-495C-AE49-DC093A926C05}"/>
              </a:ext>
            </a:extLst>
          </p:cNvPr>
          <p:cNvSpPr>
            <a:spLocks xmlns:a="http://schemas.openxmlformats.org/drawingml/2006/main" noGrp="1"/>
          </p:cNvSpPr>
          <p:nvPr/>
        </p:nvSpPr>
        <p:spPr>
          <a:xfrm xmlns:a="http://schemas.openxmlformats.org/drawingml/2006/main">
            <a:off x="457200" y="3438525"/>
            <a:ext cx="11277600" cy="819150"/>
          </a:xfrm>
          <a:prstGeom xmlns:a="http://schemas.openxmlformats.org/drawingml/2006/main" prst="rect">
            <a:avLst/>
          </a:prstGeom>
          <a:solidFill xmlns:a="http://schemas.openxmlformats.org/drawingml/2006/main">
            <a:srgbClr val="EDF3FA"/>
          </a:solidFill>
          <a:ln xmlns:a="http://schemas.openxmlformats.org/drawingml/2006/main" w="9525">
            <a:solidFill>
              <a:srgbClr val="CCD2D8"/>
            </a:solidFill>
          </a:ln>
        </p:spPr>
      </p:sp>
      <p:sp>
        <p:nvSpPr>
          <p:cNvPr id="18" name="">
            <a:extLst xmlns:a="http://schemas.openxmlformats.org/drawingml/2006/main">
              <a:ext uri="{FF2B5EF4-FFF2-40B4-BE49-F238E27FC236}">
                <a16:creationId xmlns:a16="http://schemas.microsoft.com/office/drawing/2014/main" id="{ABFA5E6B-F0E9-479E-9DC5-F20B06025563}"/>
              </a:ext>
            </a:extLst>
          </p:cNvPr>
          <p:cNvSpPr>
            <a:spLocks xmlns:a="http://schemas.openxmlformats.org/drawingml/2006/main" noGrp="1"/>
          </p:cNvSpPr>
          <p:nvPr/>
        </p:nvSpPr>
        <p:spPr>
          <a:xfrm xmlns:a="http://schemas.openxmlformats.org/drawingml/2006/main">
            <a:off x="600075" y="3581400"/>
            <a:ext cx="10991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31820"/>
                </a:solidFill>
              </a:defRPr>
            </a:pPr>
            <a:r>
              <a:rPr sz="1950" b="1">
                <a:solidFill>
                  <a:srgbClr val="131820"/>
                </a:solidFill>
              </a:rPr>
              <a:t>Regional gateway: adapters • stream relay • ANPR • durable event queue</a:t>
            </a:r>
          </a:p>
        </p:txBody>
      </p:sp>
      <p:sp>
        <p:nvSpPr>
          <p:cNvPr id="19" name="">
            <a:extLst xmlns:a="http://schemas.openxmlformats.org/drawingml/2006/main">
              <a:ext uri="{FF2B5EF4-FFF2-40B4-BE49-F238E27FC236}">
                <a16:creationId xmlns:a16="http://schemas.microsoft.com/office/drawing/2014/main" id="{B2903012-B102-457B-81EB-4724F3BCFE4E}"/>
              </a:ext>
            </a:extLst>
          </p:cNvPr>
          <p:cNvSpPr>
            <a:spLocks xmlns:a="http://schemas.openxmlformats.org/drawingml/2006/main" noGrp="1"/>
          </p:cNvSpPr>
          <p:nvPr/>
        </p:nvSpPr>
        <p:spPr>
          <a:xfrm xmlns:a="http://schemas.openxmlformats.org/drawingml/2006/main">
            <a:off x="457200" y="4676775"/>
            <a:ext cx="11277600" cy="828675"/>
          </a:xfrm>
          <a:prstGeom xmlns:a="http://schemas.openxmlformats.org/drawingml/2006/main" prst="rect">
            <a:avLst/>
          </a:prstGeom>
          <a:solidFill xmlns:a="http://schemas.openxmlformats.org/drawingml/2006/main">
            <a:srgbClr val="EDF3FA"/>
          </a:solidFill>
          <a:ln xmlns:a="http://schemas.openxmlformats.org/drawingml/2006/main" w="9525">
            <a:solidFill>
              <a:srgbClr val="CCD2D8"/>
            </a:solidFill>
          </a:ln>
        </p:spPr>
      </p:sp>
      <p:sp>
        <p:nvSpPr>
          <p:cNvPr id="20" name="">
            <a:extLst xmlns:a="http://schemas.openxmlformats.org/drawingml/2006/main">
              <a:ext uri="{FF2B5EF4-FFF2-40B4-BE49-F238E27FC236}">
                <a16:creationId xmlns:a16="http://schemas.microsoft.com/office/drawing/2014/main" id="{05232258-F2D2-452F-8E01-3E602A3A833D}"/>
              </a:ext>
            </a:extLst>
          </p:cNvPr>
          <p:cNvSpPr>
            <a:spLocks xmlns:a="http://schemas.openxmlformats.org/drawingml/2006/main" noGrp="1"/>
          </p:cNvSpPr>
          <p:nvPr/>
        </p:nvSpPr>
        <p:spPr>
          <a:xfrm xmlns:a="http://schemas.openxmlformats.org/drawingml/2006/main">
            <a:off x="600075" y="4819650"/>
            <a:ext cx="109918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1">
                <a:solidFill>
                  <a:srgbClr val="131820"/>
                </a:solidFill>
              </a:defRPr>
            </a:pPr>
            <a:r>
              <a:rPr sz="1950" b="1">
                <a:solidFill>
                  <a:srgbClr val="131820"/>
                </a:solidFill>
              </a:rPr>
              <a:t>Central services: registry / GIS • watchlist • matching • alerts / audit</a:t>
            </a:r>
          </a:p>
        </p:txBody>
      </p:sp>
      <p:sp>
        <p:nvSpPr>
          <p:cNvPr id="21" name="">
            <a:extLst xmlns:a="http://schemas.openxmlformats.org/drawingml/2006/main">
              <a:ext uri="{FF2B5EF4-FFF2-40B4-BE49-F238E27FC236}">
                <a16:creationId xmlns:a16="http://schemas.microsoft.com/office/drawing/2014/main" id="{73F256AB-A849-4F20-9F16-7B779D22ABFA}"/>
              </a:ext>
            </a:extLst>
          </p:cNvPr>
          <p:cNvSpPr>
            <a:spLocks xmlns:a="http://schemas.openxmlformats.org/drawingml/2006/main" noGrp="1"/>
          </p:cNvSpPr>
          <p:nvPr/>
        </p:nvSpPr>
        <p:spPr>
          <a:xfrm xmlns:a="http://schemas.openxmlformats.org/drawingml/2006/main">
            <a:off x="457200" y="5753100"/>
            <a:ext cx="11277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0">
                <a:solidFill>
                  <a:srgbClr val="56616E"/>
                </a:solidFill>
              </a:defRPr>
            </a:pPr>
            <a:r>
              <a:rPr sz="1800" b="0">
                <a:solidFill>
                  <a:srgbClr val="56616E"/>
                </a:solidFill>
              </a:rPr>
              <a:t>Video remains local by default. Metadata flows centrally; authorised viewing and incident clips are selective.</a:t>
            </a:r>
          </a:p>
        </p:txBody>
      </p:sp>
    </p:spTree>
    <p:extLst>
      <p:ext uri="{BB962C8B-B14F-4D97-AF65-F5344CB8AC3E}">
        <p14:creationId xmlns:p14="http://schemas.microsoft.com/office/powerpoint/2010/main" val="196826900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888A1A-F950-402A-B213-9701C84C7150}"/>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D0AD1316-2F8E-4FD5-A97F-5FC35D4BDF18}"/>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Adapt each site to what it supports</a:t>
            </a:r>
          </a:p>
        </p:txBody>
      </p:sp>
      <p:sp>
        <p:nvSpPr>
          <p:cNvPr id="3" name="">
            <a:extLst xmlns:a="http://schemas.openxmlformats.org/drawingml/2006/main">
              <a:ext uri="{FF2B5EF4-FFF2-40B4-BE49-F238E27FC236}">
                <a16:creationId xmlns:a16="http://schemas.microsoft.com/office/drawing/2014/main" id="{83C34855-6718-47D1-A38D-99443A60282C}"/>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Discover capabilities first; never assume a camera or VMS implements every standard.</a:t>
            </a:r>
          </a:p>
        </p:txBody>
      </p:sp>
      <p:sp>
        <p:nvSpPr>
          <p:cNvPr id="4" name="">
            <a:extLst xmlns:a="http://schemas.openxmlformats.org/drawingml/2006/main">
              <a:ext uri="{FF2B5EF4-FFF2-40B4-BE49-F238E27FC236}">
                <a16:creationId xmlns:a16="http://schemas.microsoft.com/office/drawing/2014/main" id="{EB23766B-80DE-4272-940D-E1E56780F950}"/>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8B7BF5A-E73F-497D-BE85-AB0B121097CE}"/>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FBA8102E-69FA-45FF-B036-37F9FE19C162}"/>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07</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714625"/>
                <a:gridCol w="4381500"/>
                <a:gridCol w="4181475"/>
              </a:tblGrid>
              <a:tr h="603250">
                <a:tc>
                  <a:txBody>
                    <a:bodyPr/>
                    <a:lstStyle/>
                    <a:p>
                      <a:r>
                        <a:rPr sz="1725" b="1">
                          <a:solidFill>
                            <a:srgbClr val="131820"/>
                          </a:solidFill>
                        </a:rPr>
                        <a:t>Source condition</a:t>
                      </a:r>
                    </a:p>
                  </a:txBody>
                  <a:tcPr marL="91440" marR="91440" marT="45720" marB="45720">
                    <a:solidFill>
                      <a:srgbClr val="EDF3FA"/>
                    </a:solidFill>
                  </a:tcPr>
                </a:tc>
                <a:tc>
                  <a:txBody>
                    <a:bodyPr/>
                    <a:lstStyle/>
                    <a:p>
                      <a:r>
                        <a:rPr sz="1725" b="1">
                          <a:solidFill>
                            <a:srgbClr val="131820"/>
                          </a:solidFill>
                        </a:rPr>
                        <a:t>Preferred path</a:t>
                      </a:r>
                    </a:p>
                  </a:txBody>
                  <a:tcPr marL="91440" marR="91440" marT="45720" marB="45720">
                    <a:solidFill>
                      <a:srgbClr val="EDF3FA"/>
                    </a:solidFill>
                  </a:tcPr>
                </a:tc>
                <a:tc>
                  <a:txBody>
                    <a:bodyPr/>
                    <a:lstStyle/>
                    <a:p>
                      <a:r>
                        <a:rPr sz="1725" b="1">
                          <a:solidFill>
                            <a:srgbClr val="131820"/>
                          </a:solidFill>
                        </a:rPr>
                        <a:t>Fallback / constraint</a:t>
                      </a:r>
                    </a:p>
                  </a:txBody>
                  <a:tcPr marL="91440" marR="91440" marT="45720" marB="45720">
                    <a:solidFill>
                      <a:srgbClr val="EDF3FA"/>
                    </a:solidFill>
                  </a:tcPr>
                </a:tc>
              </a:tr>
              <a:tr h="603250">
                <a:tc>
                  <a:txBody>
                    <a:bodyPr/>
                    <a:lstStyle/>
                    <a:p>
                      <a:r>
                        <a:rPr sz="1725" b="0">
                          <a:solidFill>
                            <a:srgbClr val="131820"/>
                          </a:solidFill>
                        </a:rPr>
                        <a:t>VMS offers useful API</a:t>
                      </a:r>
                    </a:p>
                  </a:txBody>
                  <a:tcPr marL="91440" marR="91440" marT="45720" marB="45720">
                    <a:solidFill>
                      <a:srgbClr val="FFFFFF"/>
                    </a:solidFill>
                  </a:tcPr>
                </a:tc>
                <a:tc>
                  <a:txBody>
                    <a:bodyPr/>
                    <a:lstStyle/>
                    <a:p>
                      <a:r>
                        <a:rPr sz="1725" b="0">
                          <a:solidFill>
                            <a:srgbClr val="131820"/>
                          </a:solidFill>
                        </a:rPr>
                        <a:t>Adapter for streams, events and playback</a:t>
                      </a:r>
                    </a:p>
                  </a:txBody>
                  <a:tcPr marL="91440" marR="91440" marT="45720" marB="45720">
                    <a:solidFill>
                      <a:srgbClr val="FFFFFF"/>
                    </a:solidFill>
                  </a:tcPr>
                </a:tc>
                <a:tc>
                  <a:txBody>
                    <a:bodyPr/>
                    <a:lstStyle/>
                    <a:p>
                      <a:r>
                        <a:rPr sz="1725" b="0">
                          <a:solidFill>
                            <a:srgbClr val="131820"/>
                          </a:solidFill>
                        </a:rPr>
                        <a:t>Use permitted RTSP if API unavailable</a:t>
                      </a:r>
                    </a:p>
                  </a:txBody>
                  <a:tcPr marL="91440" marR="91440" marT="45720" marB="45720">
                    <a:solidFill>
                      <a:srgbClr val="FFFFFF"/>
                    </a:solidFill>
                  </a:tcPr>
                </a:tc>
              </a:tr>
              <a:tr h="603250">
                <a:tc>
                  <a:txBody>
                    <a:bodyPr/>
                    <a:lstStyle/>
                    <a:p>
                      <a:r>
                        <a:rPr sz="1725" b="0">
                          <a:solidFill>
                            <a:srgbClr val="131820"/>
                          </a:solidFill>
                        </a:rPr>
                        <a:t>IP camera / NVR</a:t>
                      </a:r>
                    </a:p>
                  </a:txBody>
                  <a:tcPr marL="91440" marR="91440" marT="45720" marB="45720">
                    <a:solidFill>
                      <a:srgbClr val="FFFFFF"/>
                    </a:solidFill>
                  </a:tcPr>
                </a:tc>
                <a:tc>
                  <a:txBody>
                    <a:bodyPr/>
                    <a:lstStyle/>
                    <a:p>
                      <a:r>
                        <a:rPr sz="1725" b="0">
                          <a:solidFill>
                            <a:srgbClr val="131820"/>
                          </a:solidFill>
                        </a:rPr>
                        <a:t>Approved stream + capability discovery</a:t>
                      </a:r>
                    </a:p>
                  </a:txBody>
                  <a:tcPr marL="91440" marR="91440" marT="45720" marB="45720">
                    <a:solidFill>
                      <a:srgbClr val="FFFFFF"/>
                    </a:solidFill>
                  </a:tcPr>
                </a:tc>
                <a:tc>
                  <a:txBody>
                    <a:bodyPr/>
                    <a:lstStyle/>
                    <a:p>
                      <a:r>
                        <a:rPr sz="1725" b="0">
                          <a:solidFill>
                            <a:srgbClr val="131820"/>
                          </a:solidFill>
                        </a:rPr>
                        <a:t>Check codec, sessions and reachability</a:t>
                      </a:r>
                    </a:p>
                  </a:txBody>
                  <a:tcPr marL="91440" marR="91440" marT="45720" marB="45720">
                    <a:solidFill>
                      <a:srgbClr val="FFFFFF"/>
                    </a:solidFill>
                  </a:tcPr>
                </a:tc>
              </a:tr>
              <a:tr h="603250">
                <a:tc>
                  <a:txBody>
                    <a:bodyPr/>
                    <a:lstStyle/>
                    <a:p>
                      <a:r>
                        <a:rPr sz="1725" b="0">
                          <a:solidFill>
                            <a:srgbClr val="131820"/>
                          </a:solidFill>
                        </a:rPr>
                        <a:t>Analog camera</a:t>
                      </a:r>
                    </a:p>
                  </a:txBody>
                  <a:tcPr marL="91440" marR="91440" marT="45720" marB="45720">
                    <a:solidFill>
                      <a:srgbClr val="FFFFFF"/>
                    </a:solidFill>
                  </a:tcPr>
                </a:tc>
                <a:tc>
                  <a:txBody>
                    <a:bodyPr/>
                    <a:lstStyle/>
                    <a:p>
                      <a:r>
                        <a:rPr sz="1725" b="0">
                          <a:solidFill>
                            <a:srgbClr val="131820"/>
                          </a:solidFill>
                        </a:rPr>
                        <a:t>DVR channel or video encoder output</a:t>
                      </a:r>
                    </a:p>
                  </a:txBody>
                  <a:tcPr marL="91440" marR="91440" marT="45720" marB="45720">
                    <a:solidFill>
                      <a:srgbClr val="FFFFFF"/>
                    </a:solidFill>
                  </a:tcPr>
                </a:tc>
                <a:tc>
                  <a:txBody>
                    <a:bodyPr/>
                    <a:lstStyle/>
                    <a:p>
                      <a:r>
                        <a:rPr sz="1725" b="0">
                          <a:solidFill>
                            <a:srgbClr val="131820"/>
                          </a:solidFill>
                        </a:rPr>
                        <a:t>No direct analog-to-IP software fix</a:t>
                      </a:r>
                    </a:p>
                  </a:txBody>
                  <a:tcPr marL="91440" marR="91440" marT="45720" marB="45720">
                    <a:solidFill>
                      <a:srgbClr val="FFFFFF"/>
                    </a:solidFill>
                  </a:tcPr>
                </a:tc>
              </a:tr>
              <a:tr h="603250">
                <a:tc>
                  <a:txBody>
                    <a:bodyPr/>
                    <a:lstStyle/>
                    <a:p>
                      <a:r>
                        <a:rPr sz="1725" b="0">
                          <a:solidFill>
                            <a:srgbClr val="131820"/>
                          </a:solidFill>
                        </a:rPr>
                        <a:t>Source has ANPR</a:t>
                      </a:r>
                    </a:p>
                  </a:txBody>
                  <a:tcPr marL="91440" marR="91440" marT="45720" marB="45720">
                    <a:solidFill>
                      <a:srgbClr val="FFFFFF"/>
                    </a:solidFill>
                  </a:tcPr>
                </a:tc>
                <a:tc>
                  <a:txBody>
                    <a:bodyPr/>
                    <a:lstStyle/>
                    <a:p>
                      <a:r>
                        <a:rPr sz="1725" b="0">
                          <a:solidFill>
                            <a:srgbClr val="131820"/>
                          </a:solidFill>
                        </a:rPr>
                        <a:t>Normalise vendor metadata; validate quality</a:t>
                      </a:r>
                    </a:p>
                  </a:txBody>
                  <a:tcPr marL="91440" marR="91440" marT="45720" marB="45720">
                    <a:solidFill>
                      <a:srgbClr val="FFFFFF"/>
                    </a:solidFill>
                  </a:tcPr>
                </a:tc>
                <a:tc>
                  <a:txBody>
                    <a:bodyPr/>
                    <a:lstStyle/>
                    <a:p>
                      <a:r>
                        <a:rPr sz="1725" b="0">
                          <a:solidFill>
                            <a:srgbClr val="131820"/>
                          </a:solidFill>
                        </a:rPr>
                        <a:t>Run our worker when quality is inadequate</a:t>
                      </a:r>
                    </a:p>
                  </a:txBody>
                  <a:tcPr marL="91440" marR="91440" marT="45720" marB="45720">
                    <a:solidFill>
                      <a:srgbClr val="FFFFFF"/>
                    </a:solidFill>
                  </a:tcPr>
                </a:tc>
              </a:tr>
              <a:tr h="603250">
                <a:tc>
                  <a:txBody>
                    <a:bodyPr/>
                    <a:lstStyle/>
                    <a:p>
                      <a:r>
                        <a:rPr sz="1725" b="0">
                          <a:solidFill>
                            <a:srgbClr val="131820"/>
                          </a:solidFill>
                        </a:rPr>
                        <a:t>Source inaccessible</a:t>
                      </a:r>
                    </a:p>
                  </a:txBody>
                  <a:tcPr marL="91440" marR="91440" marT="45720" marB="45720">
                    <a:solidFill>
                      <a:srgbClr val="FFFFFF"/>
                    </a:solidFill>
                  </a:tcPr>
                </a:tc>
                <a:tc>
                  <a:txBody>
                    <a:bodyPr/>
                    <a:lstStyle/>
                    <a:p>
                      <a:r>
                        <a:rPr sz="1725" b="0">
                          <a:solidFill>
                            <a:srgbClr val="131820"/>
                          </a:solidFill>
                        </a:rPr>
                        <a:t>Record blocker, owner and health state</a:t>
                      </a:r>
                    </a:p>
                  </a:txBody>
                  <a:tcPr marL="91440" marR="91440" marT="45720" marB="45720">
                    <a:solidFill>
                      <a:srgbClr val="FFFFFF"/>
                    </a:solidFill>
                  </a:tcPr>
                </a:tc>
                <a:tc>
                  <a:txBody>
                    <a:bodyPr/>
                    <a:lstStyle/>
                    <a:p>
                      <a:r>
                        <a:rPr sz="1725" b="0">
                          <a:solidFill>
                            <a:srgbClr val="131820"/>
                          </a:solidFill>
                        </a:rPr>
                        <a:t>No fabricated “connected” status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3399153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274C17A-567F-4EDD-8153-7B9DCD32B588}"/>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4D397612-7ACD-47BE-8576-117E6DD37974}"/>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Separate viewing from analytics</a:t>
            </a:r>
          </a:p>
        </p:txBody>
      </p:sp>
      <p:sp>
        <p:nvSpPr>
          <p:cNvPr id="3" name="">
            <a:extLst xmlns:a="http://schemas.openxmlformats.org/drawingml/2006/main">
              <a:ext uri="{FF2B5EF4-FFF2-40B4-BE49-F238E27FC236}">
                <a16:creationId xmlns:a16="http://schemas.microsoft.com/office/drawing/2014/main" id="{D36869BE-AE1A-43F7-8653-2E559FECE820}"/>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A video wall and continuous ANPR have different performance requirements.</a:t>
            </a:r>
          </a:p>
        </p:txBody>
      </p:sp>
      <p:sp>
        <p:nvSpPr>
          <p:cNvPr id="4" name="">
            <a:extLst xmlns:a="http://schemas.openxmlformats.org/drawingml/2006/main">
              <a:ext uri="{FF2B5EF4-FFF2-40B4-BE49-F238E27FC236}">
                <a16:creationId xmlns:a16="http://schemas.microsoft.com/office/drawing/2014/main" id="{D0F1BA05-4949-4E32-9ED5-D3D02CE1404B}"/>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1E8F8A9-814A-4C78-A8E5-EA40E11EDF18}"/>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61667A13-C0D1-44CA-833B-3CADA2AD323C}"/>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08</a:t>
            </a:r>
          </a:p>
        </p:txBody>
      </p:sp>
      <p:sp>
        <p:nvSpPr>
          <p:cNvPr id="7" name="">
            <a:extLst xmlns:a="http://schemas.openxmlformats.org/drawingml/2006/main">
              <a:ext uri="{FF2B5EF4-FFF2-40B4-BE49-F238E27FC236}">
                <a16:creationId xmlns:a16="http://schemas.microsoft.com/office/drawing/2014/main" id="{A7D7F19B-6B69-4E96-AE4C-8BDC7E9E16DE}"/>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Viewing path</a:t>
            </a:r>
          </a:p>
        </p:txBody>
      </p:sp>
      <p:sp>
        <p:nvSpPr>
          <p:cNvPr id="8" name="">
            <a:extLst xmlns:a="http://schemas.openxmlformats.org/drawingml/2006/main">
              <a:ext uri="{FF2B5EF4-FFF2-40B4-BE49-F238E27FC236}">
                <a16:creationId xmlns:a16="http://schemas.microsoft.com/office/drawing/2014/main" id="{1DDBEB15-7A93-4905-A30D-AB444F31C794}"/>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Use one source pull where possible; relay permitted streams to multiple clients.</a:t>
            </a:r>
          </a:p>
        </p:txBody>
      </p:sp>
      <p:sp>
        <p:nvSpPr>
          <p:cNvPr id="9" name="">
            <a:extLst xmlns:a="http://schemas.openxmlformats.org/drawingml/2006/main">
              <a:ext uri="{FF2B5EF4-FFF2-40B4-BE49-F238E27FC236}">
                <a16:creationId xmlns:a16="http://schemas.microsoft.com/office/drawing/2014/main" id="{948F5EDF-DF95-4000-B4DC-E8D2F0E049A8}"/>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Provide WebRTC viewing; retain an HLS fallback where appropriate.</a:t>
            </a:r>
          </a:p>
        </p:txBody>
      </p:sp>
      <p:sp>
        <p:nvSpPr>
          <p:cNvPr id="10" name="">
            <a:extLst xmlns:a="http://schemas.openxmlformats.org/drawingml/2006/main">
              <a:ext uri="{FF2B5EF4-FFF2-40B4-BE49-F238E27FC236}">
                <a16:creationId xmlns:a16="http://schemas.microsoft.com/office/drawing/2014/main" id="{9CD3FBA7-1D53-4057-873E-5C4E33D3068E}"/>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Open selected tiles on demand; avoid decoding 50 full-resolution browser tiles.</a:t>
            </a:r>
          </a:p>
        </p:txBody>
      </p:sp>
      <p:sp>
        <p:nvSpPr>
          <p:cNvPr id="11" name="">
            <a:extLst xmlns:a="http://schemas.openxmlformats.org/drawingml/2006/main">
              <a:ext uri="{FF2B5EF4-FFF2-40B4-BE49-F238E27FC236}">
                <a16:creationId xmlns:a16="http://schemas.microsoft.com/office/drawing/2014/main" id="{68A91476-7E42-4651-9D0E-31423A93BB6F}"/>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Analytics path</a:t>
            </a:r>
          </a:p>
        </p:txBody>
      </p:sp>
      <p:sp>
        <p:nvSpPr>
          <p:cNvPr id="12" name="">
            <a:extLst xmlns:a="http://schemas.openxmlformats.org/drawingml/2006/main">
              <a:ext uri="{FF2B5EF4-FFF2-40B4-BE49-F238E27FC236}">
                <a16:creationId xmlns:a16="http://schemas.microsoft.com/office/drawing/2014/main" id="{6D801A8B-2A1A-4F79-96B3-113093E91427}"/>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Process all required accessible feeds continuously; report actual coverage.</a:t>
            </a:r>
          </a:p>
        </p:txBody>
      </p:sp>
      <p:sp>
        <p:nvSpPr>
          <p:cNvPr id="13" name="">
            <a:extLst xmlns:a="http://schemas.openxmlformats.org/drawingml/2006/main">
              <a:ext uri="{FF2B5EF4-FFF2-40B4-BE49-F238E27FC236}">
                <a16:creationId xmlns:a16="http://schemas.microsoft.com/office/drawing/2014/main" id="{8C552AD3-C9B3-4A9C-95B4-A4A8EF6986D9}"/>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Use calibrated sampling and plate-quality crops; do not sacrifice readable plates.</a:t>
            </a:r>
          </a:p>
        </p:txBody>
      </p:sp>
      <p:sp>
        <p:nvSpPr>
          <p:cNvPr id="14" name="">
            <a:extLst xmlns:a="http://schemas.openxmlformats.org/drawingml/2006/main">
              <a:ext uri="{FF2B5EF4-FFF2-40B4-BE49-F238E27FC236}">
                <a16:creationId xmlns:a16="http://schemas.microsoft.com/office/drawing/2014/main" id="{9513DD8A-8FF0-43CD-B946-8C627F22F8B5}"/>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Store event timestamps, not browser display time; expose queue delay.</a:t>
            </a:r>
          </a:p>
        </p:txBody>
      </p:sp>
    </p:spTree>
    <p:extLst>
      <p:ext uri="{BB962C8B-B14F-4D97-AF65-F5344CB8AC3E}">
        <p14:creationId xmlns:p14="http://schemas.microsoft.com/office/powerpoint/2010/main" val="12055501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6CC8A0D-3AD8-4542-8DD0-EED586AC20C9}"/>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A894F1A9-C71C-4947-A3F8-CDE6D2E5C0BF}"/>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Make plate recognition reviewable</a:t>
            </a:r>
          </a:p>
        </p:txBody>
      </p:sp>
      <p:sp>
        <p:nvSpPr>
          <p:cNvPr id="3" name="">
            <a:extLst xmlns:a="http://schemas.openxmlformats.org/drawingml/2006/main">
              <a:ext uri="{FF2B5EF4-FFF2-40B4-BE49-F238E27FC236}">
                <a16:creationId xmlns:a16="http://schemas.microsoft.com/office/drawing/2014/main" id="{A748D9D0-6095-4383-B793-49AC13FD9C64}"/>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Use a pretrained baseline first; tune only after measuring errors on representative feeds.</a:t>
            </a:r>
          </a:p>
        </p:txBody>
      </p:sp>
      <p:sp>
        <p:nvSpPr>
          <p:cNvPr id="4" name="">
            <a:extLst xmlns:a="http://schemas.openxmlformats.org/drawingml/2006/main">
              <a:ext uri="{FF2B5EF4-FFF2-40B4-BE49-F238E27FC236}">
                <a16:creationId xmlns:a16="http://schemas.microsoft.com/office/drawing/2014/main" id="{08EEDD84-6826-4426-BA8C-C4C5C044CE0B}"/>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ECD2A45-48AB-4B20-9F3A-27B11AABEFEF}"/>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970D886A-A30C-4F4F-9187-D9540F371916}"/>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09</a:t>
            </a:r>
          </a:p>
        </p:txBody>
      </p:sp>
      <p:sp>
        <p:nvSpPr>
          <p:cNvPr id="7" name="">
            <a:extLst xmlns:a="http://schemas.openxmlformats.org/drawingml/2006/main">
              <a:ext uri="{FF2B5EF4-FFF2-40B4-BE49-F238E27FC236}">
                <a16:creationId xmlns:a16="http://schemas.microsoft.com/office/drawing/2014/main" id="{9F0D2CE1-F487-4DFD-AA2F-8D1747707AEC}"/>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Recognition pipeline</a:t>
            </a:r>
          </a:p>
        </p:txBody>
      </p:sp>
      <p:sp>
        <p:nvSpPr>
          <p:cNvPr id="8" name="">
            <a:extLst xmlns:a="http://schemas.openxmlformats.org/drawingml/2006/main">
              <a:ext uri="{FF2B5EF4-FFF2-40B4-BE49-F238E27FC236}">
                <a16:creationId xmlns:a16="http://schemas.microsoft.com/office/drawing/2014/main" id="{3CA386D9-C040-475C-9F86-8E94B8FB032F}"/>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Detect vehicle / plate → track within camera → select readable crops.</a:t>
            </a:r>
          </a:p>
        </p:txBody>
      </p:sp>
      <p:sp>
        <p:nvSpPr>
          <p:cNvPr id="9" name="">
            <a:extLst xmlns:a="http://schemas.openxmlformats.org/drawingml/2006/main">
              <a:ext uri="{FF2B5EF4-FFF2-40B4-BE49-F238E27FC236}">
                <a16:creationId xmlns:a16="http://schemas.microsoft.com/office/drawing/2014/main" id="{78662FF4-0D71-4B41-9324-78D662022837}"/>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Recognise text on multiple frames; retain raw reads and the chosen plate.</a:t>
            </a:r>
          </a:p>
        </p:txBody>
      </p:sp>
      <p:sp>
        <p:nvSpPr>
          <p:cNvPr id="10" name="">
            <a:extLst xmlns:a="http://schemas.openxmlformats.org/drawingml/2006/main">
              <a:ext uri="{FF2B5EF4-FFF2-40B4-BE49-F238E27FC236}">
                <a16:creationId xmlns:a16="http://schemas.microsoft.com/office/drawing/2014/main" id="{334767D3-69E1-48EC-B510-4F30E3FB5862}"/>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Normalise spacing and case; preserve ambiguity and source evidence.</a:t>
            </a:r>
          </a:p>
        </p:txBody>
      </p:sp>
      <p:sp>
        <p:nvSpPr>
          <p:cNvPr id="11" name="">
            <a:extLst xmlns:a="http://schemas.openxmlformats.org/drawingml/2006/main">
              <a:ext uri="{FF2B5EF4-FFF2-40B4-BE49-F238E27FC236}">
                <a16:creationId xmlns:a16="http://schemas.microsoft.com/office/drawing/2014/main" id="{719BD917-CE93-4AD3-BDF8-EB7AD498D0DE}"/>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Validation discipline</a:t>
            </a:r>
          </a:p>
        </p:txBody>
      </p:sp>
      <p:sp>
        <p:nvSpPr>
          <p:cNvPr id="12" name="">
            <a:extLst xmlns:a="http://schemas.openxmlformats.org/drawingml/2006/main">
              <a:ext uri="{FF2B5EF4-FFF2-40B4-BE49-F238E27FC236}">
                <a16:creationId xmlns:a16="http://schemas.microsoft.com/office/drawing/2014/main" id="{C2E273B3-6F87-441E-8128-4ED292CC9283}"/>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Use varied day/night, angle, blur and plate-format samples.</a:t>
            </a:r>
          </a:p>
        </p:txBody>
      </p:sp>
      <p:sp>
        <p:nvSpPr>
          <p:cNvPr id="13" name="">
            <a:extLst xmlns:a="http://schemas.openxmlformats.org/drawingml/2006/main">
              <a:ext uri="{FF2B5EF4-FFF2-40B4-BE49-F238E27FC236}">
                <a16:creationId xmlns:a16="http://schemas.microsoft.com/office/drawing/2014/main" id="{BB17C757-2D53-4D8C-BE59-468B4F4EB768}"/>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Keep tuning and held-out footage separate; never split adjacent frames across both.</a:t>
            </a:r>
          </a:p>
        </p:txBody>
      </p:sp>
      <p:sp>
        <p:nvSpPr>
          <p:cNvPr id="14" name="">
            <a:extLst xmlns:a="http://schemas.openxmlformats.org/drawingml/2006/main">
              <a:ext uri="{FF2B5EF4-FFF2-40B4-BE49-F238E27FC236}">
                <a16:creationId xmlns:a16="http://schemas.microsoft.com/office/drawing/2014/main" id="{F7595D57-3A67-43C1-BA50-4F20320F1063}"/>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Measure missed passages and false alerts, not only OCR on handpicked crops.</a:t>
            </a:r>
          </a:p>
        </p:txBody>
      </p:sp>
    </p:spTree>
    <p:extLst>
      <p:ext uri="{BB962C8B-B14F-4D97-AF65-F5344CB8AC3E}">
        <p14:creationId xmlns:p14="http://schemas.microsoft.com/office/powerpoint/2010/main" val="100951036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550F33-0B65-438A-BC80-12B261CFF105}"/>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962A53CA-5FF1-4C08-9313-15A9CFF22145}"/>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Turn sightings into actionable alerts</a:t>
            </a:r>
          </a:p>
        </p:txBody>
      </p:sp>
      <p:sp>
        <p:nvSpPr>
          <p:cNvPr id="3" name="">
            <a:extLst xmlns:a="http://schemas.openxmlformats.org/drawingml/2006/main">
              <a:ext uri="{FF2B5EF4-FFF2-40B4-BE49-F238E27FC236}">
                <a16:creationId xmlns:a16="http://schemas.microsoft.com/office/drawing/2014/main" id="{0EAAA711-1091-4A42-B5AD-EFAFF8A7C92D}"/>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A match is an investigative lead that requires evidence and human review.</a:t>
            </a:r>
          </a:p>
        </p:txBody>
      </p:sp>
      <p:sp>
        <p:nvSpPr>
          <p:cNvPr id="4" name="">
            <a:extLst xmlns:a="http://schemas.openxmlformats.org/drawingml/2006/main">
              <a:ext uri="{FF2B5EF4-FFF2-40B4-BE49-F238E27FC236}">
                <a16:creationId xmlns:a16="http://schemas.microsoft.com/office/drawing/2014/main" id="{17FD4E5E-41A6-4526-B2C2-CAFC821C23A0}"/>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52511E7-7A7F-4E4B-9FA4-7077DBAFA988}"/>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11BFE64E-863E-4E7B-AAF4-C6B4E84B3D21}"/>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10</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381250"/>
                <a:gridCol w="4762500"/>
                <a:gridCol w="4133850"/>
              </a:tblGrid>
              <a:tr h="603250">
                <a:tc>
                  <a:txBody>
                    <a:bodyPr/>
                    <a:lstStyle/>
                    <a:p>
                      <a:r>
                        <a:rPr sz="1725" b="1">
                          <a:solidFill>
                            <a:srgbClr val="131820"/>
                          </a:solidFill>
                        </a:rPr>
                        <a:t>Stage</a:t>
                      </a:r>
                    </a:p>
                  </a:txBody>
                  <a:tcPr marL="91440" marR="91440" marT="45720" marB="45720">
                    <a:solidFill>
                      <a:srgbClr val="EDF3FA"/>
                    </a:solidFill>
                  </a:tcPr>
                </a:tc>
                <a:tc>
                  <a:txBody>
                    <a:bodyPr/>
                    <a:lstStyle/>
                    <a:p>
                      <a:r>
                        <a:rPr sz="1725" b="1">
                          <a:solidFill>
                            <a:srgbClr val="131820"/>
                          </a:solidFill>
                        </a:rPr>
                        <a:t>Proposed behaviour</a:t>
                      </a:r>
                    </a:p>
                  </a:txBody>
                  <a:tcPr marL="91440" marR="91440" marT="45720" marB="45720">
                    <a:solidFill>
                      <a:srgbClr val="EDF3FA"/>
                    </a:solidFill>
                  </a:tcPr>
                </a:tc>
                <a:tc>
                  <a:txBody>
                    <a:bodyPr/>
                    <a:lstStyle/>
                    <a:p>
                      <a:r>
                        <a:rPr sz="1725" b="1">
                          <a:solidFill>
                            <a:srgbClr val="131820"/>
                          </a:solidFill>
                        </a:rPr>
                        <a:t>What we retain</a:t>
                      </a:r>
                    </a:p>
                  </a:txBody>
                  <a:tcPr marL="91440" marR="91440" marT="45720" marB="45720">
                    <a:solidFill>
                      <a:srgbClr val="EDF3FA"/>
                    </a:solidFill>
                  </a:tcPr>
                </a:tc>
              </a:tr>
              <a:tr h="603250">
                <a:tc>
                  <a:txBody>
                    <a:bodyPr/>
                    <a:lstStyle/>
                    <a:p>
                      <a:r>
                        <a:rPr sz="1725" b="0">
                          <a:solidFill>
                            <a:srgbClr val="131820"/>
                          </a:solidFill>
                        </a:rPr>
                        <a:t>Read quality</a:t>
                      </a:r>
                    </a:p>
                  </a:txBody>
                  <a:tcPr marL="91440" marR="91440" marT="45720" marB="45720">
                    <a:solidFill>
                      <a:srgbClr val="FFFFFF"/>
                    </a:solidFill>
                  </a:tcPr>
                </a:tc>
                <a:tc>
                  <a:txBody>
                    <a:bodyPr/>
                    <a:lstStyle/>
                    <a:p>
                      <a:r>
                        <a:rPr sz="1725" b="0">
                          <a:solidFill>
                            <a:srgbClr val="131820"/>
                          </a:solidFill>
                        </a:rPr>
                        <a:t>Aggregate consistent reads within one passage</a:t>
                      </a:r>
                    </a:p>
                  </a:txBody>
                  <a:tcPr marL="91440" marR="91440" marT="45720" marB="45720">
                    <a:solidFill>
                      <a:srgbClr val="FFFFFF"/>
                    </a:solidFill>
                  </a:tcPr>
                </a:tc>
                <a:tc>
                  <a:txBody>
                    <a:bodyPr/>
                    <a:lstStyle/>
                    <a:p>
                      <a:r>
                        <a:rPr sz="1725" b="0">
                          <a:solidFill>
                            <a:srgbClr val="131820"/>
                          </a:solidFill>
                        </a:rPr>
                        <a:t>Raw reads, selected crop, confidence</a:t>
                      </a:r>
                    </a:p>
                  </a:txBody>
                  <a:tcPr marL="91440" marR="91440" marT="45720" marB="45720">
                    <a:solidFill>
                      <a:srgbClr val="FFFFFF"/>
                    </a:solidFill>
                  </a:tcPr>
                </a:tc>
              </a:tr>
              <a:tr h="603250">
                <a:tc>
                  <a:txBody>
                    <a:bodyPr/>
                    <a:lstStyle/>
                    <a:p>
                      <a:r>
                        <a:rPr sz="1725" b="0">
                          <a:solidFill>
                            <a:srgbClr val="131820"/>
                          </a:solidFill>
                        </a:rPr>
                        <a:t>Watchlist match</a:t>
                      </a:r>
                    </a:p>
                  </a:txBody>
                  <a:tcPr marL="91440" marR="91440" marT="45720" marB="45720">
                    <a:solidFill>
                      <a:srgbClr val="FFFFFF"/>
                    </a:solidFill>
                  </a:tcPr>
                </a:tc>
                <a:tc>
                  <a:txBody>
                    <a:bodyPr/>
                    <a:lstStyle/>
                    <a:p>
                      <a:r>
                        <a:rPr sz="1725" b="0">
                          <a:solidFill>
                            <a:srgbClr val="131820"/>
                          </a:solidFill>
                        </a:rPr>
                        <a:t>Exact normalised match to active authorised record</a:t>
                      </a:r>
                    </a:p>
                  </a:txBody>
                  <a:tcPr marL="91440" marR="91440" marT="45720" marB="45720">
                    <a:solidFill>
                      <a:srgbClr val="FFFFFF"/>
                    </a:solidFill>
                  </a:tcPr>
                </a:tc>
                <a:tc>
                  <a:txBody>
                    <a:bodyPr/>
                    <a:lstStyle/>
                    <a:p>
                      <a:r>
                        <a:rPr sz="1725" b="0">
                          <a:solidFill>
                            <a:srgbClr val="131820"/>
                          </a:solidFill>
                        </a:rPr>
                        <a:t>Record ID, purpose, version, expiry</a:t>
                      </a:r>
                    </a:p>
                  </a:txBody>
                  <a:tcPr marL="91440" marR="91440" marT="45720" marB="45720">
                    <a:solidFill>
                      <a:srgbClr val="FFFFFF"/>
                    </a:solidFill>
                  </a:tcPr>
                </a:tc>
              </a:tr>
              <a:tr h="603250">
                <a:tc>
                  <a:txBody>
                    <a:bodyPr/>
                    <a:lstStyle/>
                    <a:p>
                      <a:r>
                        <a:rPr sz="1725" b="0">
                          <a:solidFill>
                            <a:srgbClr val="131820"/>
                          </a:solidFill>
                        </a:rPr>
                        <a:t>Ambiguous read</a:t>
                      </a:r>
                    </a:p>
                  </a:txBody>
                  <a:tcPr marL="91440" marR="91440" marT="45720" marB="45720">
                    <a:solidFill>
                      <a:srgbClr val="FFFFFF"/>
                    </a:solidFill>
                  </a:tcPr>
                </a:tc>
                <a:tc>
                  <a:txBody>
                    <a:bodyPr/>
                    <a:lstStyle/>
                    <a:p>
                      <a:r>
                        <a:rPr sz="1725" b="0">
                          <a:solidFill>
                            <a:srgbClr val="131820"/>
                          </a:solidFill>
                        </a:rPr>
                        <a:t>Candidate for review; no automatic exact-match label</a:t>
                      </a:r>
                    </a:p>
                  </a:txBody>
                  <a:tcPr marL="91440" marR="91440" marT="45720" marB="45720">
                    <a:solidFill>
                      <a:srgbClr val="FFFFFF"/>
                    </a:solidFill>
                  </a:tcPr>
                </a:tc>
                <a:tc>
                  <a:txBody>
                    <a:bodyPr/>
                    <a:lstStyle/>
                    <a:p>
                      <a:r>
                        <a:rPr sz="1725" b="0">
                          <a:solidFill>
                            <a:srgbClr val="131820"/>
                          </a:solidFill>
                        </a:rPr>
                        <a:t>Alternatives and reason for uncertainty</a:t>
                      </a:r>
                    </a:p>
                  </a:txBody>
                  <a:tcPr marL="91440" marR="91440" marT="45720" marB="45720">
                    <a:solidFill>
                      <a:srgbClr val="FFFFFF"/>
                    </a:solidFill>
                  </a:tcPr>
                </a:tc>
              </a:tr>
              <a:tr h="603250">
                <a:tc>
                  <a:txBody>
                    <a:bodyPr/>
                    <a:lstStyle/>
                    <a:p>
                      <a:r>
                        <a:rPr sz="1725" b="0">
                          <a:solidFill>
                            <a:srgbClr val="131820"/>
                          </a:solidFill>
                        </a:rPr>
                        <a:t>Deduplication</a:t>
                      </a:r>
                    </a:p>
                  </a:txBody>
                  <a:tcPr marL="91440" marR="91440" marT="45720" marB="45720">
                    <a:solidFill>
                      <a:srgbClr val="FFFFFF"/>
                    </a:solidFill>
                  </a:tcPr>
                </a:tc>
                <a:tc>
                  <a:txBody>
                    <a:bodyPr/>
                    <a:lstStyle/>
                    <a:p>
                      <a:r>
                        <a:rPr sz="1725" b="0">
                          <a:solidFill>
                            <a:srgbClr val="131820"/>
                          </a:solidFill>
                        </a:rPr>
                        <a:t>One alert per watchlist item and camera passage</a:t>
                      </a:r>
                    </a:p>
                  </a:txBody>
                  <a:tcPr marL="91440" marR="91440" marT="45720" marB="45720">
                    <a:solidFill>
                      <a:srgbClr val="FFFFFF"/>
                    </a:solidFill>
                  </a:tcPr>
                </a:tc>
                <a:tc>
                  <a:txBody>
                    <a:bodyPr/>
                    <a:lstStyle/>
                    <a:p>
                      <a:r>
                        <a:rPr sz="1725" b="0">
                          <a:solidFill>
                            <a:srgbClr val="131820"/>
                          </a:solidFill>
                        </a:rPr>
                        <a:t>All underlying sightings remain searchable</a:t>
                      </a:r>
                    </a:p>
                  </a:txBody>
                  <a:tcPr marL="91440" marR="91440" marT="45720" marB="45720">
                    <a:solidFill>
                      <a:srgbClr val="FFFFFF"/>
                    </a:solidFill>
                  </a:tcPr>
                </a:tc>
              </a:tr>
              <a:tr h="603250">
                <a:tc>
                  <a:txBody>
                    <a:bodyPr/>
                    <a:lstStyle/>
                    <a:p>
                      <a:r>
                        <a:rPr sz="1725" b="0">
                          <a:solidFill>
                            <a:srgbClr val="131820"/>
                          </a:solidFill>
                        </a:rPr>
                        <a:t>Operator review</a:t>
                      </a:r>
                    </a:p>
                  </a:txBody>
                  <a:tcPr marL="91440" marR="91440" marT="45720" marB="45720">
                    <a:solidFill>
                      <a:srgbClr val="FFFFFF"/>
                    </a:solidFill>
                  </a:tcPr>
                </a:tc>
                <a:tc>
                  <a:txBody>
                    <a:bodyPr/>
                    <a:lstStyle/>
                    <a:p>
                      <a:r>
                        <a:rPr sz="1725" b="0">
                          <a:solidFill>
                            <a:srgbClr val="131820"/>
                          </a:solidFill>
                        </a:rPr>
                        <a:t>New → acknowledged → confirmed / rejected</a:t>
                      </a:r>
                    </a:p>
                  </a:txBody>
                  <a:tcPr marL="91440" marR="91440" marT="45720" marB="45720">
                    <a:solidFill>
                      <a:srgbClr val="FFFFFF"/>
                    </a:solidFill>
                  </a:tcPr>
                </a:tc>
                <a:tc>
                  <a:txBody>
                    <a:bodyPr/>
                    <a:lstStyle/>
                    <a:p>
                      <a:r>
                        <a:rPr sz="1725" b="0">
                          <a:solidFill>
                            <a:srgbClr val="131820"/>
                          </a:solidFill>
                        </a:rPr>
                        <a:t>Reviewer, time, reason and audit event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60677215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CBADD8D-6301-49EF-A03F-31505696D734}"/>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77F4BB0B-48CD-4274-89A3-321E987D0D4C}"/>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Show movement without overstating it</a:t>
            </a:r>
          </a:p>
        </p:txBody>
      </p:sp>
      <p:sp>
        <p:nvSpPr>
          <p:cNvPr id="3" name="">
            <a:extLst xmlns:a="http://schemas.openxmlformats.org/drawingml/2006/main">
              <a:ext uri="{FF2B5EF4-FFF2-40B4-BE49-F238E27FC236}">
                <a16:creationId xmlns:a16="http://schemas.microsoft.com/office/drawing/2014/main" id="{8C801FF5-FE4A-4CF0-9913-1BBA423B4CD6}"/>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The GIS view should make evidence, uncertainty and missing coverage visible.</a:t>
            </a:r>
          </a:p>
        </p:txBody>
      </p:sp>
      <p:sp>
        <p:nvSpPr>
          <p:cNvPr id="4" name="">
            <a:extLst xmlns:a="http://schemas.openxmlformats.org/drawingml/2006/main">
              <a:ext uri="{FF2B5EF4-FFF2-40B4-BE49-F238E27FC236}">
                <a16:creationId xmlns:a16="http://schemas.microsoft.com/office/drawing/2014/main" id="{3411C202-3862-4B1B-A58C-36577177C789}"/>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16EBDDA-9D42-4AD8-BDAC-66B234CB32DA}"/>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6F04487A-C8B1-43C1-A6E6-2A8B0D027DDA}"/>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11</a:t>
            </a:r>
          </a:p>
        </p:txBody>
      </p:sp>
      <p:sp>
        <p:nvSpPr>
          <p:cNvPr id="7" name="">
            <a:extLst xmlns:a="http://schemas.openxmlformats.org/drawingml/2006/main">
              <a:ext uri="{FF2B5EF4-FFF2-40B4-BE49-F238E27FC236}">
                <a16:creationId xmlns:a16="http://schemas.microsoft.com/office/drawing/2014/main" id="{21327D5A-835F-485B-B981-F1ED22BA752E}"/>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Observed movement</a:t>
            </a:r>
          </a:p>
        </p:txBody>
      </p:sp>
      <p:sp>
        <p:nvSpPr>
          <p:cNvPr id="8" name="">
            <a:extLst xmlns:a="http://schemas.openxmlformats.org/drawingml/2006/main">
              <a:ext uri="{FF2B5EF4-FFF2-40B4-BE49-F238E27FC236}">
                <a16:creationId xmlns:a16="http://schemas.microsoft.com/office/drawing/2014/main" id="{CB4E121F-B035-4FA8-8438-4E2D91B7C173}"/>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Search plate + time window; order sightings by event time and camera.</a:t>
            </a:r>
          </a:p>
        </p:txBody>
      </p:sp>
      <p:sp>
        <p:nvSpPr>
          <p:cNvPr id="9" name="">
            <a:extLst xmlns:a="http://schemas.openxmlformats.org/drawingml/2006/main">
              <a:ext uri="{FF2B5EF4-FFF2-40B4-BE49-F238E27FC236}">
                <a16:creationId xmlns:a16="http://schemas.microsoft.com/office/drawing/2014/main" id="{52C2945F-BD60-404E-AE74-B55BF9459B93}"/>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Show camera coordinates, image evidence, timestamps and review status.</a:t>
            </a:r>
          </a:p>
        </p:txBody>
      </p:sp>
      <p:sp>
        <p:nvSpPr>
          <p:cNvPr id="10" name="">
            <a:extLst xmlns:a="http://schemas.openxmlformats.org/drawingml/2006/main">
              <a:ext uri="{FF2B5EF4-FFF2-40B4-BE49-F238E27FC236}">
                <a16:creationId xmlns:a16="http://schemas.microsoft.com/office/drawing/2014/main" id="{7FA0F1D4-9B41-432C-A288-BC5F3E4FD4F3}"/>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Retain duplicate reads internally; group them into a single camera passage.</a:t>
            </a:r>
          </a:p>
        </p:txBody>
      </p:sp>
      <p:sp>
        <p:nvSpPr>
          <p:cNvPr id="11" name="">
            <a:extLst xmlns:a="http://schemas.openxmlformats.org/drawingml/2006/main">
              <a:ext uri="{FF2B5EF4-FFF2-40B4-BE49-F238E27FC236}">
                <a16:creationId xmlns:a16="http://schemas.microsoft.com/office/drawing/2014/main" id="{FC6A6128-5495-4AB2-ACD8-34C81C276139}"/>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Limits and safeguards</a:t>
            </a:r>
          </a:p>
        </p:txBody>
      </p:sp>
      <p:sp>
        <p:nvSpPr>
          <p:cNvPr id="12" name="">
            <a:extLst xmlns:a="http://schemas.openxmlformats.org/drawingml/2006/main">
              <a:ext uri="{FF2B5EF4-FFF2-40B4-BE49-F238E27FC236}">
                <a16:creationId xmlns:a16="http://schemas.microsoft.com/office/drawing/2014/main" id="{9484BBDA-5606-49FB-B90E-8DF1917F11F2}"/>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Label links between sightings as inferred movement, not verified road segments.</a:t>
            </a:r>
          </a:p>
        </p:txBody>
      </p:sp>
      <p:sp>
        <p:nvSpPr>
          <p:cNvPr id="13" name="">
            <a:extLst xmlns:a="http://schemas.openxmlformats.org/drawingml/2006/main">
              <a:ext uri="{FF2B5EF4-FFF2-40B4-BE49-F238E27FC236}">
                <a16:creationId xmlns:a16="http://schemas.microsoft.com/office/drawing/2014/main" id="{FBB011DB-90F6-4840-8076-ED2E94703E38}"/>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Flag clock drift, stale feeds, blind spots and conflicting sightings.</a:t>
            </a:r>
          </a:p>
        </p:txBody>
      </p:sp>
      <p:sp>
        <p:nvSpPr>
          <p:cNvPr id="14" name="">
            <a:extLst xmlns:a="http://schemas.openxmlformats.org/drawingml/2006/main">
              <a:ext uri="{FF2B5EF4-FFF2-40B4-BE49-F238E27FC236}">
                <a16:creationId xmlns:a16="http://schemas.microsoft.com/office/drawing/2014/main" id="{2784C612-501F-4840-BF65-667802F515BE}"/>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Do not treat an unreadable plate or absent sighting as proof of absence.</a:t>
            </a:r>
          </a:p>
        </p:txBody>
      </p:sp>
    </p:spTree>
    <p:extLst>
      <p:ext uri="{BB962C8B-B14F-4D97-AF65-F5344CB8AC3E}">
        <p14:creationId xmlns:p14="http://schemas.microsoft.com/office/powerpoint/2010/main" val="8206347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56E0F81-2256-4666-ABDC-AC8728215D3D}"/>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027A44A1-4CE6-482A-8D2F-932CB747CCE6}"/>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Agree on the data contract early</a:t>
            </a:r>
          </a:p>
        </p:txBody>
      </p:sp>
      <p:sp>
        <p:nvSpPr>
          <p:cNvPr id="3" name="">
            <a:extLst xmlns:a="http://schemas.openxmlformats.org/drawingml/2006/main">
              <a:ext uri="{FF2B5EF4-FFF2-40B4-BE49-F238E27FC236}">
                <a16:creationId xmlns:a16="http://schemas.microsoft.com/office/drawing/2014/main" id="{3FD4709D-0D8F-47BA-9886-F27F9812EF7B}"/>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A stable event envelope lets team members build independently.</a:t>
            </a:r>
          </a:p>
        </p:txBody>
      </p:sp>
      <p:sp>
        <p:nvSpPr>
          <p:cNvPr id="4" name="">
            <a:extLst xmlns:a="http://schemas.openxmlformats.org/drawingml/2006/main">
              <a:ext uri="{FF2B5EF4-FFF2-40B4-BE49-F238E27FC236}">
                <a16:creationId xmlns:a16="http://schemas.microsoft.com/office/drawing/2014/main" id="{0AD65D8A-64F4-457B-A99C-334E91244403}"/>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A9BF54C-659E-4A8A-ACD7-224DA73F4BD8}"/>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FEA6FC76-683C-4A16-8439-A3B5979DF175}"/>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12</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143125"/>
                <a:gridCol w="4667250"/>
                <a:gridCol w="4467225"/>
              </a:tblGrid>
              <a:tr h="603250">
                <a:tc>
                  <a:txBody>
                    <a:bodyPr/>
                    <a:lstStyle/>
                    <a:p>
                      <a:r>
                        <a:rPr sz="1725" b="1">
                          <a:solidFill>
                            <a:srgbClr val="131820"/>
                          </a:solidFill>
                        </a:rPr>
                        <a:t>Record</a:t>
                      </a:r>
                    </a:p>
                  </a:txBody>
                  <a:tcPr marL="91440" marR="91440" marT="45720" marB="45720">
                    <a:solidFill>
                      <a:srgbClr val="EDF3FA"/>
                    </a:solidFill>
                  </a:tcPr>
                </a:tc>
                <a:tc>
                  <a:txBody>
                    <a:bodyPr/>
                    <a:lstStyle/>
                    <a:p>
                      <a:r>
                        <a:rPr sz="1725" b="1">
                          <a:solidFill>
                            <a:srgbClr val="131820"/>
                          </a:solidFill>
                        </a:rPr>
                        <a:t>Minimum content</a:t>
                      </a:r>
                    </a:p>
                  </a:txBody>
                  <a:tcPr marL="91440" marR="91440" marT="45720" marB="45720">
                    <a:solidFill>
                      <a:srgbClr val="EDF3FA"/>
                    </a:solidFill>
                  </a:tcPr>
                </a:tc>
                <a:tc>
                  <a:txBody>
                    <a:bodyPr/>
                    <a:lstStyle/>
                    <a:p>
                      <a:r>
                        <a:rPr sz="1725" b="1">
                          <a:solidFill>
                            <a:srgbClr val="131820"/>
                          </a:solidFill>
                        </a:rPr>
                        <a:t>Integrity / access rule</a:t>
                      </a:r>
                    </a:p>
                  </a:txBody>
                  <a:tcPr marL="91440" marR="91440" marT="45720" marB="45720">
                    <a:solidFill>
                      <a:srgbClr val="EDF3FA"/>
                    </a:solidFill>
                  </a:tcPr>
                </a:tc>
              </a:tr>
              <a:tr h="603250">
                <a:tc>
                  <a:txBody>
                    <a:bodyPr/>
                    <a:lstStyle/>
                    <a:p>
                      <a:r>
                        <a:rPr sz="1725" b="0">
                          <a:solidFill>
                            <a:srgbClr val="131820"/>
                          </a:solidFill>
                        </a:rPr>
                        <a:t>Camera</a:t>
                      </a:r>
                    </a:p>
                  </a:txBody>
                  <a:tcPr marL="91440" marR="91440" marT="45720" marB="45720">
                    <a:solidFill>
                      <a:srgbClr val="FFFFFF"/>
                    </a:solidFill>
                  </a:tcPr>
                </a:tc>
                <a:tc>
                  <a:txBody>
                    <a:bodyPr/>
                    <a:lstStyle/>
                    <a:p>
                      <a:r>
                        <a:rPr sz="1725" b="0">
                          <a:solidFill>
                            <a:srgbClr val="131820"/>
                          </a:solidFill>
                        </a:rPr>
                        <a:t>ID, department, GIS, source, capabilities, health</a:t>
                      </a:r>
                    </a:p>
                  </a:txBody>
                  <a:tcPr marL="91440" marR="91440" marT="45720" marB="45720">
                    <a:solidFill>
                      <a:srgbClr val="FFFFFF"/>
                    </a:solidFill>
                  </a:tcPr>
                </a:tc>
                <a:tc>
                  <a:txBody>
                    <a:bodyPr/>
                    <a:lstStyle/>
                    <a:p>
                      <a:r>
                        <a:rPr sz="1725" b="0">
                          <a:solidFill>
                            <a:srgbClr val="131820"/>
                          </a:solidFill>
                        </a:rPr>
                        <a:t>Secrets referenced, never embedded in export</a:t>
                      </a:r>
                    </a:p>
                  </a:txBody>
                  <a:tcPr marL="91440" marR="91440" marT="45720" marB="45720">
                    <a:solidFill>
                      <a:srgbClr val="FFFFFF"/>
                    </a:solidFill>
                  </a:tcPr>
                </a:tc>
              </a:tr>
              <a:tr h="603250">
                <a:tc>
                  <a:txBody>
                    <a:bodyPr/>
                    <a:lstStyle/>
                    <a:p>
                      <a:r>
                        <a:rPr sz="1725" b="0">
                          <a:solidFill>
                            <a:srgbClr val="131820"/>
                          </a:solidFill>
                        </a:rPr>
                        <a:t>Sighting</a:t>
                      </a:r>
                    </a:p>
                  </a:txBody>
                  <a:tcPr marL="91440" marR="91440" marT="45720" marB="45720">
                    <a:solidFill>
                      <a:srgbClr val="FFFFFF"/>
                    </a:solidFill>
                  </a:tcPr>
                </a:tc>
                <a:tc>
                  <a:txBody>
                    <a:bodyPr/>
                    <a:lstStyle/>
                    <a:p>
                      <a:r>
                        <a:rPr sz="1725" b="0">
                          <a:solidFill>
                            <a:srgbClr val="131820"/>
                          </a:solidFill>
                        </a:rPr>
                        <a:t>ID, camera, event time, raw / normalised plate</a:t>
                      </a:r>
                    </a:p>
                  </a:txBody>
                  <a:tcPr marL="91440" marR="91440" marT="45720" marB="45720">
                    <a:solidFill>
                      <a:srgbClr val="FFFFFF"/>
                    </a:solidFill>
                  </a:tcPr>
                </a:tc>
                <a:tc>
                  <a:txBody>
                    <a:bodyPr/>
                    <a:lstStyle/>
                    <a:p>
                      <a:r>
                        <a:rPr sz="1725" b="0">
                          <a:solidFill>
                            <a:srgbClr val="131820"/>
                          </a:solidFill>
                        </a:rPr>
                        <a:t>Confidence, model version, evidence reference</a:t>
                      </a:r>
                    </a:p>
                  </a:txBody>
                  <a:tcPr marL="91440" marR="91440" marT="45720" marB="45720">
                    <a:solidFill>
                      <a:srgbClr val="FFFFFF"/>
                    </a:solidFill>
                  </a:tcPr>
                </a:tc>
              </a:tr>
              <a:tr h="603250">
                <a:tc>
                  <a:txBody>
                    <a:bodyPr/>
                    <a:lstStyle/>
                    <a:p>
                      <a:r>
                        <a:rPr sz="1725" b="0">
                          <a:solidFill>
                            <a:srgbClr val="131820"/>
                          </a:solidFill>
                        </a:rPr>
                        <a:t>Watchlist</a:t>
                      </a:r>
                    </a:p>
                  </a:txBody>
                  <a:tcPr marL="91440" marR="91440" marT="45720" marB="45720">
                    <a:solidFill>
                      <a:srgbClr val="FFFFFF"/>
                    </a:solidFill>
                  </a:tcPr>
                </a:tc>
                <a:tc>
                  <a:txBody>
                    <a:bodyPr/>
                    <a:lstStyle/>
                    <a:p>
                      <a:r>
                        <a:rPr sz="1725" b="0">
                          <a:solidFill>
                            <a:srgbClr val="131820"/>
                          </a:solidFill>
                        </a:rPr>
                        <a:t>Record ID, plate, purpose, priority, validity</a:t>
                      </a:r>
                    </a:p>
                  </a:txBody>
                  <a:tcPr marL="91440" marR="91440" marT="45720" marB="45720">
                    <a:solidFill>
                      <a:srgbClr val="FFFFFF"/>
                    </a:solidFill>
                  </a:tcPr>
                </a:tc>
                <a:tc>
                  <a:txBody>
                    <a:bodyPr/>
                    <a:lstStyle/>
                    <a:p>
                      <a:r>
                        <a:rPr sz="1725" b="0">
                          <a:solidFill>
                            <a:srgbClr val="131820"/>
                          </a:solidFill>
                        </a:rPr>
                        <a:t>Authority, version, access scope and expiry</a:t>
                      </a:r>
                    </a:p>
                  </a:txBody>
                  <a:tcPr marL="91440" marR="91440" marT="45720" marB="45720">
                    <a:solidFill>
                      <a:srgbClr val="FFFFFF"/>
                    </a:solidFill>
                  </a:tcPr>
                </a:tc>
              </a:tr>
              <a:tr h="603250">
                <a:tc>
                  <a:txBody>
                    <a:bodyPr/>
                    <a:lstStyle/>
                    <a:p>
                      <a:r>
                        <a:rPr sz="1725" b="0">
                          <a:solidFill>
                            <a:srgbClr val="131820"/>
                          </a:solidFill>
                        </a:rPr>
                        <a:t>Alert</a:t>
                      </a:r>
                    </a:p>
                  </a:txBody>
                  <a:tcPr marL="91440" marR="91440" marT="45720" marB="45720">
                    <a:solidFill>
                      <a:srgbClr val="FFFFFF"/>
                    </a:solidFill>
                  </a:tcPr>
                </a:tc>
                <a:tc>
                  <a:txBody>
                    <a:bodyPr/>
                    <a:lstStyle/>
                    <a:p>
                      <a:r>
                        <a:rPr sz="1725" b="0">
                          <a:solidFill>
                            <a:srgbClr val="131820"/>
                          </a:solidFill>
                        </a:rPr>
                        <a:t>Sighting IDs, watchlist ID, match type, status</a:t>
                      </a:r>
                    </a:p>
                  </a:txBody>
                  <a:tcPr marL="91440" marR="91440" marT="45720" marB="45720">
                    <a:solidFill>
                      <a:srgbClr val="FFFFFF"/>
                    </a:solidFill>
                  </a:tcPr>
                </a:tc>
                <a:tc>
                  <a:txBody>
                    <a:bodyPr/>
                    <a:lstStyle/>
                    <a:p>
                      <a:r>
                        <a:rPr sz="1725" b="0">
                          <a:solidFill>
                            <a:srgbClr val="131820"/>
                          </a:solidFill>
                        </a:rPr>
                        <a:t>Unique dedup key; reviewer and audit trail</a:t>
                      </a:r>
                    </a:p>
                  </a:txBody>
                  <a:tcPr marL="91440" marR="91440" marT="45720" marB="45720">
                    <a:solidFill>
                      <a:srgbClr val="FFFFFF"/>
                    </a:solidFill>
                  </a:tcPr>
                </a:tc>
              </a:tr>
              <a:tr h="603250">
                <a:tc>
                  <a:txBody>
                    <a:bodyPr/>
                    <a:lstStyle/>
                    <a:p>
                      <a:r>
                        <a:rPr sz="1725" b="0">
                          <a:solidFill>
                            <a:srgbClr val="131820"/>
                          </a:solidFill>
                        </a:rPr>
                        <a:t>Evidence / audit</a:t>
                      </a:r>
                    </a:p>
                  </a:txBody>
                  <a:tcPr marL="91440" marR="91440" marT="45720" marB="45720">
                    <a:solidFill>
                      <a:srgbClr val="FFFFFF"/>
                    </a:solidFill>
                  </a:tcPr>
                </a:tc>
                <a:tc>
                  <a:txBody>
                    <a:bodyPr/>
                    <a:lstStyle/>
                    <a:p>
                      <a:r>
                        <a:rPr sz="1725" b="0">
                          <a:solidFill>
                            <a:srgbClr val="131820"/>
                          </a:solidFill>
                        </a:rPr>
                        <a:t>Clip or crop URI, hash, actor, action, time</a:t>
                      </a:r>
                    </a:p>
                  </a:txBody>
                  <a:tcPr marL="91440" marR="91440" marT="45720" marB="45720">
                    <a:solidFill>
                      <a:srgbClr val="FFFFFF"/>
                    </a:solidFill>
                  </a:tcPr>
                </a:tc>
                <a:tc>
                  <a:txBody>
                    <a:bodyPr/>
                    <a:lstStyle/>
                    <a:p>
                      <a:r>
                        <a:rPr sz="1725" b="0">
                          <a:solidFill>
                            <a:srgbClr val="131820"/>
                          </a:solidFill>
                        </a:rPr>
                        <a:t>Retention policy, export log, access checks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49940072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0D96DD-A5DE-4E22-8E06-9C3D2FAB7788}"/>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3D70DE5E-CC59-463D-8D30-DACE37683D44}"/>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Use a small, replaceable stack</a:t>
            </a:r>
          </a:p>
        </p:txBody>
      </p:sp>
      <p:sp>
        <p:nvSpPr>
          <p:cNvPr id="3" name="">
            <a:extLst xmlns:a="http://schemas.openxmlformats.org/drawingml/2006/main">
              <a:ext uri="{FF2B5EF4-FFF2-40B4-BE49-F238E27FC236}">
                <a16:creationId xmlns:a16="http://schemas.microsoft.com/office/drawing/2014/main" id="{6964F417-B22C-4B72-BABD-E14BDEEB456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Choose familiar components; avoid infrastructure work that delays the first real alert.</a:t>
            </a:r>
          </a:p>
        </p:txBody>
      </p:sp>
      <p:sp>
        <p:nvSpPr>
          <p:cNvPr id="4" name="">
            <a:extLst xmlns:a="http://schemas.openxmlformats.org/drawingml/2006/main">
              <a:ext uri="{FF2B5EF4-FFF2-40B4-BE49-F238E27FC236}">
                <a16:creationId xmlns:a16="http://schemas.microsoft.com/office/drawing/2014/main" id="{E65D21AE-0111-4802-B949-7E6FBB3CFF6E}"/>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55A524C-9835-457A-84DF-E898572C947D}"/>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076EEB09-F5A9-4CA2-928A-20D23E39FD90}"/>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13</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143125"/>
                <a:gridCol w="4953000"/>
                <a:gridCol w="4181475"/>
              </a:tblGrid>
              <a:tr h="603250">
                <a:tc>
                  <a:txBody>
                    <a:bodyPr/>
                    <a:lstStyle/>
                    <a:p>
                      <a:r>
                        <a:rPr sz="1725" b="1">
                          <a:solidFill>
                            <a:srgbClr val="131820"/>
                          </a:solidFill>
                        </a:rPr>
                        <a:t>Layer</a:t>
                      </a:r>
                    </a:p>
                  </a:txBody>
                  <a:tcPr marL="91440" marR="91440" marT="45720" marB="45720">
                    <a:solidFill>
                      <a:srgbClr val="EDF3FA"/>
                    </a:solidFill>
                  </a:tcPr>
                </a:tc>
                <a:tc>
                  <a:txBody>
                    <a:bodyPr/>
                    <a:lstStyle/>
                    <a:p>
                      <a:r>
                        <a:rPr sz="1725" b="1">
                          <a:solidFill>
                            <a:srgbClr val="131820"/>
                          </a:solidFill>
                        </a:rPr>
                        <a:t>Prototype candidate</a:t>
                      </a:r>
                    </a:p>
                  </a:txBody>
                  <a:tcPr marL="91440" marR="91440" marT="45720" marB="45720">
                    <a:solidFill>
                      <a:srgbClr val="EDF3FA"/>
                    </a:solidFill>
                  </a:tcPr>
                </a:tc>
                <a:tc>
                  <a:txBody>
                    <a:bodyPr/>
                    <a:lstStyle/>
                    <a:p>
                      <a:r>
                        <a:rPr sz="1725" b="1">
                          <a:solidFill>
                            <a:srgbClr val="131820"/>
                          </a:solidFill>
                        </a:rPr>
                        <a:t>Reason / guardrail</a:t>
                      </a:r>
                    </a:p>
                  </a:txBody>
                  <a:tcPr marL="91440" marR="91440" marT="45720" marB="45720">
                    <a:solidFill>
                      <a:srgbClr val="EDF3FA"/>
                    </a:solidFill>
                  </a:tcPr>
                </a:tc>
              </a:tr>
              <a:tr h="603250">
                <a:tc>
                  <a:txBody>
                    <a:bodyPr/>
                    <a:lstStyle/>
                    <a:p>
                      <a:r>
                        <a:rPr sz="1725" b="0">
                          <a:solidFill>
                            <a:srgbClr val="131820"/>
                          </a:solidFill>
                        </a:rPr>
                        <a:t>UI + GIS</a:t>
                      </a:r>
                    </a:p>
                  </a:txBody>
                  <a:tcPr marL="91440" marR="91440" marT="45720" marB="45720">
                    <a:solidFill>
                      <a:srgbClr val="FFFFFF"/>
                    </a:solidFill>
                  </a:tcPr>
                </a:tc>
                <a:tc>
                  <a:txBody>
                    <a:bodyPr/>
                    <a:lstStyle/>
                    <a:p>
                      <a:r>
                        <a:rPr sz="1725" b="0">
                          <a:solidFill>
                            <a:srgbClr val="131820"/>
                          </a:solidFill>
                        </a:rPr>
                        <a:t>React + Leaflet</a:t>
                      </a:r>
                    </a:p>
                  </a:txBody>
                  <a:tcPr marL="91440" marR="91440" marT="45720" marB="45720">
                    <a:solidFill>
                      <a:srgbClr val="FFFFFF"/>
                    </a:solidFill>
                  </a:tcPr>
                </a:tc>
                <a:tc>
                  <a:txBody>
                    <a:bodyPr/>
                    <a:lstStyle/>
                    <a:p>
                      <a:r>
                        <a:rPr sz="1725" b="0">
                          <a:solidFill>
                            <a:srgbClr val="131820"/>
                          </a:solidFill>
                        </a:rPr>
                        <a:t>Map, alert queue and searchable history</a:t>
                      </a:r>
                    </a:p>
                  </a:txBody>
                  <a:tcPr marL="91440" marR="91440" marT="45720" marB="45720">
                    <a:solidFill>
                      <a:srgbClr val="FFFFFF"/>
                    </a:solidFill>
                  </a:tcPr>
                </a:tc>
              </a:tr>
              <a:tr h="603250">
                <a:tc>
                  <a:txBody>
                    <a:bodyPr/>
                    <a:lstStyle/>
                    <a:p>
                      <a:r>
                        <a:rPr sz="1725" b="0">
                          <a:solidFill>
                            <a:srgbClr val="131820"/>
                          </a:solidFill>
                        </a:rPr>
                        <a:t>Application API</a:t>
                      </a:r>
                    </a:p>
                  </a:txBody>
                  <a:tcPr marL="91440" marR="91440" marT="45720" marB="45720">
                    <a:solidFill>
                      <a:srgbClr val="FFFFFF"/>
                    </a:solidFill>
                  </a:tcPr>
                </a:tc>
                <a:tc>
                  <a:txBody>
                    <a:bodyPr/>
                    <a:lstStyle/>
                    <a:p>
                      <a:r>
                        <a:rPr sz="1725" b="0">
                          <a:solidFill>
                            <a:srgbClr val="131820"/>
                          </a:solidFill>
                        </a:rPr>
                        <a:t>FastAPI; documented OpenAPI contracts</a:t>
                      </a:r>
                    </a:p>
                  </a:txBody>
                  <a:tcPr marL="91440" marR="91440" marT="45720" marB="45720">
                    <a:solidFill>
                      <a:srgbClr val="FFFFFF"/>
                    </a:solidFill>
                  </a:tcPr>
                </a:tc>
                <a:tc>
                  <a:txBody>
                    <a:bodyPr/>
                    <a:lstStyle/>
                    <a:p>
                      <a:r>
                        <a:rPr sz="1725" b="0">
                          <a:solidFill>
                            <a:srgbClr val="131820"/>
                          </a:solidFill>
                        </a:rPr>
                        <a:t>One modular service initially</a:t>
                      </a:r>
                    </a:p>
                  </a:txBody>
                  <a:tcPr marL="91440" marR="91440" marT="45720" marB="45720">
                    <a:solidFill>
                      <a:srgbClr val="FFFFFF"/>
                    </a:solidFill>
                  </a:tcPr>
                </a:tc>
              </a:tr>
              <a:tr h="603250">
                <a:tc>
                  <a:txBody>
                    <a:bodyPr/>
                    <a:lstStyle/>
                    <a:p>
                      <a:r>
                        <a:rPr sz="1725" b="0">
                          <a:solidFill>
                            <a:srgbClr val="131820"/>
                          </a:solidFill>
                        </a:rPr>
                        <a:t>Stream + ANPR</a:t>
                      </a:r>
                    </a:p>
                  </a:txBody>
                  <a:tcPr marL="91440" marR="91440" marT="45720" marB="45720">
                    <a:solidFill>
                      <a:srgbClr val="FFFFFF"/>
                    </a:solidFill>
                  </a:tcPr>
                </a:tc>
                <a:tc>
                  <a:txBody>
                    <a:bodyPr/>
                    <a:lstStyle/>
                    <a:p>
                      <a:r>
                        <a:rPr sz="1725" b="0">
                          <a:solidFill>
                            <a:srgbClr val="131820"/>
                          </a:solidFill>
                        </a:rPr>
                        <a:t>MediaMTX, FFmpeg; detector + OCR worker</a:t>
                      </a:r>
                    </a:p>
                  </a:txBody>
                  <a:tcPr marL="91440" marR="91440" marT="45720" marB="45720">
                    <a:solidFill>
                      <a:srgbClr val="FFFFFF"/>
                    </a:solidFill>
                  </a:tcPr>
                </a:tc>
                <a:tc>
                  <a:txBody>
                    <a:bodyPr/>
                    <a:lstStyle/>
                    <a:p>
                      <a:r>
                        <a:rPr sz="1725" b="0">
                          <a:solidFill>
                            <a:srgbClr val="131820"/>
                          </a:solidFill>
                        </a:rPr>
                        <a:t>Replaceable models; benchmark decode too</a:t>
                      </a:r>
                    </a:p>
                  </a:txBody>
                  <a:tcPr marL="91440" marR="91440" marT="45720" marB="45720">
                    <a:solidFill>
                      <a:srgbClr val="FFFFFF"/>
                    </a:solidFill>
                  </a:tcPr>
                </a:tc>
              </a:tr>
              <a:tr h="603250">
                <a:tc>
                  <a:txBody>
                    <a:bodyPr/>
                    <a:lstStyle/>
                    <a:p>
                      <a:r>
                        <a:rPr sz="1725" b="0">
                          <a:solidFill>
                            <a:srgbClr val="131820"/>
                          </a:solidFill>
                        </a:rPr>
                        <a:t>Data + delivery</a:t>
                      </a:r>
                    </a:p>
                  </a:txBody>
                  <a:tcPr marL="91440" marR="91440" marT="45720" marB="45720">
                    <a:solidFill>
                      <a:srgbClr val="FFFFFF"/>
                    </a:solidFill>
                  </a:tcPr>
                </a:tc>
                <a:tc>
                  <a:txBody>
                    <a:bodyPr/>
                    <a:lstStyle/>
                    <a:p>
                      <a:r>
                        <a:rPr sz="1725" b="0">
                          <a:solidFill>
                            <a:srgbClr val="131820"/>
                          </a:solidFill>
                        </a:rPr>
                        <a:t>PostgreSQL / PostGIS + durable outbox</a:t>
                      </a:r>
                    </a:p>
                  </a:txBody>
                  <a:tcPr marL="91440" marR="91440" marT="45720" marB="45720">
                    <a:solidFill>
                      <a:srgbClr val="FFFFFF"/>
                    </a:solidFill>
                  </a:tcPr>
                </a:tc>
                <a:tc>
                  <a:txBody>
                    <a:bodyPr/>
                    <a:lstStyle/>
                    <a:p>
                      <a:r>
                        <a:rPr sz="1725" b="0">
                          <a:solidFill>
                            <a:srgbClr val="131820"/>
                          </a:solidFill>
                        </a:rPr>
                        <a:t>Reliable events without Kafka on day one</a:t>
                      </a:r>
                    </a:p>
                  </a:txBody>
                  <a:tcPr marL="91440" marR="91440" marT="45720" marB="45720">
                    <a:solidFill>
                      <a:srgbClr val="FFFFFF"/>
                    </a:solidFill>
                  </a:tcPr>
                </a:tc>
              </a:tr>
              <a:tr h="603250">
                <a:tc>
                  <a:txBody>
                    <a:bodyPr/>
                    <a:lstStyle/>
                    <a:p>
                      <a:r>
                        <a:rPr sz="1725" b="0">
                          <a:solidFill>
                            <a:srgbClr val="131820"/>
                          </a:solidFill>
                        </a:rPr>
                        <a:t>Evidence + deploy</a:t>
                      </a:r>
                    </a:p>
                  </a:txBody>
                  <a:tcPr marL="91440" marR="91440" marT="45720" marB="45720">
                    <a:solidFill>
                      <a:srgbClr val="FFFFFF"/>
                    </a:solidFill>
                  </a:tcPr>
                </a:tc>
                <a:tc>
                  <a:txBody>
                    <a:bodyPr/>
                    <a:lstStyle/>
                    <a:p>
                      <a:r>
                        <a:rPr sz="1725" b="0">
                          <a:solidFill>
                            <a:srgbClr val="131820"/>
                          </a:solidFill>
                        </a:rPr>
                        <a:t>Local protected files; S3-compatible later; Compose</a:t>
                      </a:r>
                    </a:p>
                  </a:txBody>
                  <a:tcPr marL="91440" marR="91440" marT="45720" marB="45720">
                    <a:solidFill>
                      <a:srgbClr val="FFFFFF"/>
                    </a:solidFill>
                  </a:tcPr>
                </a:tc>
                <a:tc>
                  <a:txBody>
                    <a:bodyPr/>
                    <a:lstStyle/>
                    <a:p>
                      <a:r>
                        <a:rPr sz="1725" b="0">
                          <a:solidFill>
                            <a:srgbClr val="131820"/>
                          </a:solidFill>
                        </a:rPr>
                        <a:t>Pinned versions, secrets, backup and metrics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020889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D6C68F5-88A4-405E-B31C-B0FF30FEC78A}"/>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5723A3A9-B4ED-43FD-A69A-D431EFDB299B}"/>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Use representative watchlists now</a:t>
            </a:r>
          </a:p>
        </p:txBody>
      </p:sp>
      <p:sp>
        <p:nvSpPr>
          <p:cNvPr id="3" name="">
            <a:extLst xmlns:a="http://schemas.openxmlformats.org/drawingml/2006/main">
              <a:ext uri="{FF2B5EF4-FFF2-40B4-BE49-F238E27FC236}">
                <a16:creationId xmlns:a16="http://schemas.microsoft.com/office/drawing/2014/main" id="{02AE3B4E-2C1B-40CC-BBAB-AE305677CDB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Real government integration depends on official authorisation and technical access.</a:t>
            </a:r>
          </a:p>
        </p:txBody>
      </p:sp>
      <p:sp>
        <p:nvSpPr>
          <p:cNvPr id="4" name="">
            <a:extLst xmlns:a="http://schemas.openxmlformats.org/drawingml/2006/main">
              <a:ext uri="{FF2B5EF4-FFF2-40B4-BE49-F238E27FC236}">
                <a16:creationId xmlns:a16="http://schemas.microsoft.com/office/drawing/2014/main" id="{68DAE51C-D9BA-4D16-9150-651F81AB2E9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135BEC1-38EB-4AE2-A135-E6536ED05A2D}"/>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4301232B-70B4-46EA-AD2B-7B0A69F2947C}"/>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14</a:t>
            </a:r>
          </a:p>
        </p:txBody>
      </p:sp>
      <p:sp>
        <p:nvSpPr>
          <p:cNvPr id="7" name="">
            <a:extLst xmlns:a="http://schemas.openxmlformats.org/drawingml/2006/main">
              <a:ext uri="{FF2B5EF4-FFF2-40B4-BE49-F238E27FC236}">
                <a16:creationId xmlns:a16="http://schemas.microsoft.com/office/drawing/2014/main" id="{A7670AA4-7982-482E-A489-9F5D27A68D12}"/>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Working prototype</a:t>
            </a:r>
          </a:p>
        </p:txBody>
      </p:sp>
      <p:sp>
        <p:nvSpPr>
          <p:cNvPr id="8" name="">
            <a:extLst xmlns:a="http://schemas.openxmlformats.org/drawingml/2006/main">
              <a:ext uri="{FF2B5EF4-FFF2-40B4-BE49-F238E27FC236}">
                <a16:creationId xmlns:a16="http://schemas.microsoft.com/office/drawing/2014/main" id="{935B6301-081A-4794-B4CA-C0238E9356CB}"/>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Create synthetic vehicle watchlist records with validity, source and priority.</a:t>
            </a:r>
          </a:p>
        </p:txBody>
      </p:sp>
      <p:sp>
        <p:nvSpPr>
          <p:cNvPr id="9" name="">
            <a:extLst xmlns:a="http://schemas.openxmlformats.org/drawingml/2006/main">
              <a:ext uri="{FF2B5EF4-FFF2-40B4-BE49-F238E27FC236}">
                <a16:creationId xmlns:a16="http://schemas.microsoft.com/office/drawing/2014/main" id="{9D69EA55-C22B-45BF-BFD8-6AA1A61C2C87}"/>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Run actual matching against detections; keep the backend operational.</a:t>
            </a:r>
          </a:p>
        </p:txBody>
      </p:sp>
      <p:sp>
        <p:nvSpPr>
          <p:cNvPr id="10" name="">
            <a:extLst xmlns:a="http://schemas.openxmlformats.org/drawingml/2006/main">
              <a:ext uri="{FF2B5EF4-FFF2-40B4-BE49-F238E27FC236}">
                <a16:creationId xmlns:a16="http://schemas.microsoft.com/office/drawing/2014/main" id="{F70B1316-1FB3-4477-B876-3C77766D3F24}"/>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Clearly label synthetic data and recorded footage in demonstrations.</a:t>
            </a:r>
          </a:p>
        </p:txBody>
      </p:sp>
      <p:sp>
        <p:nvSpPr>
          <p:cNvPr id="11" name="">
            <a:extLst xmlns:a="http://schemas.openxmlformats.org/drawingml/2006/main">
              <a:ext uri="{FF2B5EF4-FFF2-40B4-BE49-F238E27FC236}">
                <a16:creationId xmlns:a16="http://schemas.microsoft.com/office/drawing/2014/main" id="{82C30A04-441F-41B1-A68E-490B34B56852}"/>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Future integration boundary</a:t>
            </a:r>
          </a:p>
        </p:txBody>
      </p:sp>
      <p:sp>
        <p:nvSpPr>
          <p:cNvPr id="12" name="">
            <a:extLst xmlns:a="http://schemas.openxmlformats.org/drawingml/2006/main">
              <a:ext uri="{FF2B5EF4-FFF2-40B4-BE49-F238E27FC236}">
                <a16:creationId xmlns:a16="http://schemas.microsoft.com/office/drawing/2014/main" id="{A204E813-DA6D-4DBC-8DD4-A074CFECFC0B}"/>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Use approved adapters for VAHAN, SARATHI and eGujCop when granted access.</a:t>
            </a:r>
          </a:p>
        </p:txBody>
      </p:sp>
      <p:sp>
        <p:nvSpPr>
          <p:cNvPr id="13" name="">
            <a:extLst xmlns:a="http://schemas.openxmlformats.org/drawingml/2006/main">
              <a:ext uri="{FF2B5EF4-FFF2-40B4-BE49-F238E27FC236}">
                <a16:creationId xmlns:a16="http://schemas.microsoft.com/office/drawing/2014/main" id="{8EBB8D9F-F840-47A0-8899-F022C12B5397}"/>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Treat AFIS / NAFIS as fingerprint-related systems, outside direct ANPR matching.</a:t>
            </a:r>
          </a:p>
        </p:txBody>
      </p:sp>
      <p:sp>
        <p:nvSpPr>
          <p:cNvPr id="14" name="">
            <a:extLst xmlns:a="http://schemas.openxmlformats.org/drawingml/2006/main">
              <a:ext uri="{FF2B5EF4-FFF2-40B4-BE49-F238E27FC236}">
                <a16:creationId xmlns:a16="http://schemas.microsoft.com/office/drawing/2014/main" id="{14842E8D-7CC0-4E1D-A9F2-E1603B0CAF76}"/>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Do not scrape official portals or claim live integration from a mock endpoint.</a:t>
            </a:r>
          </a:p>
        </p:txBody>
      </p:sp>
    </p:spTree>
    <p:extLst>
      <p:ext uri="{BB962C8B-B14F-4D97-AF65-F5344CB8AC3E}">
        <p14:creationId xmlns:p14="http://schemas.microsoft.com/office/powerpoint/2010/main" val="12426970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FA157CF-C06F-4F16-86E9-FAC3BDDC0D0F}"/>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0B42EF54-58B1-4A0A-92A3-602AF92C0279}"/>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Build security into the first release</a:t>
            </a:r>
          </a:p>
        </p:txBody>
      </p:sp>
      <p:sp>
        <p:nvSpPr>
          <p:cNvPr id="3" name="">
            <a:extLst xmlns:a="http://schemas.openxmlformats.org/drawingml/2006/main">
              <a:ext uri="{FF2B5EF4-FFF2-40B4-BE49-F238E27FC236}">
                <a16:creationId xmlns:a16="http://schemas.microsoft.com/office/drawing/2014/main" id="{8C66040D-C084-44F1-B7C7-61AFFB47BFC5}"/>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Limit access to authorised cameras, records and evidence for a defined purpose.</a:t>
            </a:r>
          </a:p>
        </p:txBody>
      </p:sp>
      <p:sp>
        <p:nvSpPr>
          <p:cNvPr id="4" name="">
            <a:extLst xmlns:a="http://schemas.openxmlformats.org/drawingml/2006/main">
              <a:ext uri="{FF2B5EF4-FFF2-40B4-BE49-F238E27FC236}">
                <a16:creationId xmlns:a16="http://schemas.microsoft.com/office/drawing/2014/main" id="{7933079A-7EDD-4B29-BEA4-CC774E9D3372}"/>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D3E2260-4BF9-4FAA-9087-013DC0026B3F}"/>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AB672478-6436-420D-91AC-C6215A109855}"/>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15</a:t>
            </a:r>
          </a:p>
        </p:txBody>
      </p:sp>
      <p:sp>
        <p:nvSpPr>
          <p:cNvPr id="7" name="">
            <a:extLst xmlns:a="http://schemas.openxmlformats.org/drawingml/2006/main">
              <a:ext uri="{FF2B5EF4-FFF2-40B4-BE49-F238E27FC236}">
                <a16:creationId xmlns:a16="http://schemas.microsoft.com/office/drawing/2014/main" id="{C09DA8F3-5E87-44A4-9360-26CE12748255}"/>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Access and network controls</a:t>
            </a:r>
          </a:p>
        </p:txBody>
      </p:sp>
      <p:sp>
        <p:nvSpPr>
          <p:cNvPr id="8" name="">
            <a:extLst xmlns:a="http://schemas.openxmlformats.org/drawingml/2006/main">
              <a:ext uri="{FF2B5EF4-FFF2-40B4-BE49-F238E27FC236}">
                <a16:creationId xmlns:a16="http://schemas.microsoft.com/office/drawing/2014/main" id="{91EE48E8-7293-404E-8660-4BC027CA724D}"/>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Separate operator, reviewer and administrator roles; enforce department scope.</a:t>
            </a:r>
          </a:p>
        </p:txBody>
      </p:sp>
      <p:sp>
        <p:nvSpPr>
          <p:cNvPr id="9" name="">
            <a:extLst xmlns:a="http://schemas.openxmlformats.org/drawingml/2006/main">
              <a:ext uri="{FF2B5EF4-FFF2-40B4-BE49-F238E27FC236}">
                <a16:creationId xmlns:a16="http://schemas.microsoft.com/office/drawing/2014/main" id="{16688B66-6A4E-4750-9F1E-7EEE2B595EDC}"/>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Use TLS / approved private connectivity; keep camera credentials server-side.</a:t>
            </a:r>
          </a:p>
        </p:txBody>
      </p:sp>
      <p:sp>
        <p:nvSpPr>
          <p:cNvPr id="10" name="">
            <a:extLst xmlns:a="http://schemas.openxmlformats.org/drawingml/2006/main">
              <a:ext uri="{FF2B5EF4-FFF2-40B4-BE49-F238E27FC236}">
                <a16:creationId xmlns:a16="http://schemas.microsoft.com/office/drawing/2014/main" id="{FF560DFB-F6EC-4983-B400-F2EA22ABDF62}"/>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Allowlist source destinations; block arbitrary URL fetching and public camera exposure.</a:t>
            </a:r>
          </a:p>
        </p:txBody>
      </p:sp>
      <p:sp>
        <p:nvSpPr>
          <p:cNvPr id="11" name="">
            <a:extLst xmlns:a="http://schemas.openxmlformats.org/drawingml/2006/main">
              <a:ext uri="{FF2B5EF4-FFF2-40B4-BE49-F238E27FC236}">
                <a16:creationId xmlns:a16="http://schemas.microsoft.com/office/drawing/2014/main" id="{F3D679F6-A7A9-4E3C-978D-7558354C24A4}"/>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Data and operational controls</a:t>
            </a:r>
          </a:p>
        </p:txBody>
      </p:sp>
      <p:sp>
        <p:nvSpPr>
          <p:cNvPr id="12" name="">
            <a:extLst xmlns:a="http://schemas.openxmlformats.org/drawingml/2006/main">
              <a:ext uri="{FF2B5EF4-FFF2-40B4-BE49-F238E27FC236}">
                <a16:creationId xmlns:a16="http://schemas.microsoft.com/office/drawing/2014/main" id="{1379FCE4-BC97-436F-AECD-97A67146887F}"/>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Log searches, exports and watchlist changes; protect evidence and audit records.</a:t>
            </a:r>
          </a:p>
        </p:txBody>
      </p:sp>
      <p:sp>
        <p:nvSpPr>
          <p:cNvPr id="13" name="">
            <a:extLst xmlns:a="http://schemas.openxmlformats.org/drawingml/2006/main">
              <a:ext uri="{FF2B5EF4-FFF2-40B4-BE49-F238E27FC236}">
                <a16:creationId xmlns:a16="http://schemas.microsoft.com/office/drawing/2014/main" id="{6EBCC675-6210-4B3E-AC1C-F7406F6E2A16}"/>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Use authorised footage, minimise data, and set approved retention and deletion.</a:t>
            </a:r>
          </a:p>
        </p:txBody>
      </p:sp>
      <p:sp>
        <p:nvSpPr>
          <p:cNvPr id="14" name="">
            <a:extLst xmlns:a="http://schemas.openxmlformats.org/drawingml/2006/main">
              <a:ext uri="{FF2B5EF4-FFF2-40B4-BE49-F238E27FC236}">
                <a16:creationId xmlns:a16="http://schemas.microsoft.com/office/drawing/2014/main" id="{3C150D71-1F13-4AA9-8B4D-4336F1C427E4}"/>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Require human verification; redact unnecessary faces and plates in shared demos.</a:t>
            </a:r>
          </a:p>
        </p:txBody>
      </p:sp>
    </p:spTree>
    <p:extLst>
      <p:ext uri="{BB962C8B-B14F-4D97-AF65-F5344CB8AC3E}">
        <p14:creationId xmlns:p14="http://schemas.microsoft.com/office/powerpoint/2010/main" val="6470901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ACAAD1B-0D15-4D55-BDE2-D2AE56D078B0}"/>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31C510D3-E0A3-43AC-BF01-17F3501A70A4}"/>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Survive outages and bad inputs</a:t>
            </a:r>
          </a:p>
        </p:txBody>
      </p:sp>
      <p:sp>
        <p:nvSpPr>
          <p:cNvPr id="3" name="">
            <a:extLst xmlns:a="http://schemas.openxmlformats.org/drawingml/2006/main">
              <a:ext uri="{FF2B5EF4-FFF2-40B4-BE49-F238E27FC236}">
                <a16:creationId xmlns:a16="http://schemas.microsoft.com/office/drawing/2014/main" id="{B7A4A0C1-D47C-4426-B78E-73F7848219F4}"/>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Reliability features are valuable only when the team demonstrates the failure and recovery.</a:t>
            </a:r>
          </a:p>
        </p:txBody>
      </p:sp>
      <p:sp>
        <p:nvSpPr>
          <p:cNvPr id="4" name="">
            <a:extLst xmlns:a="http://schemas.openxmlformats.org/drawingml/2006/main">
              <a:ext uri="{FF2B5EF4-FFF2-40B4-BE49-F238E27FC236}">
                <a16:creationId xmlns:a16="http://schemas.microsoft.com/office/drawing/2014/main" id="{62943236-845F-4128-97A0-093871F1971B}"/>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33C5A8F3-5157-4FBB-8A1A-D4D7D6F7637C}"/>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790A7A86-F282-42F0-8604-05CDFB585E3E}"/>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16</a:t>
            </a:r>
          </a:p>
        </p:txBody>
      </p:sp>
      <p:sp>
        <p:nvSpPr>
          <p:cNvPr id="7" name="">
            <a:extLst xmlns:a="http://schemas.openxmlformats.org/drawingml/2006/main">
              <a:ext uri="{FF2B5EF4-FFF2-40B4-BE49-F238E27FC236}">
                <a16:creationId xmlns:a16="http://schemas.microsoft.com/office/drawing/2014/main" id="{DA3EE7E6-9AA1-47A7-99FF-555680217EC4}"/>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Recover without losing control</a:t>
            </a:r>
          </a:p>
        </p:txBody>
      </p:sp>
      <p:sp>
        <p:nvSpPr>
          <p:cNvPr id="8" name="">
            <a:extLst xmlns:a="http://schemas.openxmlformats.org/drawingml/2006/main">
              <a:ext uri="{FF2B5EF4-FFF2-40B4-BE49-F238E27FC236}">
                <a16:creationId xmlns:a16="http://schemas.microsoft.com/office/drawing/2014/main" id="{E4D63F19-248B-483B-98D3-B4798C29AD86}"/>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Reconnect with bounded retries; show degraded or offline camera status.</a:t>
            </a:r>
          </a:p>
        </p:txBody>
      </p:sp>
      <p:sp>
        <p:nvSpPr>
          <p:cNvPr id="9" name="">
            <a:extLst xmlns:a="http://schemas.openxmlformats.org/drawingml/2006/main">
              <a:ext uri="{FF2B5EF4-FFF2-40B4-BE49-F238E27FC236}">
                <a16:creationId xmlns:a16="http://schemas.microsoft.com/office/drawing/2014/main" id="{3CCB9361-76A5-4317-9142-E1CB3D0D30A5}"/>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Spool permitted events locally; replay with stable IDs after connectivity returns.</a:t>
            </a:r>
          </a:p>
        </p:txBody>
      </p:sp>
      <p:sp>
        <p:nvSpPr>
          <p:cNvPr id="10" name="">
            <a:extLst xmlns:a="http://schemas.openxmlformats.org/drawingml/2006/main">
              <a:ext uri="{FF2B5EF4-FFF2-40B4-BE49-F238E27FC236}">
                <a16:creationId xmlns:a16="http://schemas.microsoft.com/office/drawing/2014/main" id="{43B194B9-B216-43BD-9B08-D5318AD22279}"/>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Expire stale cached watchlists and mark delayed alerts as delayed.</a:t>
            </a:r>
          </a:p>
        </p:txBody>
      </p:sp>
      <p:sp>
        <p:nvSpPr>
          <p:cNvPr id="11" name="">
            <a:extLst xmlns:a="http://schemas.openxmlformats.org/drawingml/2006/main">
              <a:ext uri="{FF2B5EF4-FFF2-40B4-BE49-F238E27FC236}">
                <a16:creationId xmlns:a16="http://schemas.microsoft.com/office/drawing/2014/main" id="{C7C0F5E3-B1CF-4D0B-87AD-20C41C6497C0}"/>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Prove the behaviour</a:t>
            </a:r>
          </a:p>
        </p:txBody>
      </p:sp>
      <p:sp>
        <p:nvSpPr>
          <p:cNvPr id="12" name="">
            <a:extLst xmlns:a="http://schemas.openxmlformats.org/drawingml/2006/main">
              <a:ext uri="{FF2B5EF4-FFF2-40B4-BE49-F238E27FC236}">
                <a16:creationId xmlns:a16="http://schemas.microsoft.com/office/drawing/2014/main" id="{3D1CA2E6-5752-4862-9177-89678417E67D}"/>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Disconnect a feed, interrupt central connectivity, then restart a worker.</a:t>
            </a:r>
          </a:p>
        </p:txBody>
      </p:sp>
      <p:sp>
        <p:nvSpPr>
          <p:cNvPr id="13" name="">
            <a:extLst xmlns:a="http://schemas.openxmlformats.org/drawingml/2006/main">
              <a:ext uri="{FF2B5EF4-FFF2-40B4-BE49-F238E27FC236}">
                <a16:creationId xmlns:a16="http://schemas.microsoft.com/office/drawing/2014/main" id="{40F0DBC1-C6C9-4189-B1E0-7A4699E95D99}"/>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Check recovery time, queue growth, duplicate alerts and missing events.</a:t>
            </a:r>
          </a:p>
        </p:txBody>
      </p:sp>
      <p:sp>
        <p:nvSpPr>
          <p:cNvPr id="14" name="">
            <a:extLst xmlns:a="http://schemas.openxmlformats.org/drawingml/2006/main">
              <a:ext uri="{FF2B5EF4-FFF2-40B4-BE49-F238E27FC236}">
                <a16:creationId xmlns:a16="http://schemas.microsoft.com/office/drawing/2014/main" id="{E8EF9F35-6624-4155-9CC7-AF27F964C7D2}"/>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Test revoked access, expired evidence and database restoration.</a:t>
            </a:r>
          </a:p>
        </p:txBody>
      </p:sp>
    </p:spTree>
    <p:extLst>
      <p:ext uri="{BB962C8B-B14F-4D97-AF65-F5344CB8AC3E}">
        <p14:creationId xmlns:p14="http://schemas.microsoft.com/office/powerpoint/2010/main" val="55481635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7F36C5D-D9A6-43C4-96B5-9511272D8E6B}"/>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185EE049-1039-430E-806F-81C4A6984CF9}"/>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Measure success before adding scope</a:t>
            </a:r>
          </a:p>
        </p:txBody>
      </p:sp>
      <p:sp>
        <p:nvSpPr>
          <p:cNvPr id="3" name="">
            <a:extLst xmlns:a="http://schemas.openxmlformats.org/drawingml/2006/main">
              <a:ext uri="{FF2B5EF4-FFF2-40B4-BE49-F238E27FC236}">
                <a16:creationId xmlns:a16="http://schemas.microsoft.com/office/drawing/2014/main" id="{BE757D97-1FB7-4CF2-BB72-1E20A39D2685}"/>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Internal acceptance targets below are proposed; they are not official thresholds or results.</a:t>
            </a:r>
          </a:p>
        </p:txBody>
      </p:sp>
      <p:sp>
        <p:nvSpPr>
          <p:cNvPr id="4" name="">
            <a:extLst xmlns:a="http://schemas.openxmlformats.org/drawingml/2006/main">
              <a:ext uri="{FF2B5EF4-FFF2-40B4-BE49-F238E27FC236}">
                <a16:creationId xmlns:a16="http://schemas.microsoft.com/office/drawing/2014/main" id="{51E1A93F-199A-4EC1-9099-1E76521C41B3}"/>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399A966-5B19-492D-A7E6-603B130A0255}"/>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396BBDAA-D95E-4D8E-993B-66E3FEDD4F65}"/>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17</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286000"/>
                <a:gridCol w="4191000"/>
                <a:gridCol w="4800600"/>
              </a:tblGrid>
              <a:tr h="603250">
                <a:tc>
                  <a:txBody>
                    <a:bodyPr/>
                    <a:lstStyle/>
                    <a:p>
                      <a:r>
                        <a:rPr sz="1725" b="1">
                          <a:solidFill>
                            <a:srgbClr val="131820"/>
                          </a:solidFill>
                        </a:rPr>
                        <a:t>Check</a:t>
                      </a:r>
                    </a:p>
                  </a:txBody>
                  <a:tcPr marL="91440" marR="91440" marT="45720" marB="45720">
                    <a:solidFill>
                      <a:srgbClr val="EDF3FA"/>
                    </a:solidFill>
                  </a:tcPr>
                </a:tc>
                <a:tc>
                  <a:txBody>
                    <a:bodyPr/>
                    <a:lstStyle/>
                    <a:p>
                      <a:r>
                        <a:rPr sz="1725" b="1">
                          <a:solidFill>
                            <a:srgbClr val="131820"/>
                          </a:solidFill>
                        </a:rPr>
                        <a:t>Proposed gate</a:t>
                      </a:r>
                    </a:p>
                  </a:txBody>
                  <a:tcPr marL="91440" marR="91440" marT="45720" marB="45720">
                    <a:solidFill>
                      <a:srgbClr val="EDF3FA"/>
                    </a:solidFill>
                  </a:tcPr>
                </a:tc>
                <a:tc>
                  <a:txBody>
                    <a:bodyPr/>
                    <a:lstStyle/>
                    <a:p>
                      <a:r>
                        <a:rPr sz="1725" b="1">
                          <a:solidFill>
                            <a:srgbClr val="131820"/>
                          </a:solidFill>
                        </a:rPr>
                        <a:t>Measurement</a:t>
                      </a:r>
                    </a:p>
                  </a:txBody>
                  <a:tcPr marL="91440" marR="91440" marT="45720" marB="45720">
                    <a:solidFill>
                      <a:srgbClr val="EDF3FA"/>
                    </a:solidFill>
                  </a:tcPr>
                </a:tc>
              </a:tr>
              <a:tr h="603250">
                <a:tc>
                  <a:txBody>
                    <a:bodyPr/>
                    <a:lstStyle/>
                    <a:p>
                      <a:r>
                        <a:rPr sz="1725" b="0">
                          <a:solidFill>
                            <a:srgbClr val="131820"/>
                          </a:solidFill>
                        </a:rPr>
                        <a:t>Feed coverage</a:t>
                      </a:r>
                    </a:p>
                  </a:txBody>
                  <a:tcPr marL="91440" marR="91440" marT="45720" marB="45720">
                    <a:solidFill>
                      <a:srgbClr val="FFFFFF"/>
                    </a:solidFill>
                  </a:tcPr>
                </a:tc>
                <a:tc>
                  <a:txBody>
                    <a:bodyPr/>
                    <a:lstStyle/>
                    <a:p>
                      <a:r>
                        <a:rPr sz="1725" b="0">
                          <a:solidFill>
                            <a:srgbClr val="131820"/>
                          </a:solidFill>
                        </a:rPr>
                        <a:t>All supplied accessible feeds onboarded</a:t>
                      </a:r>
                    </a:p>
                  </a:txBody>
                  <a:tcPr marL="91440" marR="91440" marT="45720" marB="45720">
                    <a:solidFill>
                      <a:srgbClr val="FFFFFF"/>
                    </a:solidFill>
                  </a:tcPr>
                </a:tc>
                <a:tc>
                  <a:txBody>
                    <a:bodyPr/>
                    <a:lstStyle/>
                    <a:p>
                      <a:r>
                        <a:rPr sz="1725" b="0">
                          <a:solidFill>
                            <a:srgbClr val="131820"/>
                          </a:solidFill>
                        </a:rPr>
                        <a:t>~50-camera ledger; blockers and active count</a:t>
                      </a:r>
                    </a:p>
                  </a:txBody>
                  <a:tcPr marL="91440" marR="91440" marT="45720" marB="45720">
                    <a:solidFill>
                      <a:srgbClr val="FFFFFF"/>
                    </a:solidFill>
                  </a:tcPr>
                </a:tc>
              </a:tr>
              <a:tr h="603250">
                <a:tc>
                  <a:txBody>
                    <a:bodyPr/>
                    <a:lstStyle/>
                    <a:p>
                      <a:r>
                        <a:rPr sz="1725" b="0">
                          <a:solidFill>
                            <a:srgbClr val="131820"/>
                          </a:solidFill>
                        </a:rPr>
                        <a:t>Alert latency</a:t>
                      </a:r>
                    </a:p>
                  </a:txBody>
                  <a:tcPr marL="91440" marR="91440" marT="45720" marB="45720">
                    <a:solidFill>
                      <a:srgbClr val="FFFFFF"/>
                    </a:solidFill>
                  </a:tcPr>
                </a:tc>
                <a:tc>
                  <a:txBody>
                    <a:bodyPr/>
                    <a:lstStyle/>
                    <a:p>
                      <a:r>
                        <a:rPr sz="1725" b="0">
                          <a:solidFill>
                            <a:srgbClr val="131820"/>
                          </a:solidFill>
                        </a:rPr>
                        <a:t>p95 ≤5 seconds on nominated hardware</a:t>
                      </a:r>
                    </a:p>
                  </a:txBody>
                  <a:tcPr marL="91440" marR="91440" marT="45720" marB="45720">
                    <a:solidFill>
                      <a:srgbClr val="FFFFFF"/>
                    </a:solidFill>
                  </a:tcPr>
                </a:tc>
                <a:tc>
                  <a:txBody>
                    <a:bodyPr/>
                    <a:lstStyle/>
                    <a:p>
                      <a:r>
                        <a:rPr sz="1725" b="0">
                          <a:solidFill>
                            <a:srgbClr val="131820"/>
                          </a:solidFill>
                        </a:rPr>
                        <a:t>Readable frame time → stored/displayed alert</a:t>
                      </a:r>
                    </a:p>
                  </a:txBody>
                  <a:tcPr marL="91440" marR="91440" marT="45720" marB="45720">
                    <a:solidFill>
                      <a:srgbClr val="FFFFFF"/>
                    </a:solidFill>
                  </a:tcPr>
                </a:tc>
              </a:tr>
              <a:tr h="603250">
                <a:tc>
                  <a:txBody>
                    <a:bodyPr/>
                    <a:lstStyle/>
                    <a:p>
                      <a:r>
                        <a:rPr sz="1725" b="0">
                          <a:solidFill>
                            <a:srgbClr val="131820"/>
                          </a:solidFill>
                        </a:rPr>
                        <a:t>ANPR quality</a:t>
                      </a:r>
                    </a:p>
                  </a:txBody>
                  <a:tcPr marL="91440" marR="91440" marT="45720" marB="45720">
                    <a:solidFill>
                      <a:srgbClr val="FFFFFF"/>
                    </a:solidFill>
                  </a:tcPr>
                </a:tc>
                <a:tc>
                  <a:txBody>
                    <a:bodyPr/>
                    <a:lstStyle/>
                    <a:p>
                      <a:r>
                        <a:rPr sz="1725" b="0">
                          <a:solidFill>
                            <a:srgbClr val="131820"/>
                          </a:solidFill>
                        </a:rPr>
                        <a:t>≥95% alert precision; ≥85% passage recall</a:t>
                      </a:r>
                    </a:p>
                  </a:txBody>
                  <a:tcPr marL="91440" marR="91440" marT="45720" marB="45720">
                    <a:solidFill>
                      <a:srgbClr val="FFFFFF"/>
                    </a:solidFill>
                  </a:tcPr>
                </a:tc>
                <a:tc>
                  <a:txBody>
                    <a:bodyPr/>
                    <a:lstStyle/>
                    <a:p>
                      <a:r>
                        <a:rPr sz="1725" b="0">
                          <a:solidFill>
                            <a:srgbClr val="131820"/>
                          </a:solidFill>
                        </a:rPr>
                        <a:t>Held-out events; readable subset + overall</a:t>
                      </a:r>
                    </a:p>
                  </a:txBody>
                  <a:tcPr marL="91440" marR="91440" marT="45720" marB="45720">
                    <a:solidFill>
                      <a:srgbClr val="FFFFFF"/>
                    </a:solidFill>
                  </a:tcPr>
                </a:tc>
              </a:tr>
              <a:tr h="603250">
                <a:tc>
                  <a:txBody>
                    <a:bodyPr/>
                    <a:lstStyle/>
                    <a:p>
                      <a:r>
                        <a:rPr sz="1725" b="0">
                          <a:solidFill>
                            <a:srgbClr val="131820"/>
                          </a:solidFill>
                        </a:rPr>
                        <a:t>Runtime stability</a:t>
                      </a:r>
                    </a:p>
                  </a:txBody>
                  <a:tcPr marL="91440" marR="91440" marT="45720" marB="45720">
                    <a:solidFill>
                      <a:srgbClr val="FFFFFF"/>
                    </a:solidFill>
                  </a:tcPr>
                </a:tc>
                <a:tc>
                  <a:txBody>
                    <a:bodyPr/>
                    <a:lstStyle/>
                    <a:p>
                      <a:r>
                        <a:rPr sz="1725" b="0">
                          <a:solidFill>
                            <a:srgbClr val="131820"/>
                          </a:solidFill>
                        </a:rPr>
                        <a:t>60 minutes at required concurrency</a:t>
                      </a:r>
                    </a:p>
                  </a:txBody>
                  <a:tcPr marL="91440" marR="91440" marT="45720" marB="45720">
                    <a:solidFill>
                      <a:srgbClr val="FFFFFF"/>
                    </a:solidFill>
                  </a:tcPr>
                </a:tc>
                <a:tc>
                  <a:txBody>
                    <a:bodyPr/>
                    <a:lstStyle/>
                    <a:p>
                      <a:r>
                        <a:rPr sz="1725" b="0">
                          <a:solidFill>
                            <a:srgbClr val="131820"/>
                          </a:solidFill>
                        </a:rPr>
                        <a:t>Queue delay, frame drops, CPU/GPU and RAM</a:t>
                      </a:r>
                    </a:p>
                  </a:txBody>
                  <a:tcPr marL="91440" marR="91440" marT="45720" marB="45720">
                    <a:solidFill>
                      <a:srgbClr val="FFFFFF"/>
                    </a:solidFill>
                  </a:tcPr>
                </a:tc>
              </a:tr>
              <a:tr h="603250">
                <a:tc>
                  <a:txBody>
                    <a:bodyPr/>
                    <a:lstStyle/>
                    <a:p>
                      <a:r>
                        <a:rPr sz="1725" b="0">
                          <a:solidFill>
                            <a:srgbClr val="131820"/>
                          </a:solidFill>
                        </a:rPr>
                        <a:t>Recovery + audit</a:t>
                      </a:r>
                    </a:p>
                  </a:txBody>
                  <a:tcPr marL="91440" marR="91440" marT="45720" marB="45720">
                    <a:solidFill>
                      <a:srgbClr val="FFFFFF"/>
                    </a:solidFill>
                  </a:tcPr>
                </a:tc>
                <a:tc>
                  <a:txBody>
                    <a:bodyPr/>
                    <a:lstStyle/>
                    <a:p>
                      <a:r>
                        <a:rPr sz="1725" b="0">
                          <a:solidFill>
                            <a:srgbClr val="131820"/>
                          </a:solidFill>
                        </a:rPr>
                        <a:t>No duplicate alert after event replay</a:t>
                      </a:r>
                    </a:p>
                  </a:txBody>
                  <a:tcPr marL="91440" marR="91440" marT="45720" marB="45720">
                    <a:solidFill>
                      <a:srgbClr val="FFFFFF"/>
                    </a:solidFill>
                  </a:tcPr>
                </a:tc>
                <a:tc>
                  <a:txBody>
                    <a:bodyPr/>
                    <a:lstStyle/>
                    <a:p>
                      <a:r>
                        <a:rPr sz="1725" b="0">
                          <a:solidFill>
                            <a:srgbClr val="131820"/>
                          </a:solidFill>
                        </a:rPr>
                        <a:t>Outage test, permissions and export trace</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7213631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D480DB2-E6F3-411F-BB41-3FB50EE63FAC}"/>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A3E36C96-BEDF-4CBB-A6E6-39B7532940D8}"/>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Plan capacity from measurements</a:t>
            </a:r>
          </a:p>
        </p:txBody>
      </p:sp>
      <p:sp>
        <p:nvSpPr>
          <p:cNvPr id="3" name="">
            <a:extLst xmlns:a="http://schemas.openxmlformats.org/drawingml/2006/main">
              <a:ext uri="{FF2B5EF4-FFF2-40B4-BE49-F238E27FC236}">
                <a16:creationId xmlns:a16="http://schemas.microsoft.com/office/drawing/2014/main" id="{D82B157B-5DBA-46B2-8B48-B16FF74DA5E9}"/>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Illustrative arithmetic only. 2 Mb/s per camera; decimal units; no overhead or replication.</a:t>
            </a:r>
          </a:p>
        </p:txBody>
      </p:sp>
      <p:sp>
        <p:nvSpPr>
          <p:cNvPr id="4" name="">
            <a:extLst xmlns:a="http://schemas.openxmlformats.org/drawingml/2006/main">
              <a:ext uri="{FF2B5EF4-FFF2-40B4-BE49-F238E27FC236}">
                <a16:creationId xmlns:a16="http://schemas.microsoft.com/office/drawing/2014/main" id="{6B0B6A52-8712-4000-BD9B-A701929B4BFF}"/>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041BE2-E4F5-41AB-9F94-6FD5121B8422}"/>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DFB8327B-8BBD-4CC5-8A86-15EDB3D68C0D}"/>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18</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4953000"/>
                <a:gridCol w="2857500"/>
                <a:gridCol w="3467100"/>
              </a:tblGrid>
              <a:tr h="723900">
                <a:tc>
                  <a:txBody>
                    <a:bodyPr/>
                    <a:lstStyle/>
                    <a:p>
                      <a:r>
                        <a:rPr sz="1725" b="1">
                          <a:solidFill>
                            <a:srgbClr val="131820"/>
                          </a:solidFill>
                        </a:rPr>
                        <a:t>Load assumption</a:t>
                      </a:r>
                    </a:p>
                  </a:txBody>
                  <a:tcPr marL="91440" marR="91440" marT="45720" marB="45720">
                    <a:solidFill>
                      <a:srgbClr val="EDF3FA"/>
                    </a:solidFill>
                  </a:tcPr>
                </a:tc>
                <a:tc>
                  <a:txBody>
                    <a:bodyPr/>
                    <a:lstStyle/>
                    <a:p>
                      <a:r>
                        <a:rPr sz="1725" b="1">
                          <a:solidFill>
                            <a:srgbClr val="131820"/>
                          </a:solidFill>
                        </a:rPr>
                        <a:t>50 cameras</a:t>
                      </a:r>
                    </a:p>
                  </a:txBody>
                  <a:tcPr marL="91440" marR="91440" marT="45720" marB="45720">
                    <a:solidFill>
                      <a:srgbClr val="EDF3FA"/>
                    </a:solidFill>
                  </a:tcPr>
                </a:tc>
                <a:tc>
                  <a:txBody>
                    <a:bodyPr/>
                    <a:lstStyle/>
                    <a:p>
                      <a:r>
                        <a:rPr sz="1725" b="1">
                          <a:solidFill>
                            <a:srgbClr val="131820"/>
                          </a:solidFill>
                        </a:rPr>
                        <a:t>80,000 cameras</a:t>
                      </a:r>
                    </a:p>
                  </a:txBody>
                  <a:tcPr marL="91440" marR="91440" marT="45720" marB="45720">
                    <a:solidFill>
                      <a:srgbClr val="EDF3FA"/>
                    </a:solidFill>
                  </a:tcPr>
                </a:tc>
              </a:tr>
              <a:tr h="723900">
                <a:tc>
                  <a:txBody>
                    <a:bodyPr/>
                    <a:lstStyle/>
                    <a:p>
                      <a:r>
                        <a:rPr sz="1725" b="0">
                          <a:solidFill>
                            <a:srgbClr val="131820"/>
                          </a:solidFill>
                        </a:rPr>
                        <a:t>Continuous source video</a:t>
                      </a:r>
                    </a:p>
                  </a:txBody>
                  <a:tcPr marL="91440" marR="91440" marT="45720" marB="45720">
                    <a:solidFill>
                      <a:srgbClr val="FFFFFF"/>
                    </a:solidFill>
                  </a:tcPr>
                </a:tc>
                <a:tc>
                  <a:txBody>
                    <a:bodyPr/>
                    <a:lstStyle/>
                    <a:p>
                      <a:r>
                        <a:rPr sz="1725" b="0">
                          <a:solidFill>
                            <a:srgbClr val="131820"/>
                          </a:solidFill>
                        </a:rPr>
                        <a:t>100 Mb/s</a:t>
                      </a:r>
                    </a:p>
                  </a:txBody>
                  <a:tcPr marL="91440" marR="91440" marT="45720" marB="45720">
                    <a:solidFill>
                      <a:srgbClr val="FFFFFF"/>
                    </a:solidFill>
                  </a:tcPr>
                </a:tc>
                <a:tc>
                  <a:txBody>
                    <a:bodyPr/>
                    <a:lstStyle/>
                    <a:p>
                      <a:r>
                        <a:rPr sz="1725" b="0">
                          <a:solidFill>
                            <a:srgbClr val="131820"/>
                          </a:solidFill>
                        </a:rPr>
                        <a:t>160 Gb/s</a:t>
                      </a:r>
                    </a:p>
                  </a:txBody>
                  <a:tcPr marL="91440" marR="91440" marT="45720" marB="45720">
                    <a:solidFill>
                      <a:srgbClr val="FFFFFF"/>
                    </a:solidFill>
                  </a:tcPr>
                </a:tc>
              </a:tr>
              <a:tr h="723900">
                <a:tc>
                  <a:txBody>
                    <a:bodyPr/>
                    <a:lstStyle/>
                    <a:p>
                      <a:r>
                        <a:rPr sz="1725" b="0">
                          <a:solidFill>
                            <a:srgbClr val="131820"/>
                          </a:solidFill>
                        </a:rPr>
                        <a:t>Full video per day</a:t>
                      </a:r>
                    </a:p>
                  </a:txBody>
                  <a:tcPr marL="91440" marR="91440" marT="45720" marB="45720">
                    <a:solidFill>
                      <a:srgbClr val="FFFFFF"/>
                    </a:solidFill>
                  </a:tcPr>
                </a:tc>
                <a:tc>
                  <a:txBody>
                    <a:bodyPr/>
                    <a:lstStyle/>
                    <a:p>
                      <a:r>
                        <a:rPr sz="1725" b="0">
                          <a:solidFill>
                            <a:srgbClr val="131820"/>
                          </a:solidFill>
                        </a:rPr>
                        <a:t>1.08 TB</a:t>
                      </a:r>
                    </a:p>
                  </a:txBody>
                  <a:tcPr marL="91440" marR="91440" marT="45720" marB="45720">
                    <a:solidFill>
                      <a:srgbClr val="FFFFFF"/>
                    </a:solidFill>
                  </a:tcPr>
                </a:tc>
                <a:tc>
                  <a:txBody>
                    <a:bodyPr/>
                    <a:lstStyle/>
                    <a:p>
                      <a:r>
                        <a:rPr sz="1725" b="0">
                          <a:solidFill>
                            <a:srgbClr val="131820"/>
                          </a:solidFill>
                        </a:rPr>
                        <a:t>1.728 PB</a:t>
                      </a:r>
                    </a:p>
                  </a:txBody>
                  <a:tcPr marL="91440" marR="91440" marT="45720" marB="45720">
                    <a:solidFill>
                      <a:srgbClr val="FFFFFF"/>
                    </a:solidFill>
                  </a:tcPr>
                </a:tc>
              </a:tr>
              <a:tr h="723900">
                <a:tc>
                  <a:txBody>
                    <a:bodyPr/>
                    <a:lstStyle/>
                    <a:p>
                      <a:r>
                        <a:rPr sz="1725" b="0">
                          <a:solidFill>
                            <a:srgbClr val="131820"/>
                          </a:solidFill>
                        </a:rPr>
                        <a:t>15-day full video archive</a:t>
                      </a:r>
                    </a:p>
                  </a:txBody>
                  <a:tcPr marL="91440" marR="91440" marT="45720" marB="45720">
                    <a:solidFill>
                      <a:srgbClr val="FFFFFF"/>
                    </a:solidFill>
                  </a:tcPr>
                </a:tc>
                <a:tc>
                  <a:txBody>
                    <a:bodyPr/>
                    <a:lstStyle/>
                    <a:p>
                      <a:r>
                        <a:rPr sz="1725" b="0">
                          <a:solidFill>
                            <a:srgbClr val="131820"/>
                          </a:solidFill>
                        </a:rPr>
                        <a:t>16.2 TB</a:t>
                      </a:r>
                    </a:p>
                  </a:txBody>
                  <a:tcPr marL="91440" marR="91440" marT="45720" marB="45720">
                    <a:solidFill>
                      <a:srgbClr val="FFFFFF"/>
                    </a:solidFill>
                  </a:tcPr>
                </a:tc>
                <a:tc>
                  <a:txBody>
                    <a:bodyPr/>
                    <a:lstStyle/>
                    <a:p>
                      <a:r>
                        <a:rPr sz="1725" b="0">
                          <a:solidFill>
                            <a:srgbClr val="131820"/>
                          </a:solidFill>
                        </a:rPr>
                        <a:t>25.92 PB</a:t>
                      </a:r>
                    </a:p>
                  </a:txBody>
                  <a:tcPr marL="91440" marR="91440" marT="45720" marB="45720">
                    <a:solidFill>
                      <a:srgbClr val="FFFFFF"/>
                    </a:solidFill>
                  </a:tcPr>
                </a:tc>
              </a:tr>
              <a:tr h="723900">
                <a:tc>
                  <a:txBody>
                    <a:bodyPr/>
                    <a:lstStyle/>
                    <a:p>
                      <a:r>
                        <a:rPr sz="1725" b="0">
                          <a:solidFill>
                            <a:srgbClr val="131820"/>
                          </a:solidFill>
                        </a:rPr>
                        <a:t>Metadata: 0.2 events/s/camera</a:t>
                      </a:r>
                    </a:p>
                    <a:p>
                      <a:r>
                        <a:rPr sz="1725" b="0">
                          <a:solidFill>
                            <a:srgbClr val="131820"/>
                          </a:solidFill>
                        </a:rPr>
                        <a:t>2 kB per event</a:t>
                      </a:r>
                    </a:p>
                  </a:txBody>
                  <a:tcPr marL="91440" marR="91440" marT="45720" marB="45720">
                    <a:solidFill>
                      <a:srgbClr val="FFFFFF"/>
                    </a:solidFill>
                  </a:tcPr>
                </a:tc>
                <a:tc>
                  <a:txBody>
                    <a:bodyPr/>
                    <a:lstStyle/>
                    <a:p>
                      <a:r>
                        <a:rPr sz="1725" b="0">
                          <a:solidFill>
                            <a:srgbClr val="131820"/>
                          </a:solidFill>
                        </a:rPr>
                        <a:t>20 kB/s; 1.728 GB/day</a:t>
                      </a:r>
                    </a:p>
                  </a:txBody>
                  <a:tcPr marL="91440" marR="91440" marT="45720" marB="45720">
                    <a:solidFill>
                      <a:srgbClr val="FFFFFF"/>
                    </a:solidFill>
                  </a:tcPr>
                </a:tc>
                <a:tc>
                  <a:txBody>
                    <a:bodyPr/>
                    <a:lstStyle/>
                    <a:p>
                      <a:r>
                        <a:rPr sz="1725" b="0">
                          <a:solidFill>
                            <a:srgbClr val="131820"/>
                          </a:solidFill>
                        </a:rPr>
                        <a:t>32 MB/s; 2.765 TB/day</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2689971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325904-BA4C-4FEF-9B4D-3F7382F12CAB}"/>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70A16AFB-A66D-4061-A199-6ED4FCBE34D0}"/>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Budget evidence and compute separately</a:t>
            </a:r>
          </a:p>
        </p:txBody>
      </p:sp>
      <p:sp>
        <p:nvSpPr>
          <p:cNvPr id="3" name="">
            <a:extLst xmlns:a="http://schemas.openxmlformats.org/drawingml/2006/main">
              <a:ext uri="{FF2B5EF4-FFF2-40B4-BE49-F238E27FC236}">
                <a16:creationId xmlns:a16="http://schemas.microsoft.com/office/drawing/2014/main" id="{83F5821A-2492-487B-AA19-A534FD048909}"/>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Selective retention is cheaper than copying everything, but still needs explicit limits.</a:t>
            </a:r>
          </a:p>
        </p:txBody>
      </p:sp>
      <p:sp>
        <p:nvSpPr>
          <p:cNvPr id="4" name="">
            <a:extLst xmlns:a="http://schemas.openxmlformats.org/drawingml/2006/main">
              <a:ext uri="{FF2B5EF4-FFF2-40B4-BE49-F238E27FC236}">
                <a16:creationId xmlns:a16="http://schemas.microsoft.com/office/drawing/2014/main" id="{279B3F88-07C2-4B96-AA7B-3E3FBB286506}"/>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926D87-6D29-4004-9566-32A211F04EEE}"/>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A67A415C-F602-485B-AF67-CC987C87B7BA}"/>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19</a:t>
            </a:r>
          </a:p>
        </p:txBody>
      </p:sp>
      <p:sp>
        <p:nvSpPr>
          <p:cNvPr id="7" name="">
            <a:extLst xmlns:a="http://schemas.openxmlformats.org/drawingml/2006/main">
              <a:ext uri="{FF2B5EF4-FFF2-40B4-BE49-F238E27FC236}">
                <a16:creationId xmlns:a16="http://schemas.microsoft.com/office/drawing/2014/main" id="{08804115-D90E-45C0-AB36-FA8A9DFCD3D4}"/>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Evidence and retention</a:t>
            </a:r>
          </a:p>
        </p:txBody>
      </p:sp>
      <p:sp>
        <p:nvSpPr>
          <p:cNvPr id="8" name="">
            <a:extLst xmlns:a="http://schemas.openxmlformats.org/drawingml/2006/main">
              <a:ext uri="{FF2B5EF4-FFF2-40B4-BE49-F238E27FC236}">
                <a16:creationId xmlns:a16="http://schemas.microsoft.com/office/drawing/2014/main" id="{5BDC3430-6913-40ED-AD72-AD482EDBE8E6}"/>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Example: a 10-second clip at 2 Mb/s is approximately 2.5 MB.</a:t>
            </a:r>
          </a:p>
        </p:txBody>
      </p:sp>
      <p:sp>
        <p:nvSpPr>
          <p:cNvPr id="9" name="">
            <a:extLst xmlns:a="http://schemas.openxmlformats.org/drawingml/2006/main">
              <a:ext uri="{FF2B5EF4-FFF2-40B4-BE49-F238E27FC236}">
                <a16:creationId xmlns:a16="http://schemas.microsoft.com/office/drawing/2014/main" id="{7CADF6E8-EE18-46B4-9AE3-54A045F9965A}"/>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100,000 clips/day → 250 GB/day; 30 days → 7.5 TB before replicas.</a:t>
            </a:r>
          </a:p>
        </p:txBody>
      </p:sp>
      <p:sp>
        <p:nvSpPr>
          <p:cNvPr id="10" name="">
            <a:extLst xmlns:a="http://schemas.openxmlformats.org/drawingml/2006/main">
              <a:ext uri="{FF2B5EF4-FFF2-40B4-BE49-F238E27FC236}">
                <a16:creationId xmlns:a16="http://schemas.microsoft.com/office/drawing/2014/main" id="{3E9D1B34-1253-4DCA-B1B9-92559F56367E}"/>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Prototype policy: hot metadata and incident crops; local full-video retention persists.</a:t>
            </a:r>
          </a:p>
        </p:txBody>
      </p:sp>
      <p:sp>
        <p:nvSpPr>
          <p:cNvPr id="11" name="">
            <a:extLst xmlns:a="http://schemas.openxmlformats.org/drawingml/2006/main">
              <a:ext uri="{FF2B5EF4-FFF2-40B4-BE49-F238E27FC236}">
                <a16:creationId xmlns:a16="http://schemas.microsoft.com/office/drawing/2014/main" id="{A4876A32-F526-4484-BE0A-E414C2C9C6F2}"/>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Compute sizing</a:t>
            </a:r>
          </a:p>
        </p:txBody>
      </p:sp>
      <p:sp>
        <p:nvSpPr>
          <p:cNvPr id="12" name="">
            <a:extLst xmlns:a="http://schemas.openxmlformats.org/drawingml/2006/main">
              <a:ext uri="{FF2B5EF4-FFF2-40B4-BE49-F238E27FC236}">
                <a16:creationId xmlns:a16="http://schemas.microsoft.com/office/drawing/2014/main" id="{E09E65AE-BB8D-479C-B747-7D0074F76A91}"/>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Measure full pipeline throughput: decode, detection, OCR, matching and persistence.</a:t>
            </a:r>
          </a:p>
        </p:txBody>
      </p:sp>
      <p:sp>
        <p:nvSpPr>
          <p:cNvPr id="13" name="">
            <a:extLst xmlns:a="http://schemas.openxmlformats.org/drawingml/2006/main">
              <a:ext uri="{FF2B5EF4-FFF2-40B4-BE49-F238E27FC236}">
                <a16:creationId xmlns:a16="http://schemas.microsoft.com/office/drawing/2014/main" id="{18152798-4C94-4CA6-A8B5-671C24AFE9F0}"/>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Workers = ceiling(required frames/s ÷ safe measured frames/s per worker).</a:t>
            </a:r>
          </a:p>
        </p:txBody>
      </p:sp>
      <p:sp>
        <p:nvSpPr>
          <p:cNvPr id="14" name="">
            <a:extLst xmlns:a="http://schemas.openxmlformats.org/drawingml/2006/main">
              <a:ext uri="{FF2B5EF4-FFF2-40B4-BE49-F238E27FC236}">
                <a16:creationId xmlns:a16="http://schemas.microsoft.com/office/drawing/2014/main" id="{C62B7879-CF54-4B60-8A6A-6CBA894FF8E3}"/>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2 FPS is a hypothesis. Calibrate from dwell time and passage recall; do not promise one GPU.</a:t>
            </a:r>
          </a:p>
        </p:txBody>
      </p:sp>
    </p:spTree>
    <p:extLst>
      <p:ext uri="{BB962C8B-B14F-4D97-AF65-F5344CB8AC3E}">
        <p14:creationId xmlns:p14="http://schemas.microsoft.com/office/powerpoint/2010/main" val="188315119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40E6D99-90C0-4D70-871E-87E5F9411201}"/>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B3BFA16C-462A-4983-B0BA-25B356F29C33}"/>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Make cost assumptions auditable</a:t>
            </a:r>
          </a:p>
        </p:txBody>
      </p:sp>
      <p:sp>
        <p:nvSpPr>
          <p:cNvPr id="3" name="">
            <a:extLst xmlns:a="http://schemas.openxmlformats.org/drawingml/2006/main">
              <a:ext uri="{FF2B5EF4-FFF2-40B4-BE49-F238E27FC236}">
                <a16:creationId xmlns:a16="http://schemas.microsoft.com/office/drawing/2014/main" id="{7C514CB6-CB8F-4558-952C-C23C8BB3CAE0}"/>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Illustrative 14-day cost arithmetic, not the four-day build; replace rates with approved quotes.</a:t>
            </a:r>
          </a:p>
        </p:txBody>
      </p:sp>
      <p:sp>
        <p:nvSpPr>
          <p:cNvPr id="4" name="">
            <a:extLst xmlns:a="http://schemas.openxmlformats.org/drawingml/2006/main">
              <a:ext uri="{FF2B5EF4-FFF2-40B4-BE49-F238E27FC236}">
                <a16:creationId xmlns:a16="http://schemas.microsoft.com/office/drawing/2014/main" id="{FFEB8D23-9E3B-4678-8756-F2B2B50485E4}"/>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A1A6142-F258-43DB-9EAC-6237066B7466}"/>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1360A91A-3946-4099-8210-B91C5D1F0062}"/>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20</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5143500"/>
                <a:gridCol w="3238500"/>
                <a:gridCol w="2895600"/>
              </a:tblGrid>
              <a:tr h="603250">
                <a:tc>
                  <a:txBody>
                    <a:bodyPr/>
                    <a:lstStyle/>
                    <a:p>
                      <a:r>
                        <a:rPr sz="1725" b="1">
                          <a:solidFill>
                            <a:srgbClr val="131820"/>
                          </a:solidFill>
                        </a:rPr>
                        <a:t>Item / assumption</a:t>
                      </a:r>
                    </a:p>
                  </a:txBody>
                  <a:tcPr marL="91440" marR="91440" marT="45720" marB="45720">
                    <a:solidFill>
                      <a:srgbClr val="EDF3FA"/>
                    </a:solidFill>
                  </a:tcPr>
                </a:tc>
                <a:tc>
                  <a:txBody>
                    <a:bodyPr/>
                    <a:lstStyle/>
                    <a:p>
                      <a:r>
                        <a:rPr sz="1725" b="1">
                          <a:solidFill>
                            <a:srgbClr val="131820"/>
                          </a:solidFill>
                        </a:rPr>
                        <a:t>Calculation</a:t>
                      </a:r>
                    </a:p>
                  </a:txBody>
                  <a:tcPr marL="91440" marR="91440" marT="45720" marB="45720">
                    <a:solidFill>
                      <a:srgbClr val="EDF3FA"/>
                    </a:solidFill>
                  </a:tcPr>
                </a:tc>
                <a:tc>
                  <a:txBody>
                    <a:bodyPr/>
                    <a:lstStyle/>
                    <a:p>
                      <a:r>
                        <a:rPr sz="1725" b="1">
                          <a:solidFill>
                            <a:srgbClr val="131820"/>
                          </a:solidFill>
                        </a:rPr>
                        <a:t>Illustrative amount</a:t>
                      </a:r>
                    </a:p>
                  </a:txBody>
                  <a:tcPr marL="91440" marR="91440" marT="45720" marB="45720">
                    <a:solidFill>
                      <a:srgbClr val="EDF3FA"/>
                    </a:solidFill>
                  </a:tcPr>
                </a:tc>
              </a:tr>
              <a:tr h="603250">
                <a:tc>
                  <a:txBody>
                    <a:bodyPr/>
                    <a:lstStyle/>
                    <a:p>
                      <a:r>
                        <a:rPr sz="1725" b="0">
                          <a:solidFill>
                            <a:srgbClr val="131820"/>
                          </a:solidFill>
                        </a:rPr>
                        <a:t>2 GPU workers; ₹100 / worker-hour</a:t>
                      </a:r>
                    </a:p>
                  </a:txBody>
                  <a:tcPr marL="91440" marR="91440" marT="45720" marB="45720">
                    <a:solidFill>
                      <a:srgbClr val="FFFFFF"/>
                    </a:solidFill>
                  </a:tcPr>
                </a:tc>
                <a:tc>
                  <a:txBody>
                    <a:bodyPr/>
                    <a:lstStyle/>
                    <a:p>
                      <a:r>
                        <a:rPr sz="1725" b="0">
                          <a:solidFill>
                            <a:srgbClr val="131820"/>
                          </a:solidFill>
                        </a:rPr>
                        <a:t>2 × 24 × 14 × ₹100</a:t>
                      </a:r>
                    </a:p>
                  </a:txBody>
                  <a:tcPr marL="91440" marR="91440" marT="45720" marB="45720">
                    <a:solidFill>
                      <a:srgbClr val="FFFFFF"/>
                    </a:solidFill>
                  </a:tcPr>
                </a:tc>
                <a:tc>
                  <a:txBody>
                    <a:bodyPr/>
                    <a:lstStyle/>
                    <a:p>
                      <a:r>
                        <a:rPr sz="1725" b="0">
                          <a:solidFill>
                            <a:srgbClr val="131820"/>
                          </a:solidFill>
                        </a:rPr>
                        <a:t>₹67,200</a:t>
                      </a:r>
                    </a:p>
                  </a:txBody>
                  <a:tcPr marL="91440" marR="91440" marT="45720" marB="45720">
                    <a:solidFill>
                      <a:srgbClr val="FFFFFF"/>
                    </a:solidFill>
                  </a:tcPr>
                </a:tc>
              </a:tr>
              <a:tr h="603250">
                <a:tc>
                  <a:txBody>
                    <a:bodyPr/>
                    <a:lstStyle/>
                    <a:p>
                      <a:r>
                        <a:rPr sz="1725" b="0">
                          <a:solidFill>
                            <a:srgbClr val="131820"/>
                          </a:solidFill>
                        </a:rPr>
                        <a:t>Application / database allowance</a:t>
                      </a:r>
                    </a:p>
                  </a:txBody>
                  <a:tcPr marL="91440" marR="91440" marT="45720" marB="45720">
                    <a:solidFill>
                      <a:srgbClr val="FFFFFF"/>
                    </a:solidFill>
                  </a:tcPr>
                </a:tc>
                <a:tc>
                  <a:txBody>
                    <a:bodyPr/>
                    <a:lstStyle/>
                    <a:p>
                      <a:r>
                        <a:rPr sz="1725" b="0">
                          <a:solidFill>
                            <a:srgbClr val="131820"/>
                          </a:solidFill>
                        </a:rPr>
                        <a:t>Assumed fixed allowance</a:t>
                      </a:r>
                    </a:p>
                  </a:txBody>
                  <a:tcPr marL="91440" marR="91440" marT="45720" marB="45720">
                    <a:solidFill>
                      <a:srgbClr val="FFFFFF"/>
                    </a:solidFill>
                  </a:tcPr>
                </a:tc>
                <a:tc>
                  <a:txBody>
                    <a:bodyPr/>
                    <a:lstStyle/>
                    <a:p>
                      <a:r>
                        <a:rPr sz="1725" b="0">
                          <a:solidFill>
                            <a:srgbClr val="131820"/>
                          </a:solidFill>
                        </a:rPr>
                        <a:t>₹10,000</a:t>
                      </a:r>
                    </a:p>
                  </a:txBody>
                  <a:tcPr marL="91440" marR="91440" marT="45720" marB="45720">
                    <a:solidFill>
                      <a:srgbClr val="FFFFFF"/>
                    </a:solidFill>
                  </a:tcPr>
                </a:tc>
              </a:tr>
              <a:tr h="603250">
                <a:tc>
                  <a:txBody>
                    <a:bodyPr/>
                    <a:lstStyle/>
                    <a:p>
                      <a:r>
                        <a:rPr sz="1725" b="0">
                          <a:solidFill>
                            <a:srgbClr val="131820"/>
                          </a:solidFill>
                        </a:rPr>
                        <a:t>Storage / monitoring allowance</a:t>
                      </a:r>
                    </a:p>
                  </a:txBody>
                  <a:tcPr marL="91440" marR="91440" marT="45720" marB="45720">
                    <a:solidFill>
                      <a:srgbClr val="FFFFFF"/>
                    </a:solidFill>
                  </a:tcPr>
                </a:tc>
                <a:tc>
                  <a:txBody>
                    <a:bodyPr/>
                    <a:lstStyle/>
                    <a:p>
                      <a:r>
                        <a:rPr sz="1725" b="0">
                          <a:solidFill>
                            <a:srgbClr val="131820"/>
                          </a:solidFill>
                        </a:rPr>
                        <a:t>Assumed fixed allowance</a:t>
                      </a:r>
                    </a:p>
                  </a:txBody>
                  <a:tcPr marL="91440" marR="91440" marT="45720" marB="45720">
                    <a:solidFill>
                      <a:srgbClr val="FFFFFF"/>
                    </a:solidFill>
                  </a:tcPr>
                </a:tc>
                <a:tc>
                  <a:txBody>
                    <a:bodyPr/>
                    <a:lstStyle/>
                    <a:p>
                      <a:r>
                        <a:rPr sz="1725" b="0">
                          <a:solidFill>
                            <a:srgbClr val="131820"/>
                          </a:solidFill>
                        </a:rPr>
                        <a:t>₹5,000</a:t>
                      </a:r>
                    </a:p>
                  </a:txBody>
                  <a:tcPr marL="91440" marR="91440" marT="45720" marB="45720">
                    <a:solidFill>
                      <a:srgbClr val="FFFFFF"/>
                    </a:solidFill>
                  </a:tcPr>
                </a:tc>
              </a:tr>
              <a:tr h="603250">
                <a:tc>
                  <a:txBody>
                    <a:bodyPr/>
                    <a:lstStyle/>
                    <a:p>
                      <a:r>
                        <a:rPr sz="1725" b="0">
                          <a:solidFill>
                            <a:srgbClr val="131820"/>
                          </a:solidFill>
                        </a:rPr>
                        <a:t>Contingency</a:t>
                      </a:r>
                    </a:p>
                  </a:txBody>
                  <a:tcPr marL="91440" marR="91440" marT="45720" marB="45720">
                    <a:solidFill>
                      <a:srgbClr val="FFFFFF"/>
                    </a:solidFill>
                  </a:tcPr>
                </a:tc>
                <a:tc>
                  <a:txBody>
                    <a:bodyPr/>
                    <a:lstStyle/>
                    <a:p>
                      <a:r>
                        <a:rPr sz="1725" b="0">
                          <a:solidFill>
                            <a:srgbClr val="131820"/>
                          </a:solidFill>
                        </a:rPr>
                        <a:t>20% of ₹82,200</a:t>
                      </a:r>
                    </a:p>
                  </a:txBody>
                  <a:tcPr marL="91440" marR="91440" marT="45720" marB="45720">
                    <a:solidFill>
                      <a:srgbClr val="FFFFFF"/>
                    </a:solidFill>
                  </a:tcPr>
                </a:tc>
                <a:tc>
                  <a:txBody>
                    <a:bodyPr/>
                    <a:lstStyle/>
                    <a:p>
                      <a:r>
                        <a:rPr sz="1725" b="0">
                          <a:solidFill>
                            <a:srgbClr val="131820"/>
                          </a:solidFill>
                        </a:rPr>
                        <a:t>₹16,440</a:t>
                      </a:r>
                    </a:p>
                  </a:txBody>
                  <a:tcPr marL="91440" marR="91440" marT="45720" marB="45720">
                    <a:solidFill>
                      <a:srgbClr val="FFFFFF"/>
                    </a:solidFill>
                  </a:tcPr>
                </a:tc>
              </a:tr>
              <a:tr h="603250">
                <a:tc>
                  <a:txBody>
                    <a:bodyPr/>
                    <a:lstStyle/>
                    <a:p>
                      <a:r>
                        <a:rPr sz="1725" b="0">
                          <a:solidFill>
                            <a:srgbClr val="131820"/>
                          </a:solidFill>
                        </a:rPr>
                        <a:t>Scenario total</a:t>
                      </a:r>
                    </a:p>
                  </a:txBody>
                  <a:tcPr marL="91440" marR="91440" marT="45720" marB="45720">
                    <a:solidFill>
                      <a:srgbClr val="FFFFFF"/>
                    </a:solidFill>
                  </a:tcPr>
                </a:tc>
                <a:tc>
                  <a:txBody>
                    <a:bodyPr/>
                    <a:lstStyle/>
                    <a:p>
                      <a:r>
                        <a:rPr sz="1725" b="0">
                          <a:solidFill>
                            <a:srgbClr val="131820"/>
                          </a:solidFill>
                        </a:rPr>
                        <a:t>Excludes staff, tax, network / egress</a:t>
                      </a:r>
                    </a:p>
                  </a:txBody>
                  <a:tcPr marL="91440" marR="91440" marT="45720" marB="45720">
                    <a:solidFill>
                      <a:srgbClr val="FFFFFF"/>
                    </a:solidFill>
                  </a:tcPr>
                </a:tc>
                <a:tc>
                  <a:txBody>
                    <a:bodyPr/>
                    <a:lstStyle/>
                    <a:p>
                      <a:r>
                        <a:rPr sz="1725" b="0">
                          <a:solidFill>
                            <a:srgbClr val="131820"/>
                          </a:solidFill>
                        </a:rPr>
                        <a:t>₹98,640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95151906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C7DB910-559B-45E1-A0CA-744D8776FFF9}"/>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BD07B506-53DC-443C-A5B0-401578BF3725}"/>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Get the departmental facts on day one</a:t>
            </a:r>
          </a:p>
        </p:txBody>
      </p:sp>
      <p:sp>
        <p:nvSpPr>
          <p:cNvPr id="3" name="">
            <a:extLst xmlns:a="http://schemas.openxmlformats.org/drawingml/2006/main">
              <a:ext uri="{FF2B5EF4-FFF2-40B4-BE49-F238E27FC236}">
                <a16:creationId xmlns:a16="http://schemas.microsoft.com/office/drawing/2014/main" id="{4232B4B4-2B12-4E3B-A5AB-BDF21EF42F13}"/>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Use one onboarding sheet per department, plus a camera-level capability ledger.</a:t>
            </a:r>
          </a:p>
        </p:txBody>
      </p:sp>
      <p:sp>
        <p:nvSpPr>
          <p:cNvPr id="4" name="">
            <a:extLst xmlns:a="http://schemas.openxmlformats.org/drawingml/2006/main">
              <a:ext uri="{FF2B5EF4-FFF2-40B4-BE49-F238E27FC236}">
                <a16:creationId xmlns:a16="http://schemas.microsoft.com/office/drawing/2014/main" id="{AA043822-AB8C-4191-8BDD-442E2DDA368D}"/>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9170FE1-80D0-4B01-B830-1DD137589F39}"/>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3AC7B7ED-59A1-4727-80AD-11F3BB5F48E8}"/>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21</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476500"/>
                <a:gridCol w="5000625"/>
                <a:gridCol w="3800475"/>
              </a:tblGrid>
              <a:tr h="603250">
                <a:tc>
                  <a:txBody>
                    <a:bodyPr/>
                    <a:lstStyle/>
                    <a:p>
                      <a:r>
                        <a:rPr sz="1725" b="1">
                          <a:solidFill>
                            <a:srgbClr val="131820"/>
                          </a:solidFill>
                        </a:rPr>
                        <a:t>Ask for</a:t>
                      </a:r>
                    </a:p>
                  </a:txBody>
                  <a:tcPr marL="91440" marR="91440" marT="45720" marB="45720">
                    <a:solidFill>
                      <a:srgbClr val="EDF3FA"/>
                    </a:solidFill>
                  </a:tcPr>
                </a:tc>
                <a:tc>
                  <a:txBody>
                    <a:bodyPr/>
                    <a:lstStyle/>
                    <a:p>
                      <a:r>
                        <a:rPr sz="1725" b="1">
                          <a:solidFill>
                            <a:srgbClr val="131820"/>
                          </a:solidFill>
                        </a:rPr>
                        <a:t>Minimum information</a:t>
                      </a:r>
                    </a:p>
                  </a:txBody>
                  <a:tcPr marL="91440" marR="91440" marT="45720" marB="45720">
                    <a:solidFill>
                      <a:srgbClr val="EDF3FA"/>
                    </a:solidFill>
                  </a:tcPr>
                </a:tc>
                <a:tc>
                  <a:txBody>
                    <a:bodyPr/>
                    <a:lstStyle/>
                    <a:p>
                      <a:r>
                        <a:rPr sz="1725" b="1">
                          <a:solidFill>
                            <a:srgbClr val="131820"/>
                          </a:solidFill>
                        </a:rPr>
                        <a:t>Why it matters</a:t>
                      </a:r>
                    </a:p>
                  </a:txBody>
                  <a:tcPr marL="91440" marR="91440" marT="45720" marB="45720">
                    <a:solidFill>
                      <a:srgbClr val="EDF3FA"/>
                    </a:solidFill>
                  </a:tcPr>
                </a:tc>
              </a:tr>
              <a:tr h="603250">
                <a:tc>
                  <a:txBody>
                    <a:bodyPr/>
                    <a:lstStyle/>
                    <a:p>
                      <a:r>
                        <a:rPr sz="1725" b="0">
                          <a:solidFill>
                            <a:srgbClr val="131820"/>
                          </a:solidFill>
                        </a:rPr>
                        <a:t>Ownership + approval</a:t>
                      </a:r>
                    </a:p>
                  </a:txBody>
                  <a:tcPr marL="91440" marR="91440" marT="45720" marB="45720">
                    <a:solidFill>
                      <a:srgbClr val="FFFFFF"/>
                    </a:solidFill>
                  </a:tcPr>
                </a:tc>
                <a:tc>
                  <a:txBody>
                    <a:bodyPr/>
                    <a:lstStyle/>
                    <a:p>
                      <a:r>
                        <a:rPr sz="1725" b="0">
                          <a:solidFill>
                            <a:srgbClr val="131820"/>
                          </a:solidFill>
                        </a:rPr>
                        <a:t>Department contact; permitted cameras and purpose</a:t>
                      </a:r>
                    </a:p>
                  </a:txBody>
                  <a:tcPr marL="91440" marR="91440" marT="45720" marB="45720">
                    <a:solidFill>
                      <a:srgbClr val="FFFFFF"/>
                    </a:solidFill>
                  </a:tcPr>
                </a:tc>
                <a:tc>
                  <a:txBody>
                    <a:bodyPr/>
                    <a:lstStyle/>
                    <a:p>
                      <a:r>
                        <a:rPr sz="1725" b="0">
                          <a:solidFill>
                            <a:srgbClr val="131820"/>
                          </a:solidFill>
                        </a:rPr>
                        <a:t>Authorised scope and escalation route</a:t>
                      </a:r>
                    </a:p>
                  </a:txBody>
                  <a:tcPr marL="91440" marR="91440" marT="45720" marB="45720">
                    <a:solidFill>
                      <a:srgbClr val="FFFFFF"/>
                    </a:solidFill>
                  </a:tcPr>
                </a:tc>
              </a:tr>
              <a:tr h="603250">
                <a:tc>
                  <a:txBody>
                    <a:bodyPr/>
                    <a:lstStyle/>
                    <a:p>
                      <a:r>
                        <a:rPr sz="1725" b="0">
                          <a:solidFill>
                            <a:srgbClr val="131820"/>
                          </a:solidFill>
                        </a:rPr>
                        <a:t>Feeds + devices</a:t>
                      </a:r>
                    </a:p>
                  </a:txBody>
                  <a:tcPr marL="91440" marR="91440" marT="45720" marB="45720">
                    <a:solidFill>
                      <a:srgbClr val="FFFFFF"/>
                    </a:solidFill>
                  </a:tcPr>
                </a:tc>
                <a:tc>
                  <a:txBody>
                    <a:bodyPr/>
                    <a:lstStyle/>
                    <a:p>
                      <a:r>
                        <a:rPr sz="1725" b="0">
                          <a:solidFill>
                            <a:srgbClr val="131820"/>
                          </a:solidFill>
                        </a:rPr>
                        <a:t>Camera IDs, coordinates, codec, FPS, bitrate, VMS</a:t>
                      </a:r>
                    </a:p>
                  </a:txBody>
                  <a:tcPr marL="91440" marR="91440" marT="45720" marB="45720">
                    <a:solidFill>
                      <a:srgbClr val="FFFFFF"/>
                    </a:solidFill>
                  </a:tcPr>
                </a:tc>
                <a:tc>
                  <a:txBody>
                    <a:bodyPr/>
                    <a:lstStyle/>
                    <a:p>
                      <a:r>
                        <a:rPr sz="1725" b="0">
                          <a:solidFill>
                            <a:srgbClr val="131820"/>
                          </a:solidFill>
                        </a:rPr>
                        <a:t>Integration path and stream budget</a:t>
                      </a:r>
                    </a:p>
                  </a:txBody>
                  <a:tcPr marL="91440" marR="91440" marT="45720" marB="45720">
                    <a:solidFill>
                      <a:srgbClr val="FFFFFF"/>
                    </a:solidFill>
                  </a:tcPr>
                </a:tc>
              </a:tr>
              <a:tr h="603250">
                <a:tc>
                  <a:txBody>
                    <a:bodyPr/>
                    <a:lstStyle/>
                    <a:p>
                      <a:r>
                        <a:rPr sz="1725" b="0">
                          <a:solidFill>
                            <a:srgbClr val="131820"/>
                          </a:solidFill>
                        </a:rPr>
                        <a:t>Network + credentials</a:t>
                      </a:r>
                    </a:p>
                  </a:txBody>
                  <a:tcPr marL="91440" marR="91440" marT="45720" marB="45720">
                    <a:solidFill>
                      <a:srgbClr val="FFFFFF"/>
                    </a:solidFill>
                  </a:tcPr>
                </a:tc>
                <a:tc>
                  <a:txBody>
                    <a:bodyPr/>
                    <a:lstStyle/>
                    <a:p>
                      <a:r>
                        <a:rPr sz="1725" b="0">
                          <a:solidFill>
                            <a:srgbClr val="131820"/>
                          </a:solidFill>
                        </a:rPr>
                        <a:t>Routes, firewall, VPN, read-only access, limits</a:t>
                      </a:r>
                    </a:p>
                  </a:txBody>
                  <a:tcPr marL="91440" marR="91440" marT="45720" marB="45720">
                    <a:solidFill>
                      <a:srgbClr val="FFFFFF"/>
                    </a:solidFill>
                  </a:tcPr>
                </a:tc>
                <a:tc>
                  <a:txBody>
                    <a:bodyPr/>
                    <a:lstStyle/>
                    <a:p>
                      <a:r>
                        <a:rPr sz="1725" b="0">
                          <a:solidFill>
                            <a:srgbClr val="131820"/>
                          </a:solidFill>
                        </a:rPr>
                        <a:t>Reachability without exposing devices</a:t>
                      </a:r>
                    </a:p>
                  </a:txBody>
                  <a:tcPr marL="91440" marR="91440" marT="45720" marB="45720">
                    <a:solidFill>
                      <a:srgbClr val="FFFFFF"/>
                    </a:solidFill>
                  </a:tcPr>
                </a:tc>
              </a:tr>
              <a:tr h="603250">
                <a:tc>
                  <a:txBody>
                    <a:bodyPr/>
                    <a:lstStyle/>
                    <a:p>
                      <a:r>
                        <a:rPr sz="1725" b="0">
                          <a:solidFill>
                            <a:srgbClr val="131820"/>
                          </a:solidFill>
                        </a:rPr>
                        <a:t>Video + time</a:t>
                      </a:r>
                    </a:p>
                  </a:txBody>
                  <a:tcPr marL="91440" marR="91440" marT="45720" marB="45720">
                    <a:solidFill>
                      <a:srgbClr val="FFFFFF"/>
                    </a:solidFill>
                  </a:tcPr>
                </a:tc>
                <a:tc>
                  <a:txBody>
                    <a:bodyPr/>
                    <a:lstStyle/>
                    <a:p>
                      <a:r>
                        <a:rPr sz="1725" b="0">
                          <a:solidFill>
                            <a:srgbClr val="131820"/>
                          </a:solidFill>
                        </a:rPr>
                        <a:t>Retention, playback API, timezone and clock drift</a:t>
                      </a:r>
                    </a:p>
                  </a:txBody>
                  <a:tcPr marL="91440" marR="91440" marT="45720" marB="45720">
                    <a:solidFill>
                      <a:srgbClr val="FFFFFF"/>
                    </a:solidFill>
                  </a:tcPr>
                </a:tc>
                <a:tc>
                  <a:txBody>
                    <a:bodyPr/>
                    <a:lstStyle/>
                    <a:p>
                      <a:r>
                        <a:rPr sz="1725" b="0">
                          <a:solidFill>
                            <a:srgbClr val="131820"/>
                          </a:solidFill>
                        </a:rPr>
                        <a:t>Evidence retrieval and correct ordering</a:t>
                      </a:r>
                    </a:p>
                  </a:txBody>
                  <a:tcPr marL="91440" marR="91440" marT="45720" marB="45720">
                    <a:solidFill>
                      <a:srgbClr val="FFFFFF"/>
                    </a:solidFill>
                  </a:tcPr>
                </a:tc>
              </a:tr>
              <a:tr h="603250">
                <a:tc>
                  <a:txBody>
                    <a:bodyPr/>
                    <a:lstStyle/>
                    <a:p>
                      <a:r>
                        <a:rPr sz="1725" b="0">
                          <a:solidFill>
                            <a:srgbClr val="131820"/>
                          </a:solidFill>
                        </a:rPr>
                        <a:t>Analytics + resources</a:t>
                      </a:r>
                    </a:p>
                  </a:txBody>
                  <a:tcPr marL="91440" marR="91440" marT="45720" marB="45720">
                    <a:solidFill>
                      <a:srgbClr val="FFFFFF"/>
                    </a:solidFill>
                  </a:tcPr>
                </a:tc>
                <a:tc>
                  <a:txBody>
                    <a:bodyPr/>
                    <a:lstStyle/>
                    <a:p>
                      <a:r>
                        <a:rPr sz="1725" b="0">
                          <a:solidFill>
                            <a:srgbClr val="131820"/>
                          </a:solidFill>
                        </a:rPr>
                        <a:t>Sample footage, plate quality, existing ANPR, GPU</a:t>
                      </a:r>
                    </a:p>
                  </a:txBody>
                  <a:tcPr marL="91440" marR="91440" marT="45720" marB="45720">
                    <a:solidFill>
                      <a:srgbClr val="FFFFFF"/>
                    </a:solidFill>
                  </a:tcPr>
                </a:tc>
                <a:tc>
                  <a:txBody>
                    <a:bodyPr/>
                    <a:lstStyle/>
                    <a:p>
                      <a:r>
                        <a:rPr sz="1725" b="0">
                          <a:solidFill>
                            <a:srgbClr val="131820"/>
                          </a:solidFill>
                        </a:rPr>
                        <a:t>Feasibility and baseline sizing</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7279965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E23D1FE-BEE2-434E-8467-34C6AE2858B4}"/>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7B67951C-4675-4D0F-B4ED-47CFA6DA1ECB}"/>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A 4-day solo P0, code by Grok or Codex</a:t>
            </a:r>
          </a:p>
        </p:txBody>
      </p:sp>
      <p:sp>
        <p:nvSpPr>
          <p:cNvPr id="3" name="">
            <a:extLst xmlns:a="http://schemas.openxmlformats.org/drawingml/2006/main">
              <a:ext uri="{FF2B5EF4-FFF2-40B4-BE49-F238E27FC236}">
                <a16:creationId xmlns:a16="http://schemas.microsoft.com/office/drawing/2014/main" id="{E1B0E50B-5785-4D7B-B6D3-4437BCE2D2B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One person. Sequence workstreams. Compress original Days 1-3 into the first two days.</a:t>
            </a:r>
          </a:p>
        </p:txBody>
      </p:sp>
      <p:sp>
        <p:nvSpPr>
          <p:cNvPr id="4" name="">
            <a:extLst xmlns:a="http://schemas.openxmlformats.org/drawingml/2006/main">
              <a:ext uri="{FF2B5EF4-FFF2-40B4-BE49-F238E27FC236}">
                <a16:creationId xmlns:a16="http://schemas.microsoft.com/office/drawing/2014/main" id="{6A7DDD88-6B0E-4EC9-BD7F-BDDB569E299D}"/>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9259340-2006-411C-9AB6-8A9A6ACECEDF}"/>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120B5AC4-57B2-4F8A-81B4-B25985CEAEA2}"/>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22</a:t>
            </a:r>
          </a:p>
        </p:txBody>
      </p:sp>
      <p:sp>
        <p:nvSpPr>
          <p:cNvPr id="7" name="">
            <a:extLst xmlns:a="http://schemas.openxmlformats.org/drawingml/2006/main">
              <a:ext uri="{FF2B5EF4-FFF2-40B4-BE49-F238E27FC236}">
                <a16:creationId xmlns:a16="http://schemas.microsoft.com/office/drawing/2014/main" id="{51034726-92F7-4DB5-B735-72C86EF897DB}"/>
              </a:ext>
            </a:extLst>
          </p:cNvPr>
          <p:cNvSpPr>
            <a:spLocks xmlns:a="http://schemas.openxmlformats.org/drawingml/2006/main" noGrp="1"/>
          </p:cNvSpPr>
          <p:nvPr/>
        </p:nvSpPr>
        <p:spPr>
          <a:xfrm xmlns:a="http://schemas.openxmlformats.org/drawingml/2006/main">
            <a:off x="45720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DAYS 1-2</a:t>
            </a:r>
          </a:p>
        </p:txBody>
      </p:sp>
      <p:sp>
        <p:nvSpPr>
          <p:cNvPr id="8" name="">
            <a:extLst xmlns:a="http://schemas.openxmlformats.org/drawingml/2006/main">
              <a:ext uri="{FF2B5EF4-FFF2-40B4-BE49-F238E27FC236}">
                <a16:creationId xmlns:a16="http://schemas.microsoft.com/office/drawing/2014/main" id="{AA9A7707-810A-4377-BD04-2F69C0ADF44B}"/>
              </a:ext>
            </a:extLst>
          </p:cNvPr>
          <p:cNvSpPr>
            <a:spLocks xmlns:a="http://schemas.openxmlformats.org/drawingml/2006/main" noGrp="1"/>
          </p:cNvSpPr>
          <p:nvPr/>
        </p:nvSpPr>
        <p:spPr>
          <a:xfrm xmlns:a="http://schemas.openxmlformats.org/drawingml/2006/main">
            <a:off x="45720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8FBBB46-B55A-45DA-85F6-CFCCDDBB47DB}"/>
              </a:ext>
            </a:extLst>
          </p:cNvPr>
          <p:cNvSpPr>
            <a:spLocks xmlns:a="http://schemas.openxmlformats.org/drawingml/2006/main" noGrp="1"/>
          </p:cNvSpPr>
          <p:nvPr/>
        </p:nvSpPr>
        <p:spPr>
          <a:xfrm xmlns:a="http://schemas.openxmlformats.org/drawingml/2006/main">
            <a:off x="45720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Escalate government-feed access</a:t>
            </a:r>
          </a:p>
          <a:p xmlns:a="http://schemas.openxmlformats.org/drawingml/2006/main">
            <a:pPr>
              <a:defRPr sz="2025" b="0">
                <a:solidFill>
                  <a:srgbClr val="131820"/>
                </a:solidFill>
              </a:defRPr>
            </a:pPr>
            <a:r>
              <a:rPr sz="2025" b="0">
                <a:solidFill>
                  <a:srgbClr val="131820"/>
                </a:solidFill>
              </a:rPr>
              <a:t>Freeze event schema</a:t>
            </a:r>
          </a:p>
          <a:p xmlns:a="http://schemas.openxmlformats.org/drawingml/2006/main">
            <a:pPr>
              <a:defRPr sz="2025" b="0">
                <a:solidFill>
                  <a:srgbClr val="131820"/>
                </a:solidFill>
              </a:defRPr>
            </a:pPr>
            <a:r>
              <a:rPr sz="2025" b="0">
                <a:solidFill>
                  <a:srgbClr val="131820"/>
                </a:solidFill>
              </a:rPr>
              <a:t>Ledger all accessible cameras</a:t>
            </a:r>
          </a:p>
          <a:p xmlns:a="http://schemas.openxmlformats.org/drawingml/2006/main">
            <a:pPr>
              <a:defRPr sz="2025" b="0">
                <a:solidFill>
                  <a:srgbClr val="131820"/>
                </a:solidFill>
              </a:defRPr>
            </a:pPr>
            <a:r>
              <a:rPr sz="2025" b="0">
                <a:solidFill>
                  <a:srgbClr val="131820"/>
                </a:solidFill>
              </a:rPr>
              <a:t>First real sighting + alert + GIS</a:t>
            </a:r>
          </a:p>
        </p:txBody>
      </p:sp>
      <p:sp>
        <p:nvSpPr>
          <p:cNvPr id="10" name="">
            <a:extLst xmlns:a="http://schemas.openxmlformats.org/drawingml/2006/main">
              <a:ext uri="{FF2B5EF4-FFF2-40B4-BE49-F238E27FC236}">
                <a16:creationId xmlns:a16="http://schemas.microsoft.com/office/drawing/2014/main" id="{40135F73-F224-4CA2-94AF-D328971487C0}"/>
              </a:ext>
            </a:extLst>
          </p:cNvPr>
          <p:cNvSpPr>
            <a:spLocks xmlns:a="http://schemas.openxmlformats.org/drawingml/2006/main" noGrp="1"/>
          </p:cNvSpPr>
          <p:nvPr/>
        </p:nvSpPr>
        <p:spPr>
          <a:xfrm xmlns:a="http://schemas.openxmlformats.org/drawingml/2006/main">
            <a:off x="4333875"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DAY 3</a:t>
            </a:r>
          </a:p>
        </p:txBody>
      </p:sp>
      <p:sp>
        <p:nvSpPr>
          <p:cNvPr id="11" name="">
            <a:extLst xmlns:a="http://schemas.openxmlformats.org/drawingml/2006/main">
              <a:ext uri="{FF2B5EF4-FFF2-40B4-BE49-F238E27FC236}">
                <a16:creationId xmlns:a16="http://schemas.microsoft.com/office/drawing/2014/main" id="{FB1EEFEE-5B1C-48EB-827D-517226270D6F}"/>
              </a:ext>
            </a:extLst>
          </p:cNvPr>
          <p:cNvSpPr>
            <a:spLocks xmlns:a="http://schemas.openxmlformats.org/drawingml/2006/main" noGrp="1"/>
          </p:cNvSpPr>
          <p:nvPr/>
        </p:nvSpPr>
        <p:spPr>
          <a:xfrm xmlns:a="http://schemas.openxmlformats.org/drawingml/2006/main">
            <a:off x="4333875"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1C71FFD-AFB4-4D3F-A18E-82BC99D35023}"/>
              </a:ext>
            </a:extLst>
          </p:cNvPr>
          <p:cNvSpPr>
            <a:spLocks xmlns:a="http://schemas.openxmlformats.org/drawingml/2006/main" noGrp="1"/>
          </p:cNvSpPr>
          <p:nvPr/>
        </p:nvSpPr>
        <p:spPr>
          <a:xfrm xmlns:a="http://schemas.openxmlformats.org/drawingml/2006/main">
            <a:off x="4333875"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Expand analytics toward ~50</a:t>
            </a:r>
          </a:p>
          <a:p xmlns:a="http://schemas.openxmlformats.org/drawingml/2006/main">
            <a:pPr>
              <a:defRPr sz="2025" b="0">
                <a:solidFill>
                  <a:srgbClr val="131820"/>
                </a:solidFill>
              </a:defRPr>
            </a:pPr>
            <a:r>
              <a:rPr sz="2025" b="0">
                <a:solidFill>
                  <a:srgbClr val="131820"/>
                </a:solidFill>
              </a:rPr>
              <a:t>Calibrate sampling from dwell time</a:t>
            </a:r>
          </a:p>
          <a:p xmlns:a="http://schemas.openxmlformats.org/drawingml/2006/main">
            <a:pPr>
              <a:defRPr sz="2025" b="0">
                <a:solidFill>
                  <a:srgbClr val="131820"/>
                </a:solidFill>
              </a:defRPr>
            </a:pPr>
            <a:r>
              <a:rPr sz="2025" b="0">
                <a:solidFill>
                  <a:srgbClr val="131820"/>
                </a:solidFill>
              </a:rPr>
              <a:t>Watchlist + evidence + history</a:t>
            </a:r>
          </a:p>
          <a:p xmlns:a="http://schemas.openxmlformats.org/drawingml/2006/main">
            <a:pPr>
              <a:defRPr sz="2025" b="0">
                <a:solidFill>
                  <a:srgbClr val="131820"/>
                </a:solidFill>
              </a:defRPr>
            </a:pPr>
            <a:r>
              <a:rPr sz="2025" b="0">
                <a:solidFill>
                  <a:srgbClr val="131820"/>
                </a:solidFill>
              </a:rPr>
              <a:t>Disclose actual analytics coverage</a:t>
            </a:r>
          </a:p>
        </p:txBody>
      </p:sp>
      <p:sp>
        <p:nvSpPr>
          <p:cNvPr id="13" name="">
            <a:extLst xmlns:a="http://schemas.openxmlformats.org/drawingml/2006/main">
              <a:ext uri="{FF2B5EF4-FFF2-40B4-BE49-F238E27FC236}">
                <a16:creationId xmlns:a16="http://schemas.microsoft.com/office/drawing/2014/main" id="{B1B3B95D-F68E-4893-A923-A9AC54E22730}"/>
              </a:ext>
            </a:extLst>
          </p:cNvPr>
          <p:cNvSpPr>
            <a:spLocks xmlns:a="http://schemas.openxmlformats.org/drawingml/2006/main" noGrp="1"/>
          </p:cNvSpPr>
          <p:nvPr/>
        </p:nvSpPr>
        <p:spPr>
          <a:xfrm xmlns:a="http://schemas.openxmlformats.org/drawingml/2006/main">
            <a:off x="821055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DAY 4</a:t>
            </a:r>
          </a:p>
        </p:txBody>
      </p:sp>
      <p:sp>
        <p:nvSpPr>
          <p:cNvPr id="14" name="">
            <a:extLst xmlns:a="http://schemas.openxmlformats.org/drawingml/2006/main">
              <a:ext uri="{FF2B5EF4-FFF2-40B4-BE49-F238E27FC236}">
                <a16:creationId xmlns:a16="http://schemas.microsoft.com/office/drawing/2014/main" id="{18879988-BD39-48C9-A3F8-968965A979FF}"/>
              </a:ext>
            </a:extLst>
          </p:cNvPr>
          <p:cNvSpPr>
            <a:spLocks xmlns:a="http://schemas.openxmlformats.org/drawingml/2006/main" noGrp="1"/>
          </p:cNvSpPr>
          <p:nvPr/>
        </p:nvSpPr>
        <p:spPr>
          <a:xfrm xmlns:a="http://schemas.openxmlformats.org/drawingml/2006/main">
            <a:off x="821055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AA3011E-B336-4F7E-AE07-98DD155D329D}"/>
              </a:ext>
            </a:extLst>
          </p:cNvPr>
          <p:cNvSpPr>
            <a:spLocks xmlns:a="http://schemas.openxmlformats.org/drawingml/2006/main" noGrp="1"/>
          </p:cNvSpPr>
          <p:nvPr/>
        </p:nvSpPr>
        <p:spPr>
          <a:xfrm xmlns:a="http://schemas.openxmlformats.org/drawingml/2006/main">
            <a:off x="821055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Feature freeze at midday</a:t>
            </a:r>
          </a:p>
          <a:p xmlns:a="http://schemas.openxmlformats.org/drawingml/2006/main">
            <a:pPr>
              <a:defRPr sz="2025" b="0">
                <a:solidFill>
                  <a:srgbClr val="131820"/>
                </a:solidFill>
              </a:defRPr>
            </a:pPr>
            <a:r>
              <a:rPr sz="2025" b="0">
                <a:solidFill>
                  <a:srgbClr val="131820"/>
                </a:solidFill>
              </a:rPr>
              <a:t>Record both required demos</a:t>
            </a:r>
          </a:p>
          <a:p xmlns:a="http://schemas.openxmlformats.org/drawingml/2006/main">
            <a:pPr>
              <a:defRPr sz="2025" b="0">
                <a:solidFill>
                  <a:srgbClr val="131820"/>
                </a:solidFill>
              </a:defRPr>
            </a:pPr>
            <a:r>
              <a:rPr sz="2025" b="0">
                <a:solidFill>
                  <a:srgbClr val="131820"/>
                </a:solidFill>
              </a:rPr>
              <a:t>Finish HLD, report and links</a:t>
            </a:r>
          </a:p>
          <a:p xmlns:a="http://schemas.openxmlformats.org/drawingml/2006/main">
            <a:pPr>
              <a:defRPr sz="2025" b="0">
                <a:solidFill>
                  <a:srgbClr val="131820"/>
                </a:solidFill>
              </a:defRPr>
            </a:pPr>
            <a:r>
              <a:rPr sz="2025" b="0">
                <a:solidFill>
                  <a:srgbClr val="131820"/>
                </a:solidFill>
              </a:rPr>
              <a:t>No new features after midday</a:t>
            </a:r>
          </a:p>
        </p:txBody>
      </p:sp>
    </p:spTree>
    <p:extLst>
      <p:ext uri="{BB962C8B-B14F-4D97-AF65-F5344CB8AC3E}">
        <p14:creationId xmlns:p14="http://schemas.microsoft.com/office/powerpoint/2010/main" val="194595012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2D8B86-A7C6-4508-AEED-5D662530EED6}"/>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D60A9B0C-1CF7-42C4-8BBA-C9D892A2E1D8}"/>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Sequence four workstreams as one person</a:t>
            </a:r>
          </a:p>
        </p:txBody>
      </p:sp>
      <p:sp>
        <p:nvSpPr>
          <p:cNvPr id="3" name="">
            <a:extLst xmlns:a="http://schemas.openxmlformats.org/drawingml/2006/main">
              <a:ext uri="{FF2B5EF4-FFF2-40B4-BE49-F238E27FC236}">
                <a16:creationId xmlns:a16="http://schemas.microsoft.com/office/drawing/2014/main" id="{2E9D1DE5-FC71-4BB8-96C4-6A5D7ABF0D15}"/>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Grok/Codex generates each module. The human owns access, gates and demos.</a:t>
            </a:r>
          </a:p>
        </p:txBody>
      </p:sp>
      <p:sp>
        <p:nvSpPr>
          <p:cNvPr id="4" name="">
            <a:extLst xmlns:a="http://schemas.openxmlformats.org/drawingml/2006/main">
              <a:ext uri="{FF2B5EF4-FFF2-40B4-BE49-F238E27FC236}">
                <a16:creationId xmlns:a16="http://schemas.microsoft.com/office/drawing/2014/main" id="{BB9C7067-2F1A-43A6-BDAD-CB8B8567C0D8}"/>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19415F-E5F4-41B5-B4B4-221205B4A48E}"/>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55B23AFF-199A-401A-A35B-9C2E36F417BA}"/>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23</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2619375"/>
                <a:gridCol w="4286250"/>
                <a:gridCol w="4371975"/>
              </a:tblGrid>
              <a:tr h="723900">
                <a:tc>
                  <a:txBody>
                    <a:bodyPr/>
                    <a:lstStyle/>
                    <a:p>
                      <a:r>
                        <a:rPr sz="1725" b="1">
                          <a:solidFill>
                            <a:srgbClr val="131820"/>
                          </a:solidFill>
                        </a:rPr>
                        <a:t>Stream</a:t>
                      </a:r>
                    </a:p>
                  </a:txBody>
                  <a:tcPr marL="91440" marR="91440" marT="45720" marB="45720">
                    <a:solidFill>
                      <a:srgbClr val="EDF3FA"/>
                    </a:solidFill>
                  </a:tcPr>
                </a:tc>
                <a:tc>
                  <a:txBody>
                    <a:bodyPr/>
                    <a:lstStyle/>
                    <a:p>
                      <a:r>
                        <a:rPr sz="1725" b="1">
                          <a:solidFill>
                            <a:srgbClr val="131820"/>
                          </a:solidFill>
                        </a:rPr>
                        <a:t>Model generates</a:t>
                      </a:r>
                    </a:p>
                  </a:txBody>
                  <a:tcPr marL="91440" marR="91440" marT="45720" marB="45720">
                    <a:solidFill>
                      <a:srgbClr val="EDF3FA"/>
                    </a:solidFill>
                  </a:tcPr>
                </a:tc>
                <a:tc>
                  <a:txBody>
                    <a:bodyPr/>
                    <a:lstStyle/>
                    <a:p>
                      <a:r>
                        <a:rPr sz="1725" b="1">
                          <a:solidFill>
                            <a:srgbClr val="131820"/>
                          </a:solidFill>
                        </a:rPr>
                        <a:t>Handoff / completion check</a:t>
                      </a:r>
                    </a:p>
                  </a:txBody>
                  <a:tcPr marL="91440" marR="91440" marT="45720" marB="45720">
                    <a:solidFill>
                      <a:srgbClr val="EDF3FA"/>
                    </a:solidFill>
                  </a:tcPr>
                </a:tc>
              </a:tr>
              <a:tr h="723900">
                <a:tc>
                  <a:txBody>
                    <a:bodyPr/>
                    <a:lstStyle/>
                    <a:p>
                      <a:r>
                        <a:rPr sz="1725" b="0">
                          <a:solidFill>
                            <a:srgbClr val="131820"/>
                          </a:solidFill>
                        </a:rPr>
                        <a:t>A • Integration + deployment</a:t>
                      </a:r>
                    </a:p>
                  </a:txBody>
                  <a:tcPr marL="91440" marR="91440" marT="45720" marB="45720">
                    <a:solidFill>
                      <a:srgbClr val="FFFFFF"/>
                    </a:solidFill>
                  </a:tcPr>
                </a:tc>
                <a:tc>
                  <a:txBody>
                    <a:bodyPr/>
                    <a:lstStyle/>
                    <a:p>
                      <a:r>
                        <a:rPr sz="1725" b="0">
                          <a:solidFill>
                            <a:srgbClr val="131820"/>
                          </a:solidFill>
                        </a:rPr>
                        <a:t>Feed adapters, relay, health, deployment</a:t>
                      </a:r>
                    </a:p>
                  </a:txBody>
                  <a:tcPr marL="91440" marR="91440" marT="45720" marB="45720">
                    <a:solidFill>
                      <a:srgbClr val="FFFFFF"/>
                    </a:solidFill>
                  </a:tcPr>
                </a:tc>
                <a:tc>
                  <a:txBody>
                    <a:bodyPr/>
                    <a:lstStyle/>
                    <a:p>
                      <a:r>
                        <a:rPr sz="1725" b="0">
                          <a:solidFill>
                            <a:srgbClr val="131820"/>
                          </a:solidFill>
                        </a:rPr>
                        <a:t>Stream/camera contract; all accessible cameras in ledger</a:t>
                      </a:r>
                    </a:p>
                  </a:txBody>
                  <a:tcPr marL="91440" marR="91440" marT="45720" marB="45720">
                    <a:solidFill>
                      <a:srgbClr val="FFFFFF"/>
                    </a:solidFill>
                  </a:tcPr>
                </a:tc>
              </a:tr>
              <a:tr h="723900">
                <a:tc>
                  <a:txBody>
                    <a:bodyPr/>
                    <a:lstStyle/>
                    <a:p>
                      <a:r>
                        <a:rPr sz="1725" b="0">
                          <a:solidFill>
                            <a:srgbClr val="131820"/>
                          </a:solidFill>
                        </a:rPr>
                        <a:t>B • ANPR + evaluation</a:t>
                      </a:r>
                    </a:p>
                  </a:txBody>
                  <a:tcPr marL="91440" marR="91440" marT="45720" marB="45720">
                    <a:solidFill>
                      <a:srgbClr val="FFFFFF"/>
                    </a:solidFill>
                  </a:tcPr>
                </a:tc>
                <a:tc>
                  <a:txBody>
                    <a:bodyPr/>
                    <a:lstStyle/>
                    <a:p>
                      <a:r>
                        <a:rPr sz="1725" b="0">
                          <a:solidFill>
                            <a:srgbClr val="131820"/>
                          </a:solidFill>
                        </a:rPr>
                        <a:t>Model baseline, crop selection, validation</a:t>
                      </a:r>
                    </a:p>
                  </a:txBody>
                  <a:tcPr marL="91440" marR="91440" marT="45720" marB="45720">
                    <a:solidFill>
                      <a:srgbClr val="FFFFFF"/>
                    </a:solidFill>
                  </a:tcPr>
                </a:tc>
                <a:tc>
                  <a:txBody>
                    <a:bodyPr/>
                    <a:lstStyle/>
                    <a:p>
                      <a:r>
                        <a:rPr sz="1725" b="0">
                          <a:solidFill>
                            <a:srgbClr val="131820"/>
                          </a:solidFill>
                        </a:rPr>
                        <a:t>Versioned sighting events + quality report</a:t>
                      </a:r>
                    </a:p>
                  </a:txBody>
                  <a:tcPr marL="91440" marR="91440" marT="45720" marB="45720">
                    <a:solidFill>
                      <a:srgbClr val="FFFFFF"/>
                    </a:solidFill>
                  </a:tcPr>
                </a:tc>
              </a:tr>
              <a:tr h="723900">
                <a:tc>
                  <a:txBody>
                    <a:bodyPr/>
                    <a:lstStyle/>
                    <a:p>
                      <a:r>
                        <a:rPr sz="1725" b="0">
                          <a:solidFill>
                            <a:srgbClr val="131820"/>
                          </a:solidFill>
                        </a:rPr>
                        <a:t>C • Backend + security</a:t>
                      </a:r>
                    </a:p>
                  </a:txBody>
                  <a:tcPr marL="91440" marR="91440" marT="45720" marB="45720">
                    <a:solidFill>
                      <a:srgbClr val="FFFFFF"/>
                    </a:solidFill>
                  </a:tcPr>
                </a:tc>
                <a:tc>
                  <a:txBody>
                    <a:bodyPr/>
                    <a:lstStyle/>
                    <a:p>
                      <a:r>
                        <a:rPr sz="1725" b="0">
                          <a:solidFill>
                            <a:srgbClr val="131820"/>
                          </a:solidFill>
                        </a:rPr>
                        <a:t>Registry, watchlist, matching, access, audit</a:t>
                      </a:r>
                    </a:p>
                  </a:txBody>
                  <a:tcPr marL="91440" marR="91440" marT="45720" marB="45720">
                    <a:solidFill>
                      <a:srgbClr val="FFFFFF"/>
                    </a:solidFill>
                  </a:tcPr>
                </a:tc>
                <a:tc>
                  <a:txBody>
                    <a:bodyPr/>
                    <a:lstStyle/>
                    <a:p>
                      <a:r>
                        <a:rPr sz="1725" b="0">
                          <a:solidFill>
                            <a:srgbClr val="131820"/>
                          </a:solidFill>
                        </a:rPr>
                        <a:t>Stable APIs; replay-safe alerts and permissions</a:t>
                      </a:r>
                    </a:p>
                  </a:txBody>
                  <a:tcPr marL="91440" marR="91440" marT="45720" marB="45720">
                    <a:solidFill>
                      <a:srgbClr val="FFFFFF"/>
                    </a:solidFill>
                  </a:tcPr>
                </a:tc>
              </a:tr>
              <a:tr h="723900">
                <a:tc>
                  <a:txBody>
                    <a:bodyPr/>
                    <a:lstStyle/>
                    <a:p>
                      <a:r>
                        <a:rPr sz="1725" b="0">
                          <a:solidFill>
                            <a:srgbClr val="131820"/>
                          </a:solidFill>
                        </a:rPr>
                        <a:t>D • UI + GIS + demo</a:t>
                      </a:r>
                    </a:p>
                  </a:txBody>
                  <a:tcPr marL="91440" marR="91440" marT="45720" marB="45720">
                    <a:solidFill>
                      <a:srgbClr val="FFFFFF"/>
                    </a:solidFill>
                  </a:tcPr>
                </a:tc>
                <a:tc>
                  <a:txBody>
                    <a:bodyPr/>
                    <a:lstStyle/>
                    <a:p>
                      <a:r>
                        <a:rPr sz="1725" b="0">
                          <a:solidFill>
                            <a:srgbClr val="131820"/>
                          </a:solidFill>
                        </a:rPr>
                        <a:t>Viewer, map, alert review, history, exports</a:t>
                      </a:r>
                    </a:p>
                  </a:txBody>
                  <a:tcPr marL="91440" marR="91440" marT="45720" marB="45720">
                    <a:solidFill>
                      <a:srgbClr val="FFFFFF"/>
                    </a:solidFill>
                  </a:tcPr>
                </a:tc>
                <a:tc>
                  <a:txBody>
                    <a:bodyPr/>
                    <a:lstStyle/>
                    <a:p>
                      <a:r>
                        <a:rPr sz="1725" b="0">
                          <a:solidFill>
                            <a:srgbClr val="131820"/>
                          </a:solidFill>
                        </a:rPr>
                        <a:t>Real backend journey; no hardcoded outputs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32231215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F403922-EEED-45D4-AA19-545761765450}"/>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891CFCAA-A695-4062-AAB1-B99EE6786441}"/>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Some tasks need joint sign-off</a:t>
            </a:r>
          </a:p>
        </p:txBody>
      </p:sp>
      <p:sp>
        <p:nvSpPr>
          <p:cNvPr id="3" name="">
            <a:extLst xmlns:a="http://schemas.openxmlformats.org/drawingml/2006/main">
              <a:ext uri="{FF2B5EF4-FFF2-40B4-BE49-F238E27FC236}">
                <a16:creationId xmlns:a16="http://schemas.microsoft.com/office/drawing/2014/main" id="{ADE8CF5D-CF0F-46CD-A41B-89FDFA784578}"/>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One person owns delivery; another checks the integration or risk.</a:t>
            </a:r>
          </a:p>
        </p:txBody>
      </p:sp>
      <p:sp>
        <p:nvSpPr>
          <p:cNvPr id="4" name="">
            <a:extLst xmlns:a="http://schemas.openxmlformats.org/drawingml/2006/main">
              <a:ext uri="{FF2B5EF4-FFF2-40B4-BE49-F238E27FC236}">
                <a16:creationId xmlns:a16="http://schemas.microsoft.com/office/drawing/2014/main" id="{457E63F3-5142-4542-96EC-06C9643C2C91}"/>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81C30CF-1AD0-462C-98B2-7D0BEC2D454B}"/>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58BEA011-DF9F-45D8-BB73-1D0D5C461A3E}"/>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24</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3143250"/>
                <a:gridCol w="3762375"/>
                <a:gridCol w="4371975"/>
              </a:tblGrid>
              <a:tr h="603250">
                <a:tc>
                  <a:txBody>
                    <a:bodyPr/>
                    <a:lstStyle/>
                    <a:p>
                      <a:r>
                        <a:rPr sz="1725" b="1">
                          <a:solidFill>
                            <a:srgbClr val="131820"/>
                          </a:solidFill>
                        </a:rPr>
                        <a:t>Task</a:t>
                      </a:r>
                    </a:p>
                  </a:txBody>
                  <a:tcPr marL="91440" marR="91440" marT="45720" marB="45720">
                    <a:solidFill>
                      <a:srgbClr val="EDF3FA"/>
                    </a:solidFill>
                  </a:tcPr>
                </a:tc>
                <a:tc>
                  <a:txBody>
                    <a:bodyPr/>
                    <a:lstStyle/>
                    <a:p>
                      <a:r>
                        <a:rPr sz="1725" b="1">
                          <a:solidFill>
                            <a:srgbClr val="131820"/>
                          </a:solidFill>
                        </a:rPr>
                        <a:t>Working mode</a:t>
                      </a:r>
                    </a:p>
                  </a:txBody>
                  <a:tcPr marL="91440" marR="91440" marT="45720" marB="45720">
                    <a:solidFill>
                      <a:srgbClr val="EDF3FA"/>
                    </a:solidFill>
                  </a:tcPr>
                </a:tc>
                <a:tc>
                  <a:txBody>
                    <a:bodyPr/>
                    <a:lstStyle/>
                    <a:p>
                      <a:r>
                        <a:rPr sz="1725" b="1">
                          <a:solidFill>
                            <a:srgbClr val="131820"/>
                          </a:solidFill>
                        </a:rPr>
                        <a:t>Acceptance evidence</a:t>
                      </a:r>
                    </a:p>
                  </a:txBody>
                  <a:tcPr marL="91440" marR="91440" marT="45720" marB="45720">
                    <a:solidFill>
                      <a:srgbClr val="EDF3FA"/>
                    </a:solidFill>
                  </a:tcPr>
                </a:tc>
              </a:tr>
              <a:tr h="603250">
                <a:tc>
                  <a:txBody>
                    <a:bodyPr/>
                    <a:lstStyle/>
                    <a:p>
                      <a:r>
                        <a:rPr sz="1725" b="0">
                          <a:solidFill>
                            <a:srgbClr val="131820"/>
                          </a:solidFill>
                        </a:rPr>
                        <a:t>Schema + API contract</a:t>
                      </a:r>
                    </a:p>
                  </a:txBody>
                  <a:tcPr marL="91440" marR="91440" marT="45720" marB="45720">
                    <a:solidFill>
                      <a:srgbClr val="FFFFFF"/>
                    </a:solidFill>
                  </a:tcPr>
                </a:tc>
                <a:tc>
                  <a:txBody>
                    <a:bodyPr/>
                    <a:lstStyle/>
                    <a:p>
                      <a:r>
                        <a:rPr sz="1725" b="0">
                          <a:solidFill>
                            <a:srgbClr val="131820"/>
                          </a:solidFill>
                        </a:rPr>
                        <a:t>C owns; A/B/D review once</a:t>
                      </a:r>
                    </a:p>
                  </a:txBody>
                  <a:tcPr marL="91440" marR="91440" marT="45720" marB="45720">
                    <a:solidFill>
                      <a:srgbClr val="FFFFFF"/>
                    </a:solidFill>
                  </a:tcPr>
                </a:tc>
                <a:tc>
                  <a:txBody>
                    <a:bodyPr/>
                    <a:lstStyle/>
                    <a:p>
                      <a:r>
                        <a:rPr sz="1725" b="0">
                          <a:solidFill>
                            <a:srgbClr val="131820"/>
                          </a:solidFill>
                        </a:rPr>
                        <a:t>Sample event and endpoint contract frozen</a:t>
                      </a:r>
                    </a:p>
                  </a:txBody>
                  <a:tcPr marL="91440" marR="91440" marT="45720" marB="45720">
                    <a:solidFill>
                      <a:srgbClr val="FFFFFF"/>
                    </a:solidFill>
                  </a:tcPr>
                </a:tc>
              </a:tr>
              <a:tr h="603250">
                <a:tc>
                  <a:txBody>
                    <a:bodyPr/>
                    <a:lstStyle/>
                    <a:p>
                      <a:r>
                        <a:rPr sz="1725" b="0">
                          <a:solidFill>
                            <a:srgbClr val="131820"/>
                          </a:solidFill>
                        </a:rPr>
                        <a:t>Feed-to-alert integration</a:t>
                      </a:r>
                    </a:p>
                  </a:txBody>
                  <a:tcPr marL="91440" marR="91440" marT="45720" marB="45720">
                    <a:solidFill>
                      <a:srgbClr val="FFFFFF"/>
                    </a:solidFill>
                  </a:tcPr>
                </a:tc>
                <a:tc>
                  <a:txBody>
                    <a:bodyPr/>
                    <a:lstStyle/>
                    <a:p>
                      <a:r>
                        <a:rPr sz="1725" b="0">
                          <a:solidFill>
                            <a:srgbClr val="131820"/>
                          </a:solidFill>
                        </a:rPr>
                        <a:t>A + B + C; D validates display</a:t>
                      </a:r>
                    </a:p>
                  </a:txBody>
                  <a:tcPr marL="91440" marR="91440" marT="45720" marB="45720">
                    <a:solidFill>
                      <a:srgbClr val="FFFFFF"/>
                    </a:solidFill>
                  </a:tcPr>
                </a:tc>
                <a:tc>
                  <a:txBody>
                    <a:bodyPr/>
                    <a:lstStyle/>
                    <a:p>
                      <a:r>
                        <a:rPr sz="1725" b="0">
                          <a:solidFill>
                            <a:srgbClr val="131820"/>
                          </a:solidFill>
                        </a:rPr>
                        <a:t>Ledger of accessible cameras; actual plate and evidence</a:t>
                      </a:r>
                    </a:p>
                  </a:txBody>
                  <a:tcPr marL="91440" marR="91440" marT="45720" marB="45720">
                    <a:solidFill>
                      <a:srgbClr val="FFFFFF"/>
                    </a:solidFill>
                  </a:tcPr>
                </a:tc>
              </a:tr>
              <a:tr h="603250">
                <a:tc>
                  <a:txBody>
                    <a:bodyPr/>
                    <a:lstStyle/>
                    <a:p>
                      <a:r>
                        <a:rPr sz="1725" b="0">
                          <a:solidFill>
                            <a:srgbClr val="131820"/>
                          </a:solidFill>
                        </a:rPr>
                        <a:t>ANPR ground truth</a:t>
                      </a:r>
                    </a:p>
                  </a:txBody>
                  <a:tcPr marL="91440" marR="91440" marT="45720" marB="45720">
                    <a:solidFill>
                      <a:srgbClr val="FFFFFF"/>
                    </a:solidFill>
                  </a:tcPr>
                </a:tc>
                <a:tc>
                  <a:txBody>
                    <a:bodyPr/>
                    <a:lstStyle/>
                    <a:p>
                      <a:r>
                        <a:rPr sz="1725" b="0">
                          <a:solidFill>
                            <a:srgbClr val="131820"/>
                          </a:solidFill>
                        </a:rPr>
                        <a:t>B labels; independent teammate checks</a:t>
                      </a:r>
                    </a:p>
                  </a:txBody>
                  <a:tcPr marL="91440" marR="91440" marT="45720" marB="45720">
                    <a:solidFill>
                      <a:srgbClr val="FFFFFF"/>
                    </a:solidFill>
                  </a:tcPr>
                </a:tc>
                <a:tc>
                  <a:txBody>
                    <a:bodyPr/>
                    <a:lstStyle/>
                    <a:p>
                      <a:r>
                        <a:rPr sz="1725" b="0">
                          <a:solidFill>
                            <a:srgbClr val="131820"/>
                          </a:solidFill>
                        </a:rPr>
                        <a:t>Held-out set and disputed-label log</a:t>
                      </a:r>
                    </a:p>
                  </a:txBody>
                  <a:tcPr marL="91440" marR="91440" marT="45720" marB="45720">
                    <a:solidFill>
                      <a:srgbClr val="FFFFFF"/>
                    </a:solidFill>
                  </a:tcPr>
                </a:tc>
              </a:tr>
              <a:tr h="603250">
                <a:tc>
                  <a:txBody>
                    <a:bodyPr/>
                    <a:lstStyle/>
                    <a:p>
                      <a:r>
                        <a:rPr sz="1725" b="0">
                          <a:solidFill>
                            <a:srgbClr val="131820"/>
                          </a:solidFill>
                        </a:rPr>
                        <a:t>Security + recovery</a:t>
                      </a:r>
                    </a:p>
                  </a:txBody>
                  <a:tcPr marL="91440" marR="91440" marT="45720" marB="45720">
                    <a:solidFill>
                      <a:srgbClr val="FFFFFF"/>
                    </a:solidFill>
                  </a:tcPr>
                </a:tc>
                <a:tc>
                  <a:txBody>
                    <a:bodyPr/>
                    <a:lstStyle/>
                    <a:p>
                      <a:r>
                        <a:rPr sz="1725" b="0">
                          <a:solidFill>
                            <a:srgbClr val="131820"/>
                          </a:solidFill>
                        </a:rPr>
                        <a:t>A + C; D tests denied access</a:t>
                      </a:r>
                    </a:p>
                  </a:txBody>
                  <a:tcPr marL="91440" marR="91440" marT="45720" marB="45720">
                    <a:solidFill>
                      <a:srgbClr val="FFFFFF"/>
                    </a:solidFill>
                  </a:tcPr>
                </a:tc>
                <a:tc>
                  <a:txBody>
                    <a:bodyPr/>
                    <a:lstStyle/>
                    <a:p>
                      <a:r>
                        <a:rPr sz="1725" b="0">
                          <a:solidFill>
                            <a:srgbClr val="131820"/>
                          </a:solidFill>
                        </a:rPr>
                        <a:t>Restart/outage logs; cross-role access tests</a:t>
                      </a:r>
                    </a:p>
                  </a:txBody>
                  <a:tcPr marL="91440" marR="91440" marT="45720" marB="45720">
                    <a:solidFill>
                      <a:srgbClr val="FFFFFF"/>
                    </a:solidFill>
                  </a:tcPr>
                </a:tc>
              </a:tr>
              <a:tr h="603250">
                <a:tc>
                  <a:txBody>
                    <a:bodyPr/>
                    <a:lstStyle/>
                    <a:p>
                      <a:r>
                        <a:rPr sz="1725" b="0">
                          <a:solidFill>
                            <a:srgbClr val="131820"/>
                          </a:solidFill>
                        </a:rPr>
                        <a:t>Final demonstration</a:t>
                      </a:r>
                    </a:p>
                  </a:txBody>
                  <a:tcPr marL="91440" marR="91440" marT="45720" marB="45720">
                    <a:solidFill>
                      <a:srgbClr val="FFFFFF"/>
                    </a:solidFill>
                  </a:tcPr>
                </a:tc>
                <a:tc>
                  <a:txBody>
                    <a:bodyPr/>
                    <a:lstStyle/>
                    <a:p>
                      <a:r>
                        <a:rPr sz="1725" b="0">
                          <a:solidFill>
                            <a:srgbClr val="131820"/>
                          </a:solidFill>
                        </a:rPr>
                        <a:t>D presents; all rehearse</a:t>
                      </a:r>
                    </a:p>
                  </a:txBody>
                  <a:tcPr marL="91440" marR="91440" marT="45720" marB="45720">
                    <a:solidFill>
                      <a:srgbClr val="FFFFFF"/>
                    </a:solidFill>
                  </a:tcPr>
                </a:tc>
                <a:tc>
                  <a:txBody>
                    <a:bodyPr/>
                    <a:lstStyle/>
                    <a:p>
                      <a:r>
                        <a:rPr sz="1725" b="0">
                          <a:solidFill>
                            <a:srgbClr val="131820"/>
                          </a:solidFill>
                        </a:rPr>
                        <a:t>Both recordings, output report, working links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61698501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7533E26-C2CF-4055-80C4-BFA89A21DCAC}"/>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AA09D223-29E2-4145-AD38-19A030D4AC98}"/>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Solo 4-day build with Grok or Codex</a:t>
            </a:r>
          </a:p>
        </p:txBody>
      </p:sp>
      <p:sp>
        <p:nvSpPr>
          <p:cNvPr id="3" name="">
            <a:extLst xmlns:a="http://schemas.openxmlformats.org/drawingml/2006/main">
              <a:ext uri="{FF2B5EF4-FFF2-40B4-BE49-F238E27FC236}">
                <a16:creationId xmlns:a16="http://schemas.microsoft.com/office/drawing/2014/main" id="{9A58BDED-1413-41D5-BCB4-3F17C9B7AF15}"/>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Not 5-7 weeks. One person plus generated code; feed access is still the blocker.</a:t>
            </a:r>
          </a:p>
        </p:txBody>
      </p:sp>
      <p:sp>
        <p:nvSpPr>
          <p:cNvPr id="4" name="">
            <a:extLst xmlns:a="http://schemas.openxmlformats.org/drawingml/2006/main">
              <a:ext uri="{FF2B5EF4-FFF2-40B4-BE49-F238E27FC236}">
                <a16:creationId xmlns:a16="http://schemas.microsoft.com/office/drawing/2014/main" id="{424F6B3F-BB6C-41A8-B763-E1D1AFB5CA02}"/>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C952B02-24D5-4C31-AE03-B44E9D41BD4F}"/>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819632D2-342F-46D1-9ED3-D0AEDFB44B83}"/>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25</a:t>
            </a:r>
          </a:p>
        </p:txBody>
      </p:sp>
      <p:sp>
        <p:nvSpPr>
          <p:cNvPr id="7" name="">
            <a:extLst xmlns:a="http://schemas.openxmlformats.org/drawingml/2006/main">
              <a:ext uri="{FF2B5EF4-FFF2-40B4-BE49-F238E27FC236}">
                <a16:creationId xmlns:a16="http://schemas.microsoft.com/office/drawing/2014/main" id="{17A915EA-C981-40BD-9694-3E40EFE7AFB6}"/>
              </a:ext>
            </a:extLst>
          </p:cNvPr>
          <p:cNvSpPr>
            <a:spLocks xmlns:a="http://schemas.openxmlformats.org/drawingml/2006/main" noGrp="1"/>
          </p:cNvSpPr>
          <p:nvPr/>
        </p:nvSpPr>
        <p:spPr>
          <a:xfrm xmlns:a="http://schemas.openxmlformats.org/drawingml/2006/main">
            <a:off x="45720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DAYS 1-2</a:t>
            </a:r>
          </a:p>
        </p:txBody>
      </p:sp>
      <p:sp>
        <p:nvSpPr>
          <p:cNvPr id="8" name="">
            <a:extLst xmlns:a="http://schemas.openxmlformats.org/drawingml/2006/main">
              <a:ext uri="{FF2B5EF4-FFF2-40B4-BE49-F238E27FC236}">
                <a16:creationId xmlns:a16="http://schemas.microsoft.com/office/drawing/2014/main" id="{E0B6BA36-9318-443F-944D-CBD3E7C2896A}"/>
              </a:ext>
            </a:extLst>
          </p:cNvPr>
          <p:cNvSpPr>
            <a:spLocks xmlns:a="http://schemas.openxmlformats.org/drawingml/2006/main" noGrp="1"/>
          </p:cNvSpPr>
          <p:nvPr/>
        </p:nvSpPr>
        <p:spPr>
          <a:xfrm xmlns:a="http://schemas.openxmlformats.org/drawingml/2006/main">
            <a:off x="45720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A428613-13F8-47AC-BF5C-4DC739EAD3AF}"/>
              </a:ext>
            </a:extLst>
          </p:cNvPr>
          <p:cNvSpPr>
            <a:spLocks xmlns:a="http://schemas.openxmlformats.org/drawingml/2006/main" noGrp="1"/>
          </p:cNvSpPr>
          <p:nvPr/>
        </p:nvSpPr>
        <p:spPr>
          <a:xfrm xmlns:a="http://schemas.openxmlformats.org/drawingml/2006/main">
            <a:off x="45720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Registry + own-feed</a:t>
            </a:r>
          </a:p>
          <a:p xmlns:a="http://schemas.openxmlformats.org/drawingml/2006/main">
            <a:pPr>
              <a:defRPr sz="2025" b="0">
                <a:solidFill>
                  <a:srgbClr val="131820"/>
                </a:solidFill>
              </a:defRPr>
            </a:pPr>
            <a:r>
              <a:rPr sz="2025" b="0">
                <a:solidFill>
                  <a:srgbClr val="131820"/>
                </a:solidFill>
              </a:rPr>
              <a:t>Persistent sighting</a:t>
            </a:r>
          </a:p>
          <a:p xmlns:a="http://schemas.openxmlformats.org/drawingml/2006/main">
            <a:pPr>
              <a:defRPr sz="2025" b="0">
                <a:solidFill>
                  <a:srgbClr val="131820"/>
                </a:solidFill>
              </a:defRPr>
            </a:pPr>
            <a:r>
              <a:rPr sz="2025" b="0">
                <a:solidFill>
                  <a:srgbClr val="131820"/>
                </a:solidFill>
              </a:rPr>
              <a:t>Exact watchlist alert</a:t>
            </a:r>
          </a:p>
          <a:p xmlns:a="http://schemas.openxmlformats.org/drawingml/2006/main">
            <a:pPr>
              <a:defRPr sz="2025" b="0">
                <a:solidFill>
                  <a:srgbClr val="131820"/>
                </a:solidFill>
              </a:defRPr>
            </a:pPr>
            <a:r>
              <a:rPr sz="2025" b="0">
                <a:solidFill>
                  <a:srgbClr val="131820"/>
                </a:solidFill>
              </a:rPr>
              <a:t>GIS inferred path</a:t>
            </a:r>
          </a:p>
        </p:txBody>
      </p:sp>
      <p:sp>
        <p:nvSpPr>
          <p:cNvPr id="10" name="">
            <a:extLst xmlns:a="http://schemas.openxmlformats.org/drawingml/2006/main">
              <a:ext uri="{FF2B5EF4-FFF2-40B4-BE49-F238E27FC236}">
                <a16:creationId xmlns:a16="http://schemas.microsoft.com/office/drawing/2014/main" id="{B705ED4D-C6FC-4B3B-BF09-EF949235EF1A}"/>
              </a:ext>
            </a:extLst>
          </p:cNvPr>
          <p:cNvSpPr>
            <a:spLocks xmlns:a="http://schemas.openxmlformats.org/drawingml/2006/main" noGrp="1"/>
          </p:cNvSpPr>
          <p:nvPr/>
        </p:nvSpPr>
        <p:spPr>
          <a:xfrm xmlns:a="http://schemas.openxmlformats.org/drawingml/2006/main">
            <a:off x="4333875"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DAY 3</a:t>
            </a:r>
          </a:p>
        </p:txBody>
      </p:sp>
      <p:sp>
        <p:nvSpPr>
          <p:cNvPr id="11" name="">
            <a:extLst xmlns:a="http://schemas.openxmlformats.org/drawingml/2006/main">
              <a:ext uri="{FF2B5EF4-FFF2-40B4-BE49-F238E27FC236}">
                <a16:creationId xmlns:a16="http://schemas.microsoft.com/office/drawing/2014/main" id="{2286E077-EC13-44C4-A9D4-67A5C326FF53}"/>
              </a:ext>
            </a:extLst>
          </p:cNvPr>
          <p:cNvSpPr>
            <a:spLocks xmlns:a="http://schemas.openxmlformats.org/drawingml/2006/main" noGrp="1"/>
          </p:cNvSpPr>
          <p:nvPr/>
        </p:nvSpPr>
        <p:spPr>
          <a:xfrm xmlns:a="http://schemas.openxmlformats.org/drawingml/2006/main">
            <a:off x="4333875"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DAAAFCD-1DB8-41CE-B926-C21E4C935C34}"/>
              </a:ext>
            </a:extLst>
          </p:cNvPr>
          <p:cNvSpPr>
            <a:spLocks xmlns:a="http://schemas.openxmlformats.org/drawingml/2006/main" noGrp="1"/>
          </p:cNvSpPr>
          <p:nvPr/>
        </p:nvSpPr>
        <p:spPr>
          <a:xfrm xmlns:a="http://schemas.openxmlformats.org/drawingml/2006/main">
            <a:off x="4333875"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Ledger all ~50 cameras</a:t>
            </a:r>
          </a:p>
          <a:p xmlns:a="http://schemas.openxmlformats.org/drawingml/2006/main">
            <a:pPr>
              <a:defRPr sz="2025" b="0">
                <a:solidFill>
                  <a:srgbClr val="131820"/>
                </a:solidFill>
              </a:defRPr>
            </a:pPr>
            <a:r>
              <a:rPr sz="2025" b="0">
                <a:solidFill>
                  <a:srgbClr val="131820"/>
                </a:solidFill>
              </a:rPr>
              <a:t>Calibrate sampling</a:t>
            </a:r>
          </a:p>
          <a:p xmlns:a="http://schemas.openxmlformats.org/drawingml/2006/main">
            <a:pPr>
              <a:defRPr sz="2025" b="0">
                <a:solidFill>
                  <a:srgbClr val="131820"/>
                </a:solidFill>
              </a:defRPr>
            </a:pPr>
            <a:r>
              <a:rPr sz="2025" b="0">
                <a:solidFill>
                  <a:srgbClr val="131820"/>
                </a:solidFill>
              </a:rPr>
              <a:t>Disclose analytics coverage</a:t>
            </a:r>
          </a:p>
          <a:p xmlns:a="http://schemas.openxmlformats.org/drawingml/2006/main">
            <a:pPr>
              <a:defRPr sz="2025" b="0">
                <a:solidFill>
                  <a:srgbClr val="131820"/>
                </a:solidFill>
              </a:defRPr>
            </a:pPr>
            <a:r>
              <a:rPr sz="2025" b="0">
                <a:solidFill>
                  <a:srgbClr val="131820"/>
                </a:solidFill>
              </a:rPr>
              <a:t>Government-feed if decoded</a:t>
            </a:r>
          </a:p>
        </p:txBody>
      </p:sp>
      <p:sp>
        <p:nvSpPr>
          <p:cNvPr id="13" name="">
            <a:extLst xmlns:a="http://schemas.openxmlformats.org/drawingml/2006/main">
              <a:ext uri="{FF2B5EF4-FFF2-40B4-BE49-F238E27FC236}">
                <a16:creationId xmlns:a16="http://schemas.microsoft.com/office/drawing/2014/main" id="{BFF9ACAE-E114-4CA4-8854-BB5AFC182DD6}"/>
              </a:ext>
            </a:extLst>
          </p:cNvPr>
          <p:cNvSpPr>
            <a:spLocks xmlns:a="http://schemas.openxmlformats.org/drawingml/2006/main" noGrp="1"/>
          </p:cNvSpPr>
          <p:nvPr/>
        </p:nvSpPr>
        <p:spPr>
          <a:xfrm xmlns:a="http://schemas.openxmlformats.org/drawingml/2006/main">
            <a:off x="821055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DAY 4</a:t>
            </a:r>
          </a:p>
        </p:txBody>
      </p:sp>
      <p:sp>
        <p:nvSpPr>
          <p:cNvPr id="14" name="">
            <a:extLst xmlns:a="http://schemas.openxmlformats.org/drawingml/2006/main">
              <a:ext uri="{FF2B5EF4-FFF2-40B4-BE49-F238E27FC236}">
                <a16:creationId xmlns:a16="http://schemas.microsoft.com/office/drawing/2014/main" id="{9DF2680E-A101-42C3-8DAC-B99B06C537B9}"/>
              </a:ext>
            </a:extLst>
          </p:cNvPr>
          <p:cNvSpPr>
            <a:spLocks xmlns:a="http://schemas.openxmlformats.org/drawingml/2006/main" noGrp="1"/>
          </p:cNvSpPr>
          <p:nvPr/>
        </p:nvSpPr>
        <p:spPr>
          <a:xfrm xmlns:a="http://schemas.openxmlformats.org/drawingml/2006/main">
            <a:off x="821055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2262D08-70CA-4AEF-A858-5A07FF3F1DF7}"/>
              </a:ext>
            </a:extLst>
          </p:cNvPr>
          <p:cNvSpPr>
            <a:spLocks xmlns:a="http://schemas.openxmlformats.org/drawingml/2006/main" noGrp="1"/>
          </p:cNvSpPr>
          <p:nvPr/>
        </p:nvSpPr>
        <p:spPr>
          <a:xfrm xmlns:a="http://schemas.openxmlformats.org/drawingml/2006/main">
            <a:off x="821055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Feature freeze midday</a:t>
            </a:r>
          </a:p>
          <a:p xmlns:a="http://schemas.openxmlformats.org/drawingml/2006/main">
            <a:pPr>
              <a:defRPr sz="2025" b="0">
                <a:solidFill>
                  <a:srgbClr val="131820"/>
                </a:solidFill>
              </a:defRPr>
            </a:pPr>
            <a:r>
              <a:rPr sz="2025" b="0">
                <a:solidFill>
                  <a:srgbClr val="131820"/>
                </a:solidFill>
              </a:rPr>
              <a:t>Record both demos</a:t>
            </a:r>
          </a:p>
          <a:p xmlns:a="http://schemas.openxmlformats.org/drawingml/2006/main">
            <a:pPr>
              <a:defRPr sz="2025" b="0">
                <a:solidFill>
                  <a:srgbClr val="131820"/>
                </a:solidFill>
              </a:defRPr>
            </a:pPr>
            <a:r>
              <a:rPr sz="2025" b="0">
                <a:solidFill>
                  <a:srgbClr val="131820"/>
                </a:solidFill>
              </a:rPr>
              <a:t>HLD, report, links</a:t>
            </a:r>
          </a:p>
          <a:p xmlns:a="http://schemas.openxmlformats.org/drawingml/2006/main">
            <a:pPr>
              <a:defRPr sz="2025" b="0">
                <a:solidFill>
                  <a:srgbClr val="131820"/>
                </a:solidFill>
              </a:defRPr>
            </a:pPr>
            <a:r>
              <a:rPr sz="2025" b="0">
                <a:solidFill>
                  <a:srgbClr val="131820"/>
                </a:solidFill>
              </a:rPr>
              <a:t>No new features after midday</a:t>
            </a:r>
          </a:p>
        </p:txBody>
      </p:sp>
    </p:spTree>
    <p:extLst>
      <p:ext uri="{BB962C8B-B14F-4D97-AF65-F5344CB8AC3E}">
        <p14:creationId xmlns:p14="http://schemas.microsoft.com/office/powerpoint/2010/main" val="9424456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40EEB3F-EB66-4E8E-A5B6-733BDDA0D4A2}"/>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43419210-2C94-4CE9-B80A-BFFE274A5F8E}"/>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Protect the critical path</a:t>
            </a:r>
          </a:p>
        </p:txBody>
      </p:sp>
      <p:sp>
        <p:nvSpPr>
          <p:cNvPr id="3" name="">
            <a:extLst xmlns:a="http://schemas.openxmlformats.org/drawingml/2006/main">
              <a:ext uri="{FF2B5EF4-FFF2-40B4-BE49-F238E27FC236}">
                <a16:creationId xmlns:a16="http://schemas.microsoft.com/office/drawing/2014/main" id="{5FA37D13-A178-4235-ACF5-E8D0CC3B506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If access or quality fails, expose the blocker early and use an honest fallback.</a:t>
            </a:r>
          </a:p>
        </p:txBody>
      </p:sp>
      <p:sp>
        <p:nvSpPr>
          <p:cNvPr id="4" name="">
            <a:extLst xmlns:a="http://schemas.openxmlformats.org/drawingml/2006/main">
              <a:ext uri="{FF2B5EF4-FFF2-40B4-BE49-F238E27FC236}">
                <a16:creationId xmlns:a16="http://schemas.microsoft.com/office/drawing/2014/main" id="{D0011D65-2AC1-41FD-8DB1-A13363BAD1F5}"/>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45907D68-EB9B-4913-BDB3-205BC37704B5}"/>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64A50599-4D11-456F-A6A6-C1387D7A3816}"/>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26</a:t>
            </a:r>
          </a:p>
        </p:txBody>
      </p:sp>
      <p:sp>
        <p:nvSpPr>
          <p:cNvPr id="7" name="">
            <a:extLst xmlns:a="http://schemas.openxmlformats.org/drawingml/2006/main">
              <a:ext uri="{FF2B5EF4-FFF2-40B4-BE49-F238E27FC236}">
                <a16:creationId xmlns:a16="http://schemas.microsoft.com/office/drawing/2014/main" id="{BEBF258F-0C83-4195-B4EE-85D7BD952B7F}"/>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Hard 4-day checkpoints</a:t>
            </a:r>
          </a:p>
        </p:txBody>
      </p:sp>
      <p:sp>
        <p:nvSpPr>
          <p:cNvPr id="8" name="">
            <a:extLst xmlns:a="http://schemas.openxmlformats.org/drawingml/2006/main">
              <a:ext uri="{FF2B5EF4-FFF2-40B4-BE49-F238E27FC236}">
                <a16:creationId xmlns:a16="http://schemas.microsoft.com/office/drawing/2014/main" id="{7FBB2765-9B5C-45E2-A5AA-8A5E967C1B93}"/>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Midday D1: no government feed. Escalate access immediately.</a:t>
            </a:r>
          </a:p>
        </p:txBody>
      </p:sp>
      <p:sp>
        <p:nvSpPr>
          <p:cNvPr id="9" name="">
            <a:extLst xmlns:a="http://schemas.openxmlformats.org/drawingml/2006/main">
              <a:ext uri="{FF2B5EF4-FFF2-40B4-BE49-F238E27FC236}">
                <a16:creationId xmlns:a16="http://schemas.microsoft.com/office/drawing/2014/main" id="{7553D252-1A5C-4F94-927A-62C236CE2ACE}"/>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End D1: no persistent sighting. Stop UI and infrastructure.</a:t>
            </a:r>
          </a:p>
        </p:txBody>
      </p:sp>
      <p:sp>
        <p:nvSpPr>
          <p:cNvPr id="10" name="">
            <a:extLst xmlns:a="http://schemas.openxmlformats.org/drawingml/2006/main">
              <a:ext uri="{FF2B5EF4-FFF2-40B4-BE49-F238E27FC236}">
                <a16:creationId xmlns:a16="http://schemas.microsoft.com/office/drawing/2014/main" id="{ABFA3091-E6F7-4F8B-BF68-665B3AA02E27}"/>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Midday D2: no end-to-end alert. Drop fuzzy, tracking, bonus.</a:t>
            </a:r>
          </a:p>
        </p:txBody>
      </p:sp>
      <p:sp>
        <p:nvSpPr>
          <p:cNvPr id="11" name="">
            <a:extLst xmlns:a="http://schemas.openxmlformats.org/drawingml/2006/main">
              <a:ext uri="{FF2B5EF4-FFF2-40B4-BE49-F238E27FC236}">
                <a16:creationId xmlns:a16="http://schemas.microsoft.com/office/drawing/2014/main" id="{08993326-0DAD-404E-A610-EF8E0F991D34}"/>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Scope cuts</a:t>
            </a:r>
          </a:p>
        </p:txBody>
      </p:sp>
      <p:sp>
        <p:nvSpPr>
          <p:cNvPr id="12" name="">
            <a:extLst xmlns:a="http://schemas.openxmlformats.org/drawingml/2006/main">
              <a:ext uri="{FF2B5EF4-FFF2-40B4-BE49-F238E27FC236}">
                <a16:creationId xmlns:a16="http://schemas.microsoft.com/office/drawing/2014/main" id="{687312E9-5898-4560-9AD6-8571014C8EFD}"/>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Midday D3: no stable concurrency. Lower sampling; disclose coverage.</a:t>
            </a:r>
          </a:p>
        </p:txBody>
      </p:sp>
      <p:sp>
        <p:nvSpPr>
          <p:cNvPr id="13" name="">
            <a:extLst xmlns:a="http://schemas.openxmlformats.org/drawingml/2006/main">
              <a:ext uri="{FF2B5EF4-FFF2-40B4-BE49-F238E27FC236}">
                <a16:creationId xmlns:a16="http://schemas.microsoft.com/office/drawing/2014/main" id="{7B3FC06D-65BB-409B-A1FD-FF088942E26F}"/>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After D4 midday: no new features.</a:t>
            </a:r>
          </a:p>
        </p:txBody>
      </p:sp>
      <p:sp>
        <p:nvSpPr>
          <p:cNvPr id="14" name="">
            <a:extLst xmlns:a="http://schemas.openxmlformats.org/drawingml/2006/main">
              <a:ext uri="{FF2B5EF4-FFF2-40B4-BE49-F238E27FC236}">
                <a16:creationId xmlns:a16="http://schemas.microsoft.com/office/drawing/2014/main" id="{8F91D85F-E745-4FF3-824C-2A3852607784}"/>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Day-1 question is feed access, not model selection.</a:t>
            </a:r>
          </a:p>
        </p:txBody>
      </p:sp>
    </p:spTree>
    <p:extLst>
      <p:ext uri="{BB962C8B-B14F-4D97-AF65-F5344CB8AC3E}">
        <p14:creationId xmlns:p14="http://schemas.microsoft.com/office/powerpoint/2010/main" val="17056272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B84FA58-3B8D-461A-A238-95000BCFFB2C}"/>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3E93D2AC-D234-47BB-8FF2-C2B61417DB5E}"/>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Rehearse a 2–3 minute working demo</a:t>
            </a:r>
          </a:p>
        </p:txBody>
      </p:sp>
      <p:sp>
        <p:nvSpPr>
          <p:cNvPr id="3" name="">
            <a:extLst xmlns:a="http://schemas.openxmlformats.org/drawingml/2006/main">
              <a:ext uri="{FF2B5EF4-FFF2-40B4-BE49-F238E27FC236}">
                <a16:creationId xmlns:a16="http://schemas.microsoft.com/office/drawing/2014/main" id="{6C03CA3C-0786-4FF2-B504-71ED0BC7E28A}"/>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Suggested 150-second own-feed recording; the government-feed demonstration is a separate deliverable.</a:t>
            </a:r>
          </a:p>
        </p:txBody>
      </p:sp>
      <p:sp>
        <p:nvSpPr>
          <p:cNvPr id="4" name="">
            <a:extLst xmlns:a="http://schemas.openxmlformats.org/drawingml/2006/main">
              <a:ext uri="{FF2B5EF4-FFF2-40B4-BE49-F238E27FC236}">
                <a16:creationId xmlns:a16="http://schemas.microsoft.com/office/drawing/2014/main" id="{B88D4598-7D5E-4CA6-8290-FF37438FB7CA}"/>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7A1C63-EBC1-450B-BD4E-1267AFF7A0EC}"/>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1A33D014-7594-4E87-9E4B-78FC7A100EED}"/>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27</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1524000"/>
                <a:gridCol w="4857750"/>
                <a:gridCol w="4895850"/>
              </a:tblGrid>
              <a:tr h="603250">
                <a:tc>
                  <a:txBody>
                    <a:bodyPr/>
                    <a:lstStyle/>
                    <a:p>
                      <a:r>
                        <a:rPr sz="1725" b="1">
                          <a:solidFill>
                            <a:srgbClr val="131820"/>
                          </a:solidFill>
                        </a:rPr>
                        <a:t>Time</a:t>
                      </a:r>
                    </a:p>
                  </a:txBody>
                  <a:tcPr marL="91440" marR="91440" marT="45720" marB="45720">
                    <a:solidFill>
                      <a:srgbClr val="EDF3FA"/>
                    </a:solidFill>
                  </a:tcPr>
                </a:tc>
                <a:tc>
                  <a:txBody>
                    <a:bodyPr/>
                    <a:lstStyle/>
                    <a:p>
                      <a:r>
                        <a:rPr sz="1725" b="1">
                          <a:solidFill>
                            <a:srgbClr val="131820"/>
                          </a:solidFill>
                        </a:rPr>
                        <a:t>Show</a:t>
                      </a:r>
                    </a:p>
                  </a:txBody>
                  <a:tcPr marL="91440" marR="91440" marT="45720" marB="45720">
                    <a:solidFill>
                      <a:srgbClr val="EDF3FA"/>
                    </a:solidFill>
                  </a:tcPr>
                </a:tc>
                <a:tc>
                  <a:txBody>
                    <a:bodyPr/>
                    <a:lstStyle/>
                    <a:p>
                      <a:r>
                        <a:rPr sz="1725" b="1">
                          <a:solidFill>
                            <a:srgbClr val="131820"/>
                          </a:solidFill>
                        </a:rPr>
                        <a:t>Proof</a:t>
                      </a:r>
                    </a:p>
                  </a:txBody>
                  <a:tcPr marL="91440" marR="91440" marT="45720" marB="45720">
                    <a:solidFill>
                      <a:srgbClr val="EDF3FA"/>
                    </a:solidFill>
                  </a:tcPr>
                </a:tc>
              </a:tr>
              <a:tr h="603250">
                <a:tc>
                  <a:txBody>
                    <a:bodyPr/>
                    <a:lstStyle/>
                    <a:p>
                      <a:r>
                        <a:rPr sz="1725" b="0">
                          <a:solidFill>
                            <a:srgbClr val="131820"/>
                          </a:solidFill>
                        </a:rPr>
                        <a:t>0–20 s</a:t>
                      </a:r>
                    </a:p>
                  </a:txBody>
                  <a:tcPr marL="91440" marR="91440" marT="45720" marB="45720">
                    <a:solidFill>
                      <a:srgbClr val="FFFFFF"/>
                    </a:solidFill>
                  </a:tcPr>
                </a:tc>
                <a:tc>
                  <a:txBody>
                    <a:bodyPr/>
                    <a:lstStyle/>
                    <a:p>
                      <a:r>
                        <a:rPr sz="1725" b="0">
                          <a:solidFill>
                            <a:srgbClr val="131820"/>
                          </a:solidFill>
                        </a:rPr>
                        <a:t>Onboard source and display live / recorded feed</a:t>
                      </a:r>
                    </a:p>
                  </a:txBody>
                  <a:tcPr marL="91440" marR="91440" marT="45720" marB="45720">
                    <a:solidFill>
                      <a:srgbClr val="FFFFFF"/>
                    </a:solidFill>
                  </a:tcPr>
                </a:tc>
                <a:tc>
                  <a:txBody>
                    <a:bodyPr/>
                    <a:lstStyle/>
                    <a:p>
                      <a:r>
                        <a:rPr sz="1725" b="0">
                          <a:solidFill>
                            <a:srgbClr val="131820"/>
                          </a:solidFill>
                        </a:rPr>
                        <a:t>Camera ID, real backend and timestamp</a:t>
                      </a:r>
                    </a:p>
                  </a:txBody>
                  <a:tcPr marL="91440" marR="91440" marT="45720" marB="45720">
                    <a:solidFill>
                      <a:srgbClr val="FFFFFF"/>
                    </a:solidFill>
                  </a:tcPr>
                </a:tc>
              </a:tr>
              <a:tr h="603250">
                <a:tc>
                  <a:txBody>
                    <a:bodyPr/>
                    <a:lstStyle/>
                    <a:p>
                      <a:r>
                        <a:rPr sz="1725" b="0">
                          <a:solidFill>
                            <a:srgbClr val="131820"/>
                          </a:solidFill>
                        </a:rPr>
                        <a:t>20–45 s</a:t>
                      </a:r>
                    </a:p>
                  </a:txBody>
                  <a:tcPr marL="91440" marR="91440" marT="45720" marB="45720">
                    <a:solidFill>
                      <a:srgbClr val="FFFFFF"/>
                    </a:solidFill>
                  </a:tcPr>
                </a:tc>
                <a:tc>
                  <a:txBody>
                    <a:bodyPr/>
                    <a:lstStyle/>
                    <a:p>
                      <a:r>
                        <a:rPr sz="1725" b="0">
                          <a:solidFill>
                            <a:srgbClr val="131820"/>
                          </a:solidFill>
                        </a:rPr>
                        <a:t>Inspect the synthetic watchlist</a:t>
                      </a:r>
                    </a:p>
                  </a:txBody>
                  <a:tcPr marL="91440" marR="91440" marT="45720" marB="45720">
                    <a:solidFill>
                      <a:srgbClr val="FFFFFF"/>
                    </a:solidFill>
                  </a:tcPr>
                </a:tc>
                <a:tc>
                  <a:txBody>
                    <a:bodyPr/>
                    <a:lstStyle/>
                    <a:p>
                      <a:r>
                        <a:rPr sz="1725" b="0">
                          <a:solidFill>
                            <a:srgbClr val="131820"/>
                          </a:solidFill>
                        </a:rPr>
                        <a:t>Active target, source label and validity</a:t>
                      </a:r>
                    </a:p>
                  </a:txBody>
                  <a:tcPr marL="91440" marR="91440" marT="45720" marB="45720">
                    <a:solidFill>
                      <a:srgbClr val="FFFFFF"/>
                    </a:solidFill>
                  </a:tcPr>
                </a:tc>
              </a:tr>
              <a:tr h="603250">
                <a:tc>
                  <a:txBody>
                    <a:bodyPr/>
                    <a:lstStyle/>
                    <a:p>
                      <a:r>
                        <a:rPr sz="1725" b="0">
                          <a:solidFill>
                            <a:srgbClr val="131820"/>
                          </a:solidFill>
                        </a:rPr>
                        <a:t>45–85 s</a:t>
                      </a:r>
                    </a:p>
                  </a:txBody>
                  <a:tcPr marL="91440" marR="91440" marT="45720" marB="45720">
                    <a:solidFill>
                      <a:srgbClr val="FFFFFF"/>
                    </a:solidFill>
                  </a:tcPr>
                </a:tc>
                <a:tc>
                  <a:txBody>
                    <a:bodyPr/>
                    <a:lstStyle/>
                    <a:p>
                      <a:r>
                        <a:rPr sz="1725" b="0">
                          <a:solidFill>
                            <a:srgbClr val="131820"/>
                          </a:solidFill>
                        </a:rPr>
                        <a:t>Vehicle passage and automatic alert</a:t>
                      </a:r>
                    </a:p>
                  </a:txBody>
                  <a:tcPr marL="91440" marR="91440" marT="45720" marB="45720">
                    <a:solidFill>
                      <a:srgbClr val="FFFFFF"/>
                    </a:solidFill>
                  </a:tcPr>
                </a:tc>
                <a:tc>
                  <a:txBody>
                    <a:bodyPr/>
                    <a:lstStyle/>
                    <a:p>
                      <a:r>
                        <a:rPr sz="1725" b="0">
                          <a:solidFill>
                            <a:srgbClr val="131820"/>
                          </a:solidFill>
                        </a:rPr>
                        <a:t>Detected plate, crop, confidence and delay</a:t>
                      </a:r>
                    </a:p>
                  </a:txBody>
                  <a:tcPr marL="91440" marR="91440" marT="45720" marB="45720">
                    <a:solidFill>
                      <a:srgbClr val="FFFFFF"/>
                    </a:solidFill>
                  </a:tcPr>
                </a:tc>
              </a:tr>
              <a:tr h="603250">
                <a:tc>
                  <a:txBody>
                    <a:bodyPr/>
                    <a:lstStyle/>
                    <a:p>
                      <a:r>
                        <a:rPr sz="1725" b="0">
                          <a:solidFill>
                            <a:srgbClr val="131820"/>
                          </a:solidFill>
                        </a:rPr>
                        <a:t>85–115 s</a:t>
                      </a:r>
                    </a:p>
                  </a:txBody>
                  <a:tcPr marL="91440" marR="91440" marT="45720" marB="45720">
                    <a:solidFill>
                      <a:srgbClr val="FFFFFF"/>
                    </a:solidFill>
                  </a:tcPr>
                </a:tc>
                <a:tc>
                  <a:txBody>
                    <a:bodyPr/>
                    <a:lstStyle/>
                    <a:p>
                      <a:r>
                        <a:rPr sz="1725" b="0">
                          <a:solidFill>
                            <a:srgbClr val="131820"/>
                          </a:solidFill>
                        </a:rPr>
                        <a:t>Open GIS sightings and searchable history</a:t>
                      </a:r>
                    </a:p>
                  </a:txBody>
                  <a:tcPr marL="91440" marR="91440" marT="45720" marB="45720">
                    <a:solidFill>
                      <a:srgbClr val="FFFFFF"/>
                    </a:solidFill>
                  </a:tcPr>
                </a:tc>
                <a:tc>
                  <a:txBody>
                    <a:bodyPr/>
                    <a:lstStyle/>
                    <a:p>
                      <a:r>
                        <a:rPr sz="1725" b="0">
                          <a:solidFill>
                            <a:srgbClr val="131820"/>
                          </a:solidFill>
                        </a:rPr>
                        <a:t>Camera locations and observed timeline</a:t>
                      </a:r>
                    </a:p>
                  </a:txBody>
                  <a:tcPr marL="91440" marR="91440" marT="45720" marB="45720">
                    <a:solidFill>
                      <a:srgbClr val="FFFFFF"/>
                    </a:solidFill>
                  </a:tcPr>
                </a:tc>
              </a:tr>
              <a:tr h="603250">
                <a:tc>
                  <a:txBody>
                    <a:bodyPr/>
                    <a:lstStyle/>
                    <a:p>
                      <a:r>
                        <a:rPr sz="1725" b="0">
                          <a:solidFill>
                            <a:srgbClr val="131820"/>
                          </a:solidFill>
                        </a:rPr>
                        <a:t>115–150 s</a:t>
                      </a:r>
                    </a:p>
                  </a:txBody>
                  <a:tcPr marL="91440" marR="91440" marT="45720" marB="45720">
                    <a:solidFill>
                      <a:srgbClr val="FFFFFF"/>
                    </a:solidFill>
                  </a:tcPr>
                </a:tc>
                <a:tc>
                  <a:txBody>
                    <a:bodyPr/>
                    <a:lstStyle/>
                    <a:p>
                      <a:r>
                        <a:rPr sz="1725" b="0">
                          <a:solidFill>
                            <a:srgbClr val="131820"/>
                          </a:solidFill>
                        </a:rPr>
                        <a:t>Review alert, export report, show health</a:t>
                      </a:r>
                    </a:p>
                  </a:txBody>
                  <a:tcPr marL="91440" marR="91440" marT="45720" marB="45720">
                    <a:solidFill>
                      <a:srgbClr val="FFFFFF"/>
                    </a:solidFill>
                  </a:tcPr>
                </a:tc>
                <a:tc>
                  <a:txBody>
                    <a:bodyPr/>
                    <a:lstStyle/>
                    <a:p>
                      <a:r>
                        <a:rPr sz="1725" b="0">
                          <a:solidFill>
                            <a:srgbClr val="131820"/>
                          </a:solidFill>
                        </a:rPr>
                        <a:t>Audit trail and evidence references</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95094555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DAA2473-8737-408C-9815-D3DDF0AAF759}"/>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25C73CD6-488D-4694-8466-E0FCB1669164}"/>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Submit a consistent evidence package</a:t>
            </a:r>
          </a:p>
        </p:txBody>
      </p:sp>
      <p:sp>
        <p:nvSpPr>
          <p:cNvPr id="3" name="">
            <a:extLst xmlns:a="http://schemas.openxmlformats.org/drawingml/2006/main">
              <a:ext uri="{FF2B5EF4-FFF2-40B4-BE49-F238E27FC236}">
                <a16:creationId xmlns:a16="http://schemas.microsoft.com/office/drawing/2014/main" id="{BF02C223-61A0-4829-A609-922F9816ACCD}"/>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The presentation supports the build; it does not replace any required working deliverable.</a:t>
            </a:r>
          </a:p>
        </p:txBody>
      </p:sp>
      <p:sp>
        <p:nvSpPr>
          <p:cNvPr id="4" name="">
            <a:extLst xmlns:a="http://schemas.openxmlformats.org/drawingml/2006/main">
              <a:ext uri="{FF2B5EF4-FFF2-40B4-BE49-F238E27FC236}">
                <a16:creationId xmlns:a16="http://schemas.microsoft.com/office/drawing/2014/main" id="{FCF6ED8E-5E87-43EB-9AF4-21FFA326181E}"/>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D75B033-72BF-4281-9657-1B2E7DF45012}"/>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46EDE0B9-2445-4089-8133-16A4A556A98B}"/>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28</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3048000"/>
                <a:gridCol w="4667250"/>
                <a:gridCol w="3562350"/>
              </a:tblGrid>
              <a:tr h="603250">
                <a:tc>
                  <a:txBody>
                    <a:bodyPr/>
                    <a:lstStyle/>
                    <a:p>
                      <a:r>
                        <a:rPr sz="1725" b="1">
                          <a:solidFill>
                            <a:srgbClr val="131820"/>
                          </a:solidFill>
                        </a:rPr>
                        <a:t>Deliverable</a:t>
                      </a:r>
                    </a:p>
                  </a:txBody>
                  <a:tcPr marL="91440" marR="91440" marT="45720" marB="45720">
                    <a:solidFill>
                      <a:srgbClr val="EDF3FA"/>
                    </a:solidFill>
                  </a:tcPr>
                </a:tc>
                <a:tc>
                  <a:txBody>
                    <a:bodyPr/>
                    <a:lstStyle/>
                    <a:p>
                      <a:r>
                        <a:rPr sz="1725" b="1">
                          <a:solidFill>
                            <a:srgbClr val="131820"/>
                          </a:solidFill>
                        </a:rPr>
                        <a:t>Contents</a:t>
                      </a:r>
                    </a:p>
                  </a:txBody>
                  <a:tcPr marL="91440" marR="91440" marT="45720" marB="45720">
                    <a:solidFill>
                      <a:srgbClr val="EDF3FA"/>
                    </a:solidFill>
                  </a:tcPr>
                </a:tc>
                <a:tc>
                  <a:txBody>
                    <a:bodyPr/>
                    <a:lstStyle/>
                    <a:p>
                      <a:r>
                        <a:rPr sz="1725" b="1">
                          <a:solidFill>
                            <a:srgbClr val="131820"/>
                          </a:solidFill>
                        </a:rPr>
                        <a:t>Final check</a:t>
                      </a:r>
                    </a:p>
                  </a:txBody>
                  <a:tcPr marL="91440" marR="91440" marT="45720" marB="45720">
                    <a:solidFill>
                      <a:srgbClr val="EDF3FA"/>
                    </a:solidFill>
                  </a:tcPr>
                </a:tc>
              </a:tr>
              <a:tr h="603250">
                <a:tc>
                  <a:txBody>
                    <a:bodyPr/>
                    <a:lstStyle/>
                    <a:p>
                      <a:r>
                        <a:rPr sz="1725" b="0">
                          <a:solidFill>
                            <a:srgbClr val="131820"/>
                          </a:solidFill>
                        </a:rPr>
                        <a:t>Solution PPT / PDF</a:t>
                      </a:r>
                    </a:p>
                  </a:txBody>
                  <a:tcPr marL="91440" marR="91440" marT="45720" marB="45720">
                    <a:solidFill>
                      <a:srgbClr val="FFFFFF"/>
                    </a:solidFill>
                  </a:tcPr>
                </a:tc>
                <a:tc>
                  <a:txBody>
                    <a:bodyPr/>
                    <a:lstStyle/>
                    <a:p>
                      <a:r>
                        <a:rPr sz="1725" b="0">
                          <a:solidFill>
                            <a:srgbClr val="131820"/>
                          </a:solidFill>
                        </a:rPr>
                        <a:t>Model, justification, architecture and benefits</a:t>
                      </a:r>
                    </a:p>
                  </a:txBody>
                  <a:tcPr marL="91440" marR="91440" marT="45720" marB="45720">
                    <a:solidFill>
                      <a:srgbClr val="FFFFFF"/>
                    </a:solidFill>
                  </a:tcPr>
                </a:tc>
                <a:tc>
                  <a:txBody>
                    <a:bodyPr/>
                    <a:lstStyle/>
                    <a:p>
                      <a:r>
                        <a:rPr sz="1725" b="0">
                          <a:solidFill>
                            <a:srgbClr val="131820"/>
                          </a:solidFill>
                        </a:rPr>
                        <a:t>Claims match demonstrated behaviour</a:t>
                      </a:r>
                    </a:p>
                  </a:txBody>
                  <a:tcPr marL="91440" marR="91440" marT="45720" marB="45720">
                    <a:solidFill>
                      <a:srgbClr val="FFFFFF"/>
                    </a:solidFill>
                  </a:tcPr>
                </a:tc>
              </a:tr>
              <a:tr h="603250">
                <a:tc>
                  <a:txBody>
                    <a:bodyPr/>
                    <a:lstStyle/>
                    <a:p>
                      <a:r>
                        <a:rPr sz="1725" b="0">
                          <a:solidFill>
                            <a:srgbClr val="131820"/>
                          </a:solidFill>
                        </a:rPr>
                        <a:t>High-level design</a:t>
                      </a:r>
                    </a:p>
                  </a:txBody>
                  <a:tcPr marL="91440" marR="91440" marT="45720" marB="45720">
                    <a:solidFill>
                      <a:srgbClr val="FFFFFF"/>
                    </a:solidFill>
                  </a:tcPr>
                </a:tc>
                <a:tc>
                  <a:txBody>
                    <a:bodyPr/>
                    <a:lstStyle/>
                    <a:p>
                      <a:r>
                        <a:rPr sz="1725" b="0">
                          <a:solidFill>
                            <a:srgbClr val="131820"/>
                          </a:solidFill>
                        </a:rPr>
                        <a:t>Integration, security, sizing, deployment and DR</a:t>
                      </a:r>
                    </a:p>
                  </a:txBody>
                  <a:tcPr marL="91440" marR="91440" marT="45720" marB="45720">
                    <a:solidFill>
                      <a:srgbClr val="FFFFFF"/>
                    </a:solidFill>
                  </a:tcPr>
                </a:tc>
                <a:tc>
                  <a:txBody>
                    <a:bodyPr/>
                    <a:lstStyle/>
                    <a:p>
                      <a:r>
                        <a:rPr sz="1725" b="0">
                          <a:solidFill>
                            <a:srgbClr val="131820"/>
                          </a:solidFill>
                        </a:rPr>
                        <a:t>Assumptions, gaps and interfaces explicit</a:t>
                      </a:r>
                    </a:p>
                  </a:txBody>
                  <a:tcPr marL="91440" marR="91440" marT="45720" marB="45720">
                    <a:solidFill>
                      <a:srgbClr val="FFFFFF"/>
                    </a:solidFill>
                  </a:tcPr>
                </a:tc>
              </a:tr>
              <a:tr h="603250">
                <a:tc>
                  <a:txBody>
                    <a:bodyPr/>
                    <a:lstStyle/>
                    <a:p>
                      <a:r>
                        <a:rPr sz="1725" b="0">
                          <a:solidFill>
                            <a:srgbClr val="131820"/>
                          </a:solidFill>
                        </a:rPr>
                        <a:t>Own-feed + government demos</a:t>
                      </a:r>
                    </a:p>
                  </a:txBody>
                  <a:tcPr marL="91440" marR="91440" marT="45720" marB="45720">
                    <a:solidFill>
                      <a:srgbClr val="FFFFFF"/>
                    </a:solidFill>
                  </a:tcPr>
                </a:tc>
                <a:tc>
                  <a:txBody>
                    <a:bodyPr/>
                    <a:lstStyle/>
                    <a:p>
                      <a:r>
                        <a:rPr sz="1725" b="0">
                          <a:solidFill>
                            <a:srgbClr val="131820"/>
                          </a:solidFill>
                        </a:rPr>
                        <a:t>Working videos and required analytics output</a:t>
                      </a:r>
                    </a:p>
                  </a:txBody>
                  <a:tcPr marL="91440" marR="91440" marT="45720" marB="45720">
                    <a:solidFill>
                      <a:srgbClr val="FFFFFF"/>
                    </a:solidFill>
                  </a:tcPr>
                </a:tc>
                <a:tc>
                  <a:txBody>
                    <a:bodyPr/>
                    <a:lstStyle/>
                    <a:p>
                      <a:r>
                        <a:rPr sz="1725" b="0">
                          <a:solidFill>
                            <a:srgbClr val="131820"/>
                          </a:solidFill>
                        </a:rPr>
                        <a:t>Both included; sensitive data cleared</a:t>
                      </a:r>
                    </a:p>
                  </a:txBody>
                  <a:tcPr marL="91440" marR="91440" marT="45720" marB="45720">
                    <a:solidFill>
                      <a:srgbClr val="FFFFFF"/>
                    </a:solidFill>
                  </a:tcPr>
                </a:tc>
              </a:tr>
              <a:tr h="603250">
                <a:tc>
                  <a:txBody>
                    <a:bodyPr/>
                    <a:lstStyle/>
                    <a:p>
                      <a:r>
                        <a:rPr sz="1725" b="0">
                          <a:solidFill>
                            <a:srgbClr val="131820"/>
                          </a:solidFill>
                        </a:rPr>
                        <a:t>Output + test report</a:t>
                      </a:r>
                    </a:p>
                  </a:txBody>
                  <a:tcPr marL="91440" marR="91440" marT="45720" marB="45720">
                    <a:solidFill>
                      <a:srgbClr val="FFFFFF"/>
                    </a:solidFill>
                  </a:tcPr>
                </a:tc>
                <a:tc>
                  <a:txBody>
                    <a:bodyPr/>
                    <a:lstStyle/>
                    <a:p>
                      <a:r>
                        <a:rPr sz="1725" b="0">
                          <a:solidFill>
                            <a:srgbClr val="131820"/>
                          </a:solidFill>
                        </a:rPr>
                        <a:t>Plates, camera/time, evidence; quality and load</a:t>
                      </a:r>
                    </a:p>
                  </a:txBody>
                  <a:tcPr marL="91440" marR="91440" marT="45720" marB="45720">
                    <a:solidFill>
                      <a:srgbClr val="FFFFFF"/>
                    </a:solidFill>
                  </a:tcPr>
                </a:tc>
                <a:tc>
                  <a:txBody>
                    <a:bodyPr/>
                    <a:lstStyle/>
                    <a:p>
                      <a:r>
                        <a:rPr sz="1725" b="0">
                          <a:solidFill>
                            <a:srgbClr val="131820"/>
                          </a:solidFill>
                        </a:rPr>
                        <a:t>Reproducible run ID and configuration</a:t>
                      </a:r>
                    </a:p>
                  </a:txBody>
                  <a:tcPr marL="91440" marR="91440" marT="45720" marB="45720">
                    <a:solidFill>
                      <a:srgbClr val="FFFFFF"/>
                    </a:solidFill>
                  </a:tcPr>
                </a:tc>
              </a:tr>
              <a:tr h="603250">
                <a:tc>
                  <a:txBody>
                    <a:bodyPr/>
                    <a:lstStyle/>
                    <a:p>
                      <a:r>
                        <a:rPr sz="1725" b="0">
                          <a:solidFill>
                            <a:srgbClr val="131820"/>
                          </a:solidFill>
                        </a:rPr>
                        <a:t>Links + optional platform / code</a:t>
                      </a:r>
                    </a:p>
                  </a:txBody>
                  <a:tcPr marL="91440" marR="91440" marT="45720" marB="45720">
                    <a:solidFill>
                      <a:srgbClr val="FFFFFF"/>
                    </a:solidFill>
                  </a:tcPr>
                </a:tc>
                <a:tc>
                  <a:txBody>
                    <a:bodyPr/>
                    <a:lstStyle/>
                    <a:p>
                      <a:r>
                        <a:rPr sz="1725" b="0">
                          <a:solidFill>
                            <a:srgbClr val="131820"/>
                          </a:solidFill>
                        </a:rPr>
                        <a:t>Permitted viewer links; scoped test credentials</a:t>
                      </a:r>
                    </a:p>
                  </a:txBody>
                  <a:tcPr marL="91440" marR="91440" marT="45720" marB="45720">
                    <a:solidFill>
                      <a:srgbClr val="FFFFFF"/>
                    </a:solidFill>
                  </a:tcPr>
                </a:tc>
                <a:tc>
                  <a:txBody>
                    <a:bodyPr/>
                    <a:lstStyle/>
                    <a:p>
                      <a:r>
                        <a:rPr sz="1725" b="0">
                          <a:solidFill>
                            <a:srgbClr val="131820"/>
                          </a:solidFill>
                        </a:rPr>
                        <a:t>Access checked in clean browser</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148548333"/>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BD401A1-8C9C-499D-9D6C-328AC7B1EBF5}"/>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A9831C44-A42D-46BF-B92E-8F5E74E10AA1}"/>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Scale only after the gates are passed</a:t>
            </a:r>
          </a:p>
        </p:txBody>
      </p:sp>
      <p:sp>
        <p:nvSpPr>
          <p:cNvPr id="3" name="">
            <a:extLst xmlns:a="http://schemas.openxmlformats.org/drawingml/2006/main">
              <a:ext uri="{FF2B5EF4-FFF2-40B4-BE49-F238E27FC236}">
                <a16:creationId xmlns:a16="http://schemas.microsoft.com/office/drawing/2014/main" id="{2F4359FA-B3B7-4BD7-B85D-591D4BE67F79}"/>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A roadmap toward 80,000 cameras is a deployment strategy, not a benchmark claim.</a:t>
            </a:r>
          </a:p>
        </p:txBody>
      </p:sp>
      <p:sp>
        <p:nvSpPr>
          <p:cNvPr id="4" name="">
            <a:extLst xmlns:a="http://schemas.openxmlformats.org/drawingml/2006/main">
              <a:ext uri="{FF2B5EF4-FFF2-40B4-BE49-F238E27FC236}">
                <a16:creationId xmlns:a16="http://schemas.microsoft.com/office/drawing/2014/main" id="{E292F111-BB6E-417C-8FAB-617CB57CD4EC}"/>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74FDBA5-FA0B-46D7-9370-DB3B4B4FD34B}"/>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EEA5B83D-2BD9-45DC-AB84-83E3A2A97506}"/>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29</a:t>
            </a:r>
          </a:p>
        </p:txBody>
      </p:sp>
      <p:sp>
        <p:nvSpPr>
          <p:cNvPr id="7" name="">
            <a:extLst xmlns:a="http://schemas.openxmlformats.org/drawingml/2006/main">
              <a:ext uri="{FF2B5EF4-FFF2-40B4-BE49-F238E27FC236}">
                <a16:creationId xmlns:a16="http://schemas.microsoft.com/office/drawing/2014/main" id="{428B928A-B878-4622-A481-0855C82E4F30}"/>
              </a:ext>
            </a:extLst>
          </p:cNvPr>
          <p:cNvSpPr>
            <a:spLocks xmlns:a="http://schemas.openxmlformats.org/drawingml/2006/main" noGrp="1"/>
          </p:cNvSpPr>
          <p:nvPr/>
        </p:nvSpPr>
        <p:spPr>
          <a:xfrm xmlns:a="http://schemas.openxmlformats.org/drawingml/2006/main">
            <a:off x="45720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50-FEED PILOT</a:t>
            </a:r>
          </a:p>
        </p:txBody>
      </p:sp>
      <p:sp>
        <p:nvSpPr>
          <p:cNvPr id="8" name="">
            <a:extLst xmlns:a="http://schemas.openxmlformats.org/drawingml/2006/main">
              <a:ext uri="{FF2B5EF4-FFF2-40B4-BE49-F238E27FC236}">
                <a16:creationId xmlns:a16="http://schemas.microsoft.com/office/drawing/2014/main" id="{7339ED90-2E42-4EAA-8592-35C0A859B29E}"/>
              </a:ext>
            </a:extLst>
          </p:cNvPr>
          <p:cNvSpPr>
            <a:spLocks xmlns:a="http://schemas.openxmlformats.org/drawingml/2006/main" noGrp="1"/>
          </p:cNvSpPr>
          <p:nvPr/>
        </p:nvSpPr>
        <p:spPr>
          <a:xfrm xmlns:a="http://schemas.openxmlformats.org/drawingml/2006/main">
            <a:off x="45720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13E7277-EE9C-415A-BB6C-634205FF7ED2}"/>
              </a:ext>
            </a:extLst>
          </p:cNvPr>
          <p:cNvSpPr>
            <a:spLocks xmlns:a="http://schemas.openxmlformats.org/drawingml/2006/main" noGrp="1"/>
          </p:cNvSpPr>
          <p:nvPr/>
        </p:nvSpPr>
        <p:spPr>
          <a:xfrm xmlns:a="http://schemas.openxmlformats.org/drawingml/2006/main">
            <a:off x="45720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Prove ~50-feed test</a:t>
            </a:r>
          </a:p>
          <a:p xmlns:a="http://schemas.openxmlformats.org/drawingml/2006/main">
            <a:pPr>
              <a:defRPr sz="2025" b="0">
                <a:solidFill>
                  <a:srgbClr val="131820"/>
                </a:solidFill>
              </a:defRPr>
            </a:pPr>
            <a:r>
              <a:rPr sz="2025" b="0">
                <a:solidFill>
                  <a:srgbClr val="131820"/>
                </a:solidFill>
              </a:rPr>
              <a:t>Survey several site types</a:t>
            </a:r>
          </a:p>
          <a:p xmlns:a="http://schemas.openxmlformats.org/drawingml/2006/main">
            <a:pPr>
              <a:defRPr sz="2025" b="0">
                <a:solidFill>
                  <a:srgbClr val="131820"/>
                </a:solidFill>
              </a:defRPr>
            </a:pPr>
            <a:r>
              <a:rPr sz="2025" b="0">
                <a:solidFill>
                  <a:srgbClr val="131820"/>
                </a:solidFill>
              </a:rPr>
              <a:t>Benchmark target hardware</a:t>
            </a:r>
          </a:p>
          <a:p xmlns:a="http://schemas.openxmlformats.org/drawingml/2006/main">
            <a:pPr>
              <a:defRPr sz="2025" b="0">
                <a:solidFill>
                  <a:srgbClr val="131820"/>
                </a:solidFill>
              </a:defRPr>
            </a:pPr>
            <a:r>
              <a:rPr sz="2025" b="0">
                <a:solidFill>
                  <a:srgbClr val="131820"/>
                </a:solidFill>
              </a:rPr>
              <a:t>Confirm approvals + support</a:t>
            </a:r>
          </a:p>
        </p:txBody>
      </p:sp>
      <p:sp>
        <p:nvSpPr>
          <p:cNvPr id="10" name="">
            <a:extLst xmlns:a="http://schemas.openxmlformats.org/drawingml/2006/main">
              <a:ext uri="{FF2B5EF4-FFF2-40B4-BE49-F238E27FC236}">
                <a16:creationId xmlns:a16="http://schemas.microsoft.com/office/drawing/2014/main" id="{CCFAB494-7E33-4394-90A3-FF15E8FA994F}"/>
              </a:ext>
            </a:extLst>
          </p:cNvPr>
          <p:cNvSpPr>
            <a:spLocks xmlns:a="http://schemas.openxmlformats.org/drawingml/2006/main" noGrp="1"/>
          </p:cNvSpPr>
          <p:nvPr/>
        </p:nvSpPr>
        <p:spPr>
          <a:xfrm xmlns:a="http://schemas.openxmlformats.org/drawingml/2006/main">
            <a:off x="4333875"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DISTRICT → REGION</a:t>
            </a:r>
          </a:p>
        </p:txBody>
      </p:sp>
      <p:sp>
        <p:nvSpPr>
          <p:cNvPr id="11" name="">
            <a:extLst xmlns:a="http://schemas.openxmlformats.org/drawingml/2006/main">
              <a:ext uri="{FF2B5EF4-FFF2-40B4-BE49-F238E27FC236}">
                <a16:creationId xmlns:a16="http://schemas.microsoft.com/office/drawing/2014/main" id="{A3950A9C-B5C6-46D5-8512-17A7C5209218}"/>
              </a:ext>
            </a:extLst>
          </p:cNvPr>
          <p:cNvSpPr>
            <a:spLocks xmlns:a="http://schemas.openxmlformats.org/drawingml/2006/main" noGrp="1"/>
          </p:cNvSpPr>
          <p:nvPr/>
        </p:nvSpPr>
        <p:spPr>
          <a:xfrm xmlns:a="http://schemas.openxmlformats.org/drawingml/2006/main">
            <a:off x="4333875"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0B56DF0-07F7-4FA7-A61C-ECBF81E170CA}"/>
              </a:ext>
            </a:extLst>
          </p:cNvPr>
          <p:cNvSpPr>
            <a:spLocks xmlns:a="http://schemas.openxmlformats.org/drawingml/2006/main" noGrp="1"/>
          </p:cNvSpPr>
          <p:nvPr/>
        </p:nvSpPr>
        <p:spPr>
          <a:xfrm xmlns:a="http://schemas.openxmlformats.org/drawingml/2006/main">
            <a:off x="4333875"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Deploy regional workers</a:t>
            </a:r>
          </a:p>
          <a:p xmlns:a="http://schemas.openxmlformats.org/drawingml/2006/main">
            <a:pPr>
              <a:defRPr sz="2025" b="0">
                <a:solidFill>
                  <a:srgbClr val="131820"/>
                </a:solidFill>
              </a:defRPr>
            </a:pPr>
            <a:r>
              <a:rPr sz="2025" b="0">
                <a:solidFill>
                  <a:srgbClr val="131820"/>
                </a:solidFill>
              </a:rPr>
              <a:t>Add verified VMS adapters</a:t>
            </a:r>
          </a:p>
          <a:p xmlns:a="http://schemas.openxmlformats.org/drawingml/2006/main">
            <a:pPr>
              <a:defRPr sz="2025" b="0">
                <a:solidFill>
                  <a:srgbClr val="131820"/>
                </a:solidFill>
              </a:defRPr>
            </a:pPr>
            <a:r>
              <a:rPr sz="2025" b="0">
                <a:solidFill>
                  <a:srgbClr val="131820"/>
                </a:solidFill>
              </a:rPr>
              <a:t>Measure WAN and quality</a:t>
            </a:r>
          </a:p>
          <a:p xmlns:a="http://schemas.openxmlformats.org/drawingml/2006/main">
            <a:pPr>
              <a:defRPr sz="2025" b="0">
                <a:solidFill>
                  <a:srgbClr val="131820"/>
                </a:solidFill>
              </a:defRPr>
            </a:pPr>
            <a:r>
              <a:rPr sz="2025" b="0">
                <a:solidFill>
                  <a:srgbClr val="131820"/>
                </a:solidFill>
              </a:rPr>
              <a:t>Test failover and restore</a:t>
            </a:r>
          </a:p>
        </p:txBody>
      </p:sp>
      <p:sp>
        <p:nvSpPr>
          <p:cNvPr id="13" name="">
            <a:extLst xmlns:a="http://schemas.openxmlformats.org/drawingml/2006/main">
              <a:ext uri="{FF2B5EF4-FFF2-40B4-BE49-F238E27FC236}">
                <a16:creationId xmlns:a16="http://schemas.microsoft.com/office/drawing/2014/main" id="{B34A9ED9-0304-43CB-A44E-1F5BB9458BD0}"/>
              </a:ext>
            </a:extLst>
          </p:cNvPr>
          <p:cNvSpPr>
            <a:spLocks xmlns:a="http://schemas.openxmlformats.org/drawingml/2006/main" noGrp="1"/>
          </p:cNvSpPr>
          <p:nvPr/>
        </p:nvSpPr>
        <p:spPr>
          <a:xfrm xmlns:a="http://schemas.openxmlformats.org/drawingml/2006/main">
            <a:off x="8210550" y="2628900"/>
            <a:ext cx="3524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1764C0"/>
                </a:solidFill>
              </a:defRPr>
            </a:pPr>
            <a:r>
              <a:rPr sz="2550" b="1">
                <a:solidFill>
                  <a:srgbClr val="1764C0"/>
                </a:solidFill>
              </a:rPr>
              <a:t>STATEWIDE WAVES</a:t>
            </a:r>
          </a:p>
        </p:txBody>
      </p:sp>
      <p:sp>
        <p:nvSpPr>
          <p:cNvPr id="14" name="">
            <a:extLst xmlns:a="http://schemas.openxmlformats.org/drawingml/2006/main">
              <a:ext uri="{FF2B5EF4-FFF2-40B4-BE49-F238E27FC236}">
                <a16:creationId xmlns:a16="http://schemas.microsoft.com/office/drawing/2014/main" id="{4DD2E838-AB5B-4151-BFCE-D2E2E00F7847}"/>
              </a:ext>
            </a:extLst>
          </p:cNvPr>
          <p:cNvSpPr>
            <a:spLocks xmlns:a="http://schemas.openxmlformats.org/drawingml/2006/main" noGrp="1"/>
          </p:cNvSpPr>
          <p:nvPr/>
        </p:nvSpPr>
        <p:spPr>
          <a:xfrm xmlns:a="http://schemas.openxmlformats.org/drawingml/2006/main">
            <a:off x="8210550" y="3324225"/>
            <a:ext cx="3476625"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DA6BD6A6-D13F-4F22-9938-CF6ABE7BF66D}"/>
              </a:ext>
            </a:extLst>
          </p:cNvPr>
          <p:cNvSpPr>
            <a:spLocks xmlns:a="http://schemas.openxmlformats.org/drawingml/2006/main" noGrp="1"/>
          </p:cNvSpPr>
          <p:nvPr/>
        </p:nvSpPr>
        <p:spPr>
          <a:xfrm xmlns:a="http://schemas.openxmlformats.org/drawingml/2006/main">
            <a:off x="8210550" y="3676650"/>
            <a:ext cx="3476625"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31820"/>
                </a:solidFill>
              </a:defRPr>
            </a:pPr>
            <a:r>
              <a:rPr sz="2025" b="0">
                <a:solidFill>
                  <a:srgbClr val="131820"/>
                </a:solidFill>
              </a:rPr>
              <a:t>Partition cameras + events</a:t>
            </a:r>
          </a:p>
          <a:p xmlns:a="http://schemas.openxmlformats.org/drawingml/2006/main">
            <a:pPr>
              <a:defRPr sz="2025" b="0">
                <a:solidFill>
                  <a:srgbClr val="131820"/>
                </a:solidFill>
              </a:defRPr>
            </a:pPr>
            <a:r>
              <a:rPr sz="2025" b="0">
                <a:solidFill>
                  <a:srgbClr val="131820"/>
                </a:solidFill>
              </a:rPr>
              <a:t>Use capacity-based rollout</a:t>
            </a:r>
          </a:p>
          <a:p xmlns:a="http://schemas.openxmlformats.org/drawingml/2006/main">
            <a:pPr>
              <a:defRPr sz="2025" b="0">
                <a:solidFill>
                  <a:srgbClr val="131820"/>
                </a:solidFill>
              </a:defRPr>
            </a:pPr>
            <a:r>
              <a:rPr sz="2025" b="0">
                <a:solidFill>
                  <a:srgbClr val="131820"/>
                </a:solidFill>
              </a:rPr>
              <a:t>Audit access and retention</a:t>
            </a:r>
          </a:p>
          <a:p xmlns:a="http://schemas.openxmlformats.org/drawingml/2006/main">
            <a:pPr>
              <a:defRPr sz="2025" b="0">
                <a:solidFill>
                  <a:srgbClr val="131820"/>
                </a:solidFill>
              </a:defRPr>
            </a:pPr>
            <a:r>
              <a:rPr sz="2025" b="0">
                <a:solidFill>
                  <a:srgbClr val="131820"/>
                </a:solidFill>
              </a:rPr>
              <a:t>Track cost and service levels</a:t>
            </a:r>
          </a:p>
        </p:txBody>
      </p:sp>
    </p:spTree>
    <p:extLst>
      <p:ext uri="{BB962C8B-B14F-4D97-AF65-F5344CB8AC3E}">
        <p14:creationId xmlns:p14="http://schemas.microsoft.com/office/powerpoint/2010/main" val="865231518"/>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F1213B0-C2A2-4BE5-B265-1D12B3E41C13}"/>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24A8A7A2-3A05-458C-A2E9-F9D0AB6F50D1}"/>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Start with one complete real alert</a:t>
            </a:r>
          </a:p>
        </p:txBody>
      </p:sp>
      <p:sp>
        <p:nvSpPr>
          <p:cNvPr id="3" name="">
            <a:extLst xmlns:a="http://schemas.openxmlformats.org/drawingml/2006/main">
              <a:ext uri="{FF2B5EF4-FFF2-40B4-BE49-F238E27FC236}">
                <a16:creationId xmlns:a16="http://schemas.microsoft.com/office/drawing/2014/main" id="{5011DE93-5813-4018-808C-4B877B1FDFDB}"/>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Solo kickoff: scope, Grok/Codex codegen, access and gates.</a:t>
            </a:r>
          </a:p>
        </p:txBody>
      </p:sp>
      <p:sp>
        <p:nvSpPr>
          <p:cNvPr id="4" name="">
            <a:extLst xmlns:a="http://schemas.openxmlformats.org/drawingml/2006/main">
              <a:ext uri="{FF2B5EF4-FFF2-40B4-BE49-F238E27FC236}">
                <a16:creationId xmlns:a16="http://schemas.microsoft.com/office/drawing/2014/main" id="{D69FAF2C-3CA6-416F-93A6-F93D4A99257A}"/>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346B91D-20F9-4597-86AF-2FDC3E6ECF5B}"/>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ACD77EAC-1E9F-4F7F-8671-72B7DA282045}"/>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30</a:t>
            </a:r>
          </a:p>
        </p:txBody>
      </p:sp>
      <p:sp>
        <p:nvSpPr>
          <p:cNvPr id="7" name="">
            <a:extLst xmlns:a="http://schemas.openxmlformats.org/drawingml/2006/main">
              <a:ext uri="{FF2B5EF4-FFF2-40B4-BE49-F238E27FC236}">
                <a16:creationId xmlns:a16="http://schemas.microsoft.com/office/drawing/2014/main" id="{EB0A828E-5AFA-42AE-8DB5-B4CF18D12CE1}"/>
              </a:ext>
            </a:extLst>
          </p:cNvPr>
          <p:cNvSpPr>
            <a:spLocks xmlns:a="http://schemas.openxmlformats.org/drawingml/2006/main" noGrp="1"/>
          </p:cNvSpPr>
          <p:nvPr/>
        </p:nvSpPr>
        <p:spPr>
          <a:xfrm xmlns:a="http://schemas.openxmlformats.org/drawingml/2006/main">
            <a:off x="4572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Agree today</a:t>
            </a:r>
          </a:p>
        </p:txBody>
      </p:sp>
      <p:sp>
        <p:nvSpPr>
          <p:cNvPr id="8" name="">
            <a:extLst xmlns:a="http://schemas.openxmlformats.org/drawingml/2006/main">
              <a:ext uri="{FF2B5EF4-FFF2-40B4-BE49-F238E27FC236}">
                <a16:creationId xmlns:a16="http://schemas.microsoft.com/office/drawing/2014/main" id="{421B4C2A-1F71-4F7D-AA8E-6AD470C3B3AF}"/>
              </a:ext>
            </a:extLst>
          </p:cNvPr>
          <p:cNvSpPr>
            <a:spLocks xmlns:a="http://schemas.openxmlformats.org/drawingml/2006/main" noGrp="1"/>
          </p:cNvSpPr>
          <p:nvPr/>
        </p:nvSpPr>
        <p:spPr>
          <a:xfrm xmlns:a="http://schemas.openxmlformats.org/drawingml/2006/main">
            <a:off x="4572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Approve the phased hybrid and vehicle-only prototype scope.</a:t>
            </a:r>
          </a:p>
        </p:txBody>
      </p:sp>
      <p:sp>
        <p:nvSpPr>
          <p:cNvPr id="9" name="">
            <a:extLst xmlns:a="http://schemas.openxmlformats.org/drawingml/2006/main">
              <a:ext uri="{FF2B5EF4-FFF2-40B4-BE49-F238E27FC236}">
                <a16:creationId xmlns:a16="http://schemas.microsoft.com/office/drawing/2014/main" id="{E160CF0B-80B7-4488-A584-9C2DA3D99109}"/>
              </a:ext>
            </a:extLst>
          </p:cNvPr>
          <p:cNvSpPr>
            <a:spLocks xmlns:a="http://schemas.openxmlformats.org/drawingml/2006/main" noGrp="1"/>
          </p:cNvSpPr>
          <p:nvPr/>
        </p:nvSpPr>
        <p:spPr>
          <a:xfrm xmlns:a="http://schemas.openxmlformats.org/drawingml/2006/main">
            <a:off x="4572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Lock the solo 4-day P0; Grok or Codex writes all application code.</a:t>
            </a:r>
          </a:p>
        </p:txBody>
      </p:sp>
      <p:sp>
        <p:nvSpPr>
          <p:cNvPr id="10" name="">
            <a:extLst xmlns:a="http://schemas.openxmlformats.org/drawingml/2006/main">
              <a:ext uri="{FF2B5EF4-FFF2-40B4-BE49-F238E27FC236}">
                <a16:creationId xmlns:a16="http://schemas.microsoft.com/office/drawing/2014/main" id="{532CFF9B-793A-4DB5-A0A4-0E4E6A4251D2}"/>
              </a:ext>
            </a:extLst>
          </p:cNvPr>
          <p:cNvSpPr>
            <a:spLocks xmlns:a="http://schemas.openxmlformats.org/drawingml/2006/main" noGrp="1"/>
          </p:cNvSpPr>
          <p:nvPr/>
        </p:nvSpPr>
        <p:spPr>
          <a:xfrm xmlns:a="http://schemas.openxmlformats.org/drawingml/2006/main">
            <a:off x="4572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Confirm deadline, feed access, compute availability and permitted data use.</a:t>
            </a:r>
          </a:p>
        </p:txBody>
      </p:sp>
      <p:sp>
        <p:nvSpPr>
          <p:cNvPr id="11" name="">
            <a:extLst xmlns:a="http://schemas.openxmlformats.org/drawingml/2006/main">
              <a:ext uri="{FF2B5EF4-FFF2-40B4-BE49-F238E27FC236}">
                <a16:creationId xmlns:a16="http://schemas.microsoft.com/office/drawing/2014/main" id="{BEB3E386-2CFD-4AE8-A3D7-34E22029CF00}"/>
              </a:ext>
            </a:extLst>
          </p:cNvPr>
          <p:cNvSpPr>
            <a:spLocks xmlns:a="http://schemas.openxmlformats.org/drawingml/2006/main" noGrp="1"/>
          </p:cNvSpPr>
          <p:nvPr/>
        </p:nvSpPr>
        <p:spPr>
          <a:xfrm xmlns:a="http://schemas.openxmlformats.org/drawingml/2006/main">
            <a:off x="6324600" y="2333625"/>
            <a:ext cx="5410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131820"/>
                </a:solidFill>
              </a:defRPr>
            </a:pPr>
            <a:r>
              <a:rPr sz="2475" b="1">
                <a:solidFill>
                  <a:srgbClr val="131820"/>
                </a:solidFill>
              </a:rPr>
              <a:t>Deliver first</a:t>
            </a:r>
          </a:p>
        </p:txBody>
      </p:sp>
      <p:sp>
        <p:nvSpPr>
          <p:cNvPr id="12" name="">
            <a:extLst xmlns:a="http://schemas.openxmlformats.org/drawingml/2006/main">
              <a:ext uri="{FF2B5EF4-FFF2-40B4-BE49-F238E27FC236}">
                <a16:creationId xmlns:a16="http://schemas.microsoft.com/office/drawing/2014/main" id="{BBB8D47D-B4BF-4853-A538-60E393467B8C}"/>
              </a:ext>
            </a:extLst>
          </p:cNvPr>
          <p:cNvSpPr>
            <a:spLocks xmlns:a="http://schemas.openxmlformats.org/drawingml/2006/main" noGrp="1"/>
          </p:cNvSpPr>
          <p:nvPr/>
        </p:nvSpPr>
        <p:spPr>
          <a:xfrm xmlns:a="http://schemas.openxmlformats.org/drawingml/2006/main">
            <a:off x="6324600" y="292417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Freeze the minimum event schema and camera onboarding sheet.</a:t>
            </a:r>
          </a:p>
        </p:txBody>
      </p:sp>
      <p:sp>
        <p:nvSpPr>
          <p:cNvPr id="13" name="">
            <a:extLst xmlns:a="http://schemas.openxmlformats.org/drawingml/2006/main">
              <a:ext uri="{FF2B5EF4-FFF2-40B4-BE49-F238E27FC236}">
                <a16:creationId xmlns:a16="http://schemas.microsoft.com/office/drawing/2014/main" id="{57D6BD7C-0875-402A-A1CE-E48402A1A484}"/>
              </a:ext>
            </a:extLst>
          </p:cNvPr>
          <p:cNvSpPr>
            <a:spLocks xmlns:a="http://schemas.openxmlformats.org/drawingml/2006/main" noGrp="1"/>
          </p:cNvSpPr>
          <p:nvPr/>
        </p:nvSpPr>
        <p:spPr>
          <a:xfrm xmlns:a="http://schemas.openxmlformats.org/drawingml/2006/main">
            <a:off x="6324600" y="3924300"/>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Put all accessible cameras in the ledger; report actual analytics coverage.</a:t>
            </a:r>
          </a:p>
        </p:txBody>
      </p:sp>
      <p:sp>
        <p:nvSpPr>
          <p:cNvPr id="14" name="">
            <a:extLst xmlns:a="http://schemas.openxmlformats.org/drawingml/2006/main">
              <a:ext uri="{FF2B5EF4-FFF2-40B4-BE49-F238E27FC236}">
                <a16:creationId xmlns:a16="http://schemas.microsoft.com/office/drawing/2014/main" id="{F96931B6-A0E1-44FD-B2A5-4865375051AB}"/>
              </a:ext>
            </a:extLst>
          </p:cNvPr>
          <p:cNvSpPr>
            <a:spLocks xmlns:a="http://schemas.openxmlformats.org/drawingml/2006/main" noGrp="1"/>
          </p:cNvSpPr>
          <p:nvPr/>
        </p:nvSpPr>
        <p:spPr>
          <a:xfrm xmlns:a="http://schemas.openxmlformats.org/drawingml/2006/main">
            <a:off x="6324600" y="4924425"/>
            <a:ext cx="5295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31820"/>
                </a:solidFill>
              </a:defRPr>
            </a:pPr>
            <a:r>
              <a:rPr sz="1950" b="0">
                <a:solidFill>
                  <a:srgbClr val="131820"/>
                </a:solidFill>
              </a:rPr>
              <a:t>Publish a measured baseline before expanding features or making scale claims.</a:t>
            </a:r>
          </a:p>
        </p:txBody>
      </p:sp>
    </p:spTree>
    <p:extLst>
      <p:ext uri="{BB962C8B-B14F-4D97-AF65-F5344CB8AC3E}">
        <p14:creationId xmlns:p14="http://schemas.microsoft.com/office/powerpoint/2010/main" val="48999317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08460A-DEB3-4DED-A2A1-E38C0421AF0D}"/>
              </a:ext>
            </a:extLst>
          </p:cNvPr>
          <p:cNvSpPr>
            <a:spLocks xmlns:a="http://schemas.openxmlformats.org/drawingml/2006/main" noGrp="1"/>
          </p:cNvSpPr>
          <p:nvPr/>
        </p:nvSpPr>
        <p:spPr>
          <a:xfrm xmlns:a="http://schemas.openxmlformats.org/drawingml/2006/main">
            <a:off x="457200" y="276225"/>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1764C0"/>
                </a:solidFill>
              </a:defRPr>
            </a:pPr>
            <a:r>
              <a:rPr sz="1575" b="1">
                <a:solidFill>
                  <a:srgbClr val="1764C0"/>
                </a:solidFill>
              </a:rPr>
              <a:t>TEAM PROPOSAL</a:t>
            </a:r>
          </a:p>
        </p:txBody>
      </p:sp>
      <p:sp>
        <p:nvSpPr>
          <p:cNvPr id="2" name="">
            <a:extLst xmlns:a="http://schemas.openxmlformats.org/drawingml/2006/main">
              <a:ext uri="{FF2B5EF4-FFF2-40B4-BE49-F238E27FC236}">
                <a16:creationId xmlns:a16="http://schemas.microsoft.com/office/drawing/2014/main" id="{5540E400-C99B-4FD4-86B0-12538CE948BC}"/>
              </a:ext>
            </a:extLst>
          </p:cNvPr>
          <p:cNvSpPr>
            <a:spLocks xmlns:a="http://schemas.openxmlformats.org/drawingml/2006/main" noGrp="1"/>
          </p:cNvSpPr>
          <p:nvPr/>
        </p:nvSpPr>
        <p:spPr>
          <a:xfrm xmlns:a="http://schemas.openxmlformats.org/drawingml/2006/main">
            <a:off x="457200" y="733425"/>
            <a:ext cx="112776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600" b="1">
                <a:solidFill>
                  <a:srgbClr val="131820"/>
                </a:solidFill>
              </a:defRPr>
            </a:pPr>
            <a:r>
              <a:rPr sz="3600" b="1">
                <a:solidFill>
                  <a:srgbClr val="131820"/>
                </a:solidFill>
              </a:rPr>
              <a:t>Source basis and planning limits</a:t>
            </a:r>
          </a:p>
        </p:txBody>
      </p:sp>
      <p:sp>
        <p:nvSpPr>
          <p:cNvPr id="3" name="">
            <a:extLst xmlns:a="http://schemas.openxmlformats.org/drawingml/2006/main">
              <a:ext uri="{FF2B5EF4-FFF2-40B4-BE49-F238E27FC236}">
                <a16:creationId xmlns:a16="http://schemas.microsoft.com/office/drawing/2014/main" id="{02964A58-9EE1-4E83-BBA3-C38229DCF0B5}"/>
              </a:ext>
            </a:extLst>
          </p:cNvPr>
          <p:cNvSpPr>
            <a:spLocks xmlns:a="http://schemas.openxmlformats.org/drawingml/2006/main" noGrp="1"/>
          </p:cNvSpPr>
          <p:nvPr/>
        </p:nvSpPr>
        <p:spPr>
          <a:xfrm xmlns:a="http://schemas.openxmlformats.org/drawingml/2006/main">
            <a:off x="457200" y="1495425"/>
            <a:ext cx="112776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56616E"/>
                </a:solidFill>
              </a:defRPr>
            </a:pPr>
            <a:r>
              <a:rPr sz="1875" b="0">
                <a:solidFill>
                  <a:srgbClr val="56616E"/>
                </a:solidFill>
              </a:rPr>
              <a:t>Requirements come from the supplied brief. Architecture, timelines and targets are recommendations.</a:t>
            </a:r>
          </a:p>
        </p:txBody>
      </p:sp>
      <p:sp>
        <p:nvSpPr>
          <p:cNvPr id="4" name="">
            <a:extLst xmlns:a="http://schemas.openxmlformats.org/drawingml/2006/main">
              <a:ext uri="{FF2B5EF4-FFF2-40B4-BE49-F238E27FC236}">
                <a16:creationId xmlns:a16="http://schemas.microsoft.com/office/drawing/2014/main" id="{B80B21E8-F5B2-4AEF-99AC-6DEE159A66FD}"/>
              </a:ext>
            </a:extLst>
          </p:cNvPr>
          <p:cNvSpPr>
            <a:spLocks xmlns:a="http://schemas.openxmlformats.org/drawingml/2006/main" noGrp="1"/>
          </p:cNvSpPr>
          <p:nvPr/>
        </p:nvSpPr>
        <p:spPr>
          <a:xfrm xmlns:a="http://schemas.openxmlformats.org/drawingml/2006/main">
            <a:off x="457200" y="6362700"/>
            <a:ext cx="11277600" cy="9525"/>
          </a:xfrm>
          <a:prstGeom xmlns:a="http://schemas.openxmlformats.org/drawingml/2006/main" prst="rect">
            <a:avLst/>
          </a:prstGeom>
          <a:solidFill xmlns:a="http://schemas.openxmlformats.org/drawingml/2006/main">
            <a:srgbClr val="CCD2D8"/>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3573FA3-4E5C-4F01-AA20-DB8BBAFCA52F}"/>
              </a:ext>
            </a:extLst>
          </p:cNvPr>
          <p:cNvSpPr>
            <a:spLocks xmlns:a="http://schemas.openxmlformats.org/drawingml/2006/main" noGrp="1"/>
          </p:cNvSpPr>
          <p:nvPr/>
        </p:nvSpPr>
        <p:spPr>
          <a:xfrm xmlns:a="http://schemas.openxmlformats.org/drawingml/2006/main">
            <a:off x="457200" y="6477000"/>
            <a:ext cx="10572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75" b="0">
                <a:solidFill>
                  <a:srgbClr val="56616E"/>
                </a:solidFill>
              </a:defRPr>
            </a:pPr>
            <a:r>
              <a:rPr sz="1275" b="0">
                <a:solidFill>
                  <a:srgbClr val="56616E"/>
                </a:solidFill>
              </a:rPr>
              <a:t>GUJARAT CCTV  /  Proposed design • targets are not measured results</a:t>
            </a:r>
          </a:p>
        </p:txBody>
      </p:sp>
      <p:sp>
        <p:nvSpPr>
          <p:cNvPr id="6" name="">
            <a:extLst xmlns:a="http://schemas.openxmlformats.org/drawingml/2006/main">
              <a:ext uri="{FF2B5EF4-FFF2-40B4-BE49-F238E27FC236}">
                <a16:creationId xmlns:a16="http://schemas.microsoft.com/office/drawing/2014/main" id="{E66765AD-0263-4C36-8636-F5D2849D4E16}"/>
              </a:ext>
            </a:extLst>
          </p:cNvPr>
          <p:cNvSpPr>
            <a:spLocks xmlns:a="http://schemas.openxmlformats.org/drawingml/2006/main" noGrp="1"/>
          </p:cNvSpPr>
          <p:nvPr/>
        </p:nvSpPr>
        <p:spPr>
          <a:xfrm xmlns:a="http://schemas.openxmlformats.org/drawingml/2006/main">
            <a:off x="11144250" y="6438900"/>
            <a:ext cx="590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1">
                <a:solidFill>
                  <a:srgbClr val="1764C0"/>
                </a:solidFill>
              </a:defRPr>
            </a:pPr>
            <a:r>
              <a:rPr sz="1650" b="1">
                <a:solidFill>
                  <a:srgbClr val="1764C0"/>
                </a:solidFill>
              </a:rPr>
              <a:t>31</a:t>
            </a:r>
          </a:p>
        </p:txBody>
      </p:sp>
      <p:graphicFrame>
        <p:nvGraphicFramePr>
          <p:cNvPr id="14" name=""/>
          <p:cNvGraphicFramePr/>
          <p:nvPr/>
        </p:nvGraphicFramePr>
        <p:xfrm>
          <a:off xmlns:a="http://schemas.openxmlformats.org/drawingml/2006/main" x="457200" y="2333625"/>
          <a:ext xmlns:a="http://schemas.openxmlformats.org/drawingml/2006/main" cx="11277600" cy="3619500"/>
        </p:xfrm>
        <a:graphic xmlns:a="http://schemas.openxmlformats.org/drawingml/2006/main">
          <a:graphicData uri="http://schemas.openxmlformats.org/drawingml/2006/table">
            <a:tbl>
              <a:tblPr/>
              <a:tblGrid>
                <a:gridCol w="3810000"/>
                <a:gridCol w="4610100"/>
                <a:gridCol w="2857500"/>
              </a:tblGrid>
              <a:tr h="603250">
                <a:tc>
                  <a:txBody>
                    <a:bodyPr/>
                    <a:lstStyle/>
                    <a:p>
                      <a:r>
                        <a:rPr sz="1725" b="1">
                          <a:solidFill>
                            <a:srgbClr val="131820"/>
                          </a:solidFill>
                        </a:rPr>
                        <a:t>Source</a:t>
                      </a:r>
                    </a:p>
                  </a:txBody>
                  <a:tcPr marL="91440" marR="91440" marT="45720" marB="45720">
                    <a:solidFill>
                      <a:srgbClr val="EDF3FA"/>
                    </a:solidFill>
                  </a:tcPr>
                </a:tc>
                <a:tc>
                  <a:txBody>
                    <a:bodyPr/>
                    <a:lstStyle/>
                    <a:p>
                      <a:r>
                        <a:rPr sz="1725" b="1">
                          <a:solidFill>
                            <a:srgbClr val="131820"/>
                          </a:solidFill>
                        </a:rPr>
                        <a:t>Used for</a:t>
                      </a:r>
                    </a:p>
                  </a:txBody>
                  <a:tcPr marL="91440" marR="91440" marT="45720" marB="45720">
                    <a:solidFill>
                      <a:srgbClr val="EDF3FA"/>
                    </a:solidFill>
                  </a:tcPr>
                </a:tc>
                <a:tc>
                  <a:txBody>
                    <a:bodyPr/>
                    <a:lstStyle/>
                    <a:p>
                      <a:r>
                        <a:rPr sz="1725" b="1">
                          <a:solidFill>
                            <a:srgbClr val="131820"/>
                          </a:solidFill>
                        </a:rPr>
                        <a:t>Status</a:t>
                      </a:r>
                    </a:p>
                  </a:txBody>
                  <a:tcPr marL="91440" marR="91440" marT="45720" marB="45720">
                    <a:solidFill>
                      <a:srgbClr val="EDF3FA"/>
                    </a:solidFill>
                  </a:tcPr>
                </a:tc>
              </a:tr>
              <a:tr h="603250">
                <a:tc>
                  <a:txBody>
                    <a:bodyPr/>
                    <a:lstStyle/>
                    <a:p>
                      <a:r>
                        <a:rPr sz="1725" b="0">
                          <a:solidFill>
                            <a:srgbClr val="131820"/>
                          </a:solidFill>
                        </a:rPr>
                        <a:t>GUJARAT POLICE HACKATHON.md</a:t>
                      </a:r>
                    </a:p>
                  </a:txBody>
                  <a:tcPr marL="91440" marR="91440" marT="45720" marB="45720">
                    <a:solidFill>
                      <a:srgbClr val="FFFFFF"/>
                    </a:solidFill>
                  </a:tcPr>
                </a:tc>
                <a:tc>
                  <a:txBody>
                    <a:bodyPr/>
                    <a:lstStyle/>
                    <a:p>
                      <a:r>
                        <a:rPr sz="1725" b="0">
                          <a:solidFill>
                            <a:srgbClr val="131820"/>
                          </a:solidFill>
                        </a:rPr>
                        <a:t>Models, test case, deliverables and evaluation</a:t>
                      </a:r>
                    </a:p>
                  </a:txBody>
                  <a:tcPr marL="91440" marR="91440" marT="45720" marB="45720">
                    <a:solidFill>
                      <a:srgbClr val="FFFFFF"/>
                    </a:solidFill>
                  </a:tcPr>
                </a:tc>
                <a:tc>
                  <a:txBody>
                    <a:bodyPr/>
                    <a:lstStyle/>
                    <a:p>
                      <a:r>
                        <a:rPr sz="1725" b="0">
                          <a:solidFill>
                            <a:srgbClr val="131820"/>
                          </a:solidFill>
                        </a:rPr>
                        <a:t>User-provided requirements baseline</a:t>
                      </a:r>
                    </a:p>
                  </a:txBody>
                  <a:tcPr marL="91440" marR="91440" marT="45720" marB="45720">
                    <a:solidFill>
                      <a:srgbClr val="FFFFFF"/>
                    </a:solidFill>
                  </a:tcPr>
                </a:tc>
              </a:tr>
              <a:tr h="603250">
                <a:tc>
                  <a:txBody>
                    <a:bodyPr/>
                    <a:lstStyle/>
                    <a:p>
                      <a:r>
                        <a:rPr sz="1725" b="0">
                          <a:solidFill>
                            <a:srgbClr val="131820"/>
                          </a:solidFill>
                        </a:rPr>
                        <a:t>ONVIF • Profiles T / G / M</a:t>
                      </a:r>
                    </a:p>
                  </a:txBody>
                  <a:tcPr marL="91440" marR="91440" marT="45720" marB="45720">
                    <a:solidFill>
                      <a:srgbClr val="FFFFFF"/>
                    </a:solidFill>
                  </a:tcPr>
                </a:tc>
                <a:tc>
                  <a:txBody>
                    <a:bodyPr/>
                    <a:lstStyle/>
                    <a:p>
                      <a:r>
                        <a:rPr sz="1725" b="0">
                          <a:solidFill>
                            <a:srgbClr val="131820"/>
                          </a:solidFill>
                        </a:rPr>
                        <a:t>Streaming, recording and metadata distinctions</a:t>
                      </a:r>
                    </a:p>
                  </a:txBody>
                  <a:tcPr marL="91440" marR="91440" marT="45720" marB="45720">
                    <a:solidFill>
                      <a:srgbClr val="FFFFFF"/>
                    </a:solidFill>
                  </a:tcPr>
                </a:tc>
                <a:tc>
                  <a:txBody>
                    <a:bodyPr/>
                    <a:lstStyle/>
                    <a:p>
                      <a:r>
                        <a:rPr sz="1725" b="0">
                          <a:solidFill>
                            <a:srgbClr val="131820"/>
                          </a:solidFill>
                        </a:rPr>
                        <a:t>Official specifications overview</a:t>
                      </a:r>
                    </a:p>
                  </a:txBody>
                  <a:tcPr marL="91440" marR="91440" marT="45720" marB="45720">
                    <a:solidFill>
                      <a:srgbClr val="FFFFFF"/>
                    </a:solidFill>
                  </a:tcPr>
                </a:tc>
              </a:tr>
              <a:tr h="603250">
                <a:tc>
                  <a:txBody>
                    <a:bodyPr/>
                    <a:lstStyle/>
                    <a:p>
                      <a:r>
                        <a:rPr sz="1725" b="0">
                          <a:solidFill>
                            <a:srgbClr val="131820"/>
                          </a:solidFill>
                        </a:rPr>
                        <a:t>PIB / MHA • NAFIS</a:t>
                      </a:r>
                    </a:p>
                  </a:txBody>
                  <a:tcPr marL="91440" marR="91440" marT="45720" marB="45720">
                    <a:solidFill>
                      <a:srgbClr val="FFFFFF"/>
                    </a:solidFill>
                  </a:tcPr>
                </a:tc>
                <a:tc>
                  <a:txBody>
                    <a:bodyPr/>
                    <a:lstStyle/>
                    <a:p>
                      <a:r>
                        <a:rPr sz="1725" b="0">
                          <a:solidFill>
                            <a:srgbClr val="131820"/>
                          </a:solidFill>
                        </a:rPr>
                        <a:t>Fingerprint-system clarification</a:t>
                      </a:r>
                    </a:p>
                  </a:txBody>
                  <a:tcPr marL="91440" marR="91440" marT="45720" marB="45720">
                    <a:solidFill>
                      <a:srgbClr val="FFFFFF"/>
                    </a:solidFill>
                  </a:tcPr>
                </a:tc>
                <a:tc>
                  <a:txBody>
                    <a:bodyPr/>
                    <a:lstStyle/>
                    <a:p>
                      <a:r>
                        <a:rPr sz="1725" b="0">
                          <a:solidFill>
                            <a:srgbClr val="131820"/>
                          </a:solidFill>
                        </a:rPr>
                        <a:t>Official release, 4 December 2024</a:t>
                      </a:r>
                    </a:p>
                  </a:txBody>
                  <a:tcPr marL="91440" marR="91440" marT="45720" marB="45720">
                    <a:solidFill>
                      <a:srgbClr val="FFFFFF"/>
                    </a:solidFill>
                  </a:tcPr>
                </a:tc>
              </a:tr>
              <a:tr h="603250">
                <a:tc>
                  <a:txBody>
                    <a:bodyPr/>
                    <a:lstStyle/>
                    <a:p>
                      <a:r>
                        <a:rPr sz="1725" b="0">
                          <a:solidFill>
                            <a:srgbClr val="131820"/>
                          </a:solidFill>
                        </a:rPr>
                        <a:t>MediaMTX + PaddleOCR repositories</a:t>
                      </a:r>
                    </a:p>
                  </a:txBody>
                  <a:tcPr marL="91440" marR="91440" marT="45720" marB="45720">
                    <a:solidFill>
                      <a:srgbClr val="FFFFFF"/>
                    </a:solidFill>
                  </a:tcPr>
                </a:tc>
                <a:tc>
                  <a:txBody>
                    <a:bodyPr/>
                    <a:lstStyle/>
                    <a:p>
                      <a:r>
                        <a:rPr sz="1725" b="0">
                          <a:solidFill>
                            <a:srgbClr val="131820"/>
                          </a:solidFill>
                        </a:rPr>
                        <a:t>Candidate implementation components</a:t>
                      </a:r>
                    </a:p>
                  </a:txBody>
                  <a:tcPr marL="91440" marR="91440" marT="45720" marB="45720">
                    <a:solidFill>
                      <a:srgbClr val="FFFFFF"/>
                    </a:solidFill>
                  </a:tcPr>
                </a:tc>
                <a:tc>
                  <a:txBody>
                    <a:bodyPr/>
                    <a:lstStyle/>
                    <a:p>
                      <a:r>
                        <a:rPr sz="1725" b="0">
                          <a:solidFill>
                            <a:srgbClr val="131820"/>
                          </a:solidFill>
                        </a:rPr>
                        <a:t>Official project documentation</a:t>
                      </a:r>
                    </a:p>
                  </a:txBody>
                  <a:tcPr marL="91440" marR="91440" marT="45720" marB="45720">
                    <a:solidFill>
                      <a:srgbClr val="FFFFFF"/>
                    </a:solidFill>
                  </a:tcPr>
                </a:tc>
              </a:tr>
              <a:tr h="603250">
                <a:tc>
                  <a:txBody>
                    <a:bodyPr/>
                    <a:lstStyle/>
                    <a:p>
                      <a:r>
                        <a:rPr sz="1725" b="0">
                          <a:solidFill>
                            <a:srgbClr val="131820"/>
                          </a:solidFill>
                        </a:rPr>
                        <a:t>Team proposal / arithmetic</a:t>
                      </a:r>
                    </a:p>
                  </a:txBody>
                  <a:tcPr marL="91440" marR="91440" marT="45720" marB="45720">
                    <a:solidFill>
                      <a:srgbClr val="FFFFFF"/>
                    </a:solidFill>
                  </a:tcPr>
                </a:tc>
                <a:tc>
                  <a:txBody>
                    <a:bodyPr/>
                    <a:lstStyle/>
                    <a:p>
                      <a:r>
                        <a:rPr sz="1725" b="0">
                          <a:solidFill>
                            <a:srgbClr val="131820"/>
                          </a:solidFill>
                        </a:rPr>
                        <a:t>Schedule, acceptance gates and cost scenarios</a:t>
                      </a:r>
                    </a:p>
                  </a:txBody>
                  <a:tcPr marL="91440" marR="91440" marT="45720" marB="45720">
                    <a:solidFill>
                      <a:srgbClr val="FFFFFF"/>
                    </a:solidFill>
                  </a:tcPr>
                </a:tc>
                <a:tc>
                  <a:txBody>
                    <a:bodyPr/>
                    <a:lstStyle/>
                    <a:p>
                      <a:r>
                        <a:rPr sz="1725" b="0">
                          <a:solidFill>
                            <a:srgbClr val="131820"/>
                          </a:solidFill>
                        </a:rPr>
                        <a:t>Unmeasured; validate before commitment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58585827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2026-08-31T08:50:32.0100000Z</dcterms:created>
  <dcterms:modified xsi:type="dcterms:W3CDTF">2026-08-31T08:50:32.0100000Z</dcterms:modified>
</coreProperties>
</file>